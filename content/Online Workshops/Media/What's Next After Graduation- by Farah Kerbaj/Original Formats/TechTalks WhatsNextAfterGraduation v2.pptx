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75" d="100"/>
          <a:sy n="75" d="100"/>
        </p:scale>
        <p:origin x="300"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92420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tone: Welcome everyone warmly. Say: "This is not a lecture and not just a CV workshop. Today is a discussion. Whenever a question comes to your mind, open your mic or drop it in the chat. I want this to be interactive — an exchange of ideas, experience, and practical steps. Thumbs up if you're with me." Then briefly introduce the promise of the session.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"Before we dive in, this is your space. Ask anything: CV, LinkedIn, internships, tech roles, AI, feeling lost, interviews, first job. I prefer this to feel like a coaching session and discussion, not a school lecture." Ask for a thumbs-up reaction if they agree.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with impact, not job titles. Say: "Over the past few years, I've supported more than 6,000 youth across career readiness, employability, job readiness, AI, bootcamps, coaching, and recruitment programs. I also mentored more than 600 university and high-school students one-on-one. I’ve seen what happens when a candidate is rejected, and I’ve also seen what employers actually search for. So today I’m speaking from both sides."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 personal story in your own voice: before university you felt lost, COVID and the economic crisis made the future feel unclear, and you studied Economics because you didn't want to stay still. Semester by semester you realized the path didn't fully match who you were. Then you started looking for workshops, events, volunteering, and opportunities — not all directly connected to your major, but all helped you meet people and learn. Mention how LinkedIn and market research led to your first internship, how friends started asking for CV and LinkedIn help, and how seeing them land opportunities made you realize your passion is youth empowerment and career support.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session around the TechTalks event description. Say: "The poster asks three big questions: how to get the first job, how to stand out, and what to focus on in tech. Everything we cover today is designed to answer these clearly."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"Who here has already applied to jobs? Who got rejected or heard nothing back? Who doesn't know where to start?" Normalize the feeling. Then explain the difference between passive hope and strategic evidence.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to open students' eyes. Say: "If you're in computer science or engineering, it doesn't mean you only have one path. The tech market is broad and changing. There are roles for builders, communicators, researchers, problem-solvers, AI enthusiasts, analysts, designers, and people who bridge clients with engineering teams. FDE is a good example."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them 3 minutes to answer. Tell them: "The goal is not to find your whole career today. The goal is to discover patterns. Your interests, skills, and energy are clues." Ask 2–3 participants to share one pattern they noticed.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them to choose one target role and five skills. Explain that the role gives direction to the CV, the skills become keywords, and the proof becomes the experience/projects section.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answer the third event question: what should they focus on? Each specialization has a learning path, but the final proof is always projects. Skills alone are not enough.</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them through the funnel. Explain that CV structure, keywords and clarity matter because the first filter may be ATS, then a recruiter who scans fast, then a hiring manager who checks proof.</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adapted from the resume strategist concept: value proposition is the bridge between candidate qualifications and employer buying motivators. Explain simply: "Employers don't hire because you need a job. They hire because you can help solve a problem."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them that for fresh graduates, one page is usually enough. The order should help the recruiter quickly understand target role, skills, proof, and education.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as a fake example modeled after a strong junior tech CV. Emphasize that this is not a perfect CV, but it demonstrates clarity: target title, stack, clean links, summary, and keywords.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hear the difference. A weak objective talks about what the candidate wants. A strong summary talks about what the candidate can do and where they fit.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only one or two examples depending on time. The point is to show that every tech field can be written with the same logic: role, tools, proof, and direction.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them soft skills are important, but they must be supported by examples. Technical skills should be specific and searchable.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projects are how students convert learning into evidence. A project needs a problem, a stack, and a link if possible.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them recruiters don't expect perfection from juniors, but they expect proof and effort. A clean GitHub signals seriousness.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fake CV during the session instead of showing a real student's personal information. Say: "This is not perfect, but it shows the logic: clear title, clean links, summary, skills, experience, projects, education." Then ask the audience: What would you improve?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them to rewrite one of their own duties into an accomplishment. Remind them that if they don't have numbers, they can still show proof: speed, accuracy, user benefit, deadline, scope, or quality.</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inspired by the common elimination factors in the resume material. Keep it quick: the goal is awareness, not fear. Every mistake is fixable.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LinkedIn is not only for people with years of experience. It is where students can show projects, learning, reflections, and professional direction.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them two minutes to rewrite their headline in the chat. Pick two examples and improve them live.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About should be less formal than the CV but still targeted. It should include keywords, proof, and direction.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Featured is where proof lives. Tell students to add the strongest evidence of skills: GitHub, portfolio, projects, live demos, case studies, relevant certificates, and strong posts.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profile is one piece. Activity is what makes them visible. Give them permission to post simple learning updates, not perfect thought leadership.</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them to send one message today after the session. Networking is not begging for a job; it's curiosity, connection, and learning.</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them not to worship volume. A tracker builds discipline. The goal is to learn from applications, not just send them.</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your AI/workshop background becomes relevant. Explain that AI can help them prepare faster, but they must never fabricate experience or copy generic text. AI is a coach, not a substitute for proof.</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one example out loud. Tell them not to tell their whole life chronologically. Present, past, future keeps the answer focused.</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a structure, not a script to memorize. They should adapt it to their target role and real proof.</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them to avoid questions that are only about salary or schedule in early rounds unless the employer brings it up. Ask growth, performance, team and role questions.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them to screenshot this slide. Ask: "Which week starts tomorrow for you?" Encourage them to choose one first action before leaving.</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warmly. Thank TechTalks and the audience. Invite them to connect on LinkedIn and remind them that the goal is not to have everything figured out — it is to take the next step with clarity.</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23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52238"/>
          </a:solidFill>
          <a:ln w="12700">
            <a:solidFill>
              <a:srgbClr val="152238"/>
            </a:solidFill>
            <a:prstDash val="solid"/>
          </a:ln>
        </p:spPr>
      </p:sp>
      <p:sp>
        <p:nvSpPr>
          <p:cNvPr id="3" name="Text 1"/>
          <p:cNvSpPr/>
          <p:nvPr/>
        </p:nvSpPr>
        <p:spPr>
          <a:xfrm>
            <a:off x="713232" y="502920"/>
            <a:ext cx="3383280" cy="228600"/>
          </a:xfrm>
          <a:prstGeom prst="rect">
            <a:avLst/>
          </a:prstGeom>
          <a:noFill/>
          <a:ln/>
        </p:spPr>
        <p:txBody>
          <a:bodyPr wrap="square" lIns="0" tIns="0" rIns="0" bIns="0" rtlCol="0" anchor="ctr"/>
          <a:lstStyle/>
          <a:p>
            <a:pPr marL="0" indent="0">
              <a:buNone/>
            </a:pPr>
            <a:r>
              <a:rPr lang="en-US" sz="950" b="1" dirty="0">
                <a:solidFill>
                  <a:srgbClr val="A7F3D0"/>
                </a:solidFill>
              </a:rPr>
              <a:t>TECHTALKS PRESENTS</a:t>
            </a:r>
            <a:endParaRPr lang="en-US" sz="950" dirty="0"/>
          </a:p>
        </p:txBody>
      </p:sp>
      <p:sp>
        <p:nvSpPr>
          <p:cNvPr id="4" name="Text 2"/>
          <p:cNvSpPr/>
          <p:nvPr/>
        </p:nvSpPr>
        <p:spPr>
          <a:xfrm>
            <a:off x="685800" y="1005840"/>
            <a:ext cx="7863840" cy="1600200"/>
          </a:xfrm>
          <a:prstGeom prst="rect">
            <a:avLst/>
          </a:prstGeom>
          <a:noFill/>
          <a:ln/>
        </p:spPr>
        <p:txBody>
          <a:bodyPr wrap="square" lIns="0" tIns="0" rIns="0" bIns="0" rtlCol="0" anchor="ctr">
            <a:normAutofit/>
          </a:bodyPr>
          <a:lstStyle/>
          <a:p>
            <a:pPr marL="0" indent="0">
              <a:buNone/>
            </a:pPr>
            <a:r>
              <a:rPr lang="en-US" sz="4000" b="1" dirty="0">
                <a:solidFill>
                  <a:srgbClr val="FFFFFF"/>
                </a:solidFill>
              </a:rPr>
              <a:t>WHAT'S NEXT</a:t>
            </a:r>
            <a:endParaRPr lang="en-US" sz="4000" dirty="0"/>
          </a:p>
          <a:p>
            <a:pPr marL="0" indent="0">
              <a:buNone/>
            </a:pPr>
            <a:r>
              <a:rPr lang="en-US" sz="4000" b="1" dirty="0">
                <a:solidFill>
                  <a:srgbClr val="FFFFFF"/>
                </a:solidFill>
              </a:rPr>
              <a:t>AFTER GRADUATION?</a:t>
            </a:r>
            <a:endParaRPr lang="en-US" sz="4000" dirty="0"/>
          </a:p>
        </p:txBody>
      </p:sp>
      <p:sp>
        <p:nvSpPr>
          <p:cNvPr id="5" name="Text 3"/>
          <p:cNvSpPr/>
          <p:nvPr/>
        </p:nvSpPr>
        <p:spPr>
          <a:xfrm>
            <a:off x="713232" y="2816352"/>
            <a:ext cx="6217920" cy="292608"/>
          </a:xfrm>
          <a:prstGeom prst="rect">
            <a:avLst/>
          </a:prstGeom>
          <a:noFill/>
          <a:ln/>
        </p:spPr>
        <p:txBody>
          <a:bodyPr wrap="square" lIns="0" tIns="0" rIns="0" bIns="0" rtlCol="0" anchor="ctr"/>
          <a:lstStyle/>
          <a:p>
            <a:pPr marL="0" indent="0">
              <a:buNone/>
            </a:pPr>
            <a:r>
              <a:rPr lang="en-US" sz="1400" dirty="0">
                <a:solidFill>
                  <a:srgbClr val="C7D2FE"/>
                </a:solidFill>
              </a:rPr>
              <a:t>The complete roadmap to landing your first tech job</a:t>
            </a:r>
            <a:endParaRPr lang="en-US" sz="1400" dirty="0"/>
          </a:p>
        </p:txBody>
      </p:sp>
      <p:sp>
        <p:nvSpPr>
          <p:cNvPr id="6" name="Shape 4"/>
          <p:cNvSpPr/>
          <p:nvPr/>
        </p:nvSpPr>
        <p:spPr>
          <a:xfrm>
            <a:off x="7863840" y="3977640"/>
            <a:ext cx="3337560" cy="1005840"/>
          </a:xfrm>
          <a:prstGeom prst="roundRect">
            <a:avLst>
              <a:gd name="adj" fmla="val 7273"/>
            </a:avLst>
          </a:prstGeom>
          <a:solidFill>
            <a:srgbClr val="FFFFFF"/>
          </a:solidFill>
          <a:ln w="12700">
            <a:solidFill>
              <a:srgbClr val="FFFFFF"/>
            </a:solidFill>
            <a:prstDash val="solid"/>
          </a:ln>
        </p:spPr>
      </p:sp>
      <p:sp>
        <p:nvSpPr>
          <p:cNvPr id="7" name="Text 5"/>
          <p:cNvSpPr/>
          <p:nvPr/>
        </p:nvSpPr>
        <p:spPr>
          <a:xfrm>
            <a:off x="8119872" y="4224528"/>
            <a:ext cx="2560320" cy="256032"/>
          </a:xfrm>
          <a:prstGeom prst="rect">
            <a:avLst/>
          </a:prstGeom>
          <a:noFill/>
          <a:ln/>
        </p:spPr>
        <p:txBody>
          <a:bodyPr wrap="square" lIns="0" tIns="0" rIns="0" bIns="0" rtlCol="0" anchor="ctr"/>
          <a:lstStyle/>
          <a:p>
            <a:pPr marL="0" indent="0">
              <a:buNone/>
            </a:pPr>
            <a:r>
              <a:rPr lang="en-US" sz="1500" b="1" dirty="0">
                <a:solidFill>
                  <a:srgbClr val="152238"/>
                </a:solidFill>
              </a:rPr>
              <a:t>FARAH KERBAJ</a:t>
            </a:r>
            <a:endParaRPr lang="en-US" sz="1500" dirty="0"/>
          </a:p>
        </p:txBody>
      </p:sp>
      <p:sp>
        <p:nvSpPr>
          <p:cNvPr id="8" name="Text 6"/>
          <p:cNvSpPr/>
          <p:nvPr/>
        </p:nvSpPr>
        <p:spPr>
          <a:xfrm>
            <a:off x="8119872" y="4526280"/>
            <a:ext cx="2514600" cy="192024"/>
          </a:xfrm>
          <a:prstGeom prst="rect">
            <a:avLst/>
          </a:prstGeom>
          <a:noFill/>
          <a:ln/>
        </p:spPr>
        <p:txBody>
          <a:bodyPr wrap="square" lIns="0" tIns="0" rIns="0" bIns="0" rtlCol="0" anchor="ctr">
            <a:normAutofit/>
          </a:bodyPr>
          <a:lstStyle/>
          <a:p>
            <a:pPr marL="0" indent="0">
              <a:buNone/>
            </a:pPr>
            <a:r>
              <a:rPr lang="en-US" sz="750" dirty="0">
                <a:solidFill>
                  <a:srgbClr val="5B6472"/>
                </a:solidFill>
              </a:rPr>
              <a:t>Career Coach • Recruitment &amp; Employability Strategist</a:t>
            </a:r>
            <a:endParaRPr lang="en-US" sz="750" dirty="0"/>
          </a:p>
        </p:txBody>
      </p:sp>
      <p:sp>
        <p:nvSpPr>
          <p:cNvPr id="9" name="Text 7"/>
          <p:cNvSpPr/>
          <p:nvPr/>
        </p:nvSpPr>
        <p:spPr>
          <a:xfrm>
            <a:off x="731520" y="5806440"/>
            <a:ext cx="3017520" cy="201168"/>
          </a:xfrm>
          <a:prstGeom prst="rect">
            <a:avLst/>
          </a:prstGeom>
          <a:noFill/>
          <a:ln/>
        </p:spPr>
        <p:txBody>
          <a:bodyPr wrap="square" lIns="0" tIns="0" rIns="0" bIns="0" rtlCol="0" anchor="ctr"/>
          <a:lstStyle/>
          <a:p>
            <a:pPr marL="0" indent="0">
              <a:buNone/>
            </a:pPr>
            <a:r>
              <a:rPr lang="en-US" sz="870" dirty="0">
                <a:solidFill>
                  <a:srgbClr val="A7F3D0"/>
                </a:solidFill>
              </a:rPr>
              <a:t>60–90 min interactive workshop</a:t>
            </a:r>
            <a:endParaRPr lang="en-US" sz="870" dirty="0"/>
          </a:p>
        </p:txBody>
      </p:sp>
      <p:sp>
        <p:nvSpPr>
          <p:cNvPr id="11" name="Text 8"/>
          <p:cNvSpPr/>
          <p:nvPr/>
        </p:nvSpPr>
        <p:spPr>
          <a:xfrm>
            <a:off x="411480" y="6510528"/>
            <a:ext cx="6400800" cy="164592"/>
          </a:xfrm>
          <a:prstGeom prst="rect">
            <a:avLst/>
          </a:prstGeom>
          <a:noFill/>
          <a:ln/>
        </p:spPr>
        <p:txBody>
          <a:bodyPr wrap="square" lIns="0" tIns="0" rIns="0" bIns="0" rtlCol="0" anchor="ctr"/>
          <a:lstStyle/>
          <a:p>
            <a:pPr marL="0" indent="0">
              <a:buNone/>
            </a:pPr>
            <a:r>
              <a:rPr lang="en-US" sz="600" dirty="0">
                <a:solidFill>
                  <a:srgbClr val="7C7C7C"/>
                </a:solidFill>
                <a:latin typeface="Aptos" pitchFamily="34" charset="0"/>
                <a:ea typeface="Aptos" pitchFamily="34" charset="-122"/>
                <a:cs typeface="Aptos" pitchFamily="34" charset="-120"/>
              </a:rPr>
              <a:t>What's Next After Graduation?  |  Farah Kerbaj</a:t>
            </a:r>
            <a:endParaRPr lang="en-US" sz="600" dirty="0"/>
          </a:p>
        </p:txBody>
      </p:sp>
      <p:sp>
        <p:nvSpPr>
          <p:cNvPr id="12" name="Text 9"/>
          <p:cNvSpPr/>
          <p:nvPr/>
        </p:nvSpPr>
        <p:spPr>
          <a:xfrm>
            <a:off x="11430000" y="6473952"/>
            <a:ext cx="320040" cy="182880"/>
          </a:xfrm>
          <a:prstGeom prst="rect">
            <a:avLst/>
          </a:prstGeom>
          <a:noFill/>
          <a:ln/>
        </p:spPr>
        <p:txBody>
          <a:bodyPr wrap="square" lIns="0" tIns="0" rIns="0" bIns="0" rtlCol="0" anchor="ctr"/>
          <a:lstStyle/>
          <a:p>
            <a:pPr marL="0" indent="0" algn="r">
              <a:buNone/>
            </a:pPr>
            <a:r>
              <a:rPr lang="en-US" sz="700" dirty="0">
                <a:solidFill>
                  <a:srgbClr val="7C7C7C"/>
                </a:solidFill>
              </a:rPr>
              <a:t>1</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F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F2"/>
          </a:solidFill>
          <a:ln w="12700">
            <a:solidFill>
              <a:srgbClr val="F7F4F2">
                <a:alpha val="0"/>
              </a:srgbClr>
            </a:solidFill>
            <a:prstDash val="solid"/>
          </a:ln>
        </p:spPr>
      </p:sp>
      <p:sp>
        <p:nvSpPr>
          <p:cNvPr id="3" name="Shape 1"/>
          <p:cNvSpPr/>
          <p:nvPr/>
        </p:nvSpPr>
        <p:spPr>
          <a:xfrm>
            <a:off x="0" y="0"/>
            <a:ext cx="12191695" cy="73152"/>
          </a:xfrm>
          <a:prstGeom prst="rect">
            <a:avLst/>
          </a:prstGeom>
          <a:solidFill>
            <a:srgbClr val="00A8CC"/>
          </a:solidFill>
          <a:ln w="12700">
            <a:solidFill>
              <a:srgbClr val="00A8CC"/>
            </a:solidFill>
            <a:prstDash val="solid"/>
          </a:ln>
        </p:spPr>
      </p:sp>
      <p:sp>
        <p:nvSpPr>
          <p:cNvPr id="4" name="Text 2"/>
          <p:cNvSpPr/>
          <p:nvPr/>
        </p:nvSpPr>
        <p:spPr>
          <a:xfrm>
            <a:off x="667512" y="274320"/>
            <a:ext cx="7315200" cy="201168"/>
          </a:xfrm>
          <a:prstGeom prst="rect">
            <a:avLst/>
          </a:prstGeom>
          <a:noFill/>
          <a:ln/>
        </p:spPr>
        <p:txBody>
          <a:bodyPr wrap="square" lIns="0" tIns="0" rIns="0" bIns="0" rtlCol="0" anchor="ctr"/>
          <a:lstStyle/>
          <a:p>
            <a:pPr marL="0" indent="0">
              <a:buNone/>
            </a:pPr>
            <a:r>
              <a:rPr lang="en-US" sz="750" b="1" dirty="0">
                <a:solidFill>
                  <a:srgbClr val="00A8CC"/>
                </a:solidFill>
              </a:rPr>
              <a:t>START HERE</a:t>
            </a:r>
            <a:endParaRPr lang="en-US" sz="750" dirty="0"/>
          </a:p>
        </p:txBody>
      </p:sp>
      <p:sp>
        <p:nvSpPr>
          <p:cNvPr id="5" name="Text 3"/>
          <p:cNvSpPr/>
          <p:nvPr/>
        </p:nvSpPr>
        <p:spPr>
          <a:xfrm>
            <a:off x="640080" y="502920"/>
            <a:ext cx="10881360" cy="438912"/>
          </a:xfrm>
          <a:prstGeom prst="rect">
            <a:avLst/>
          </a:prstGeom>
          <a:noFill/>
          <a:ln/>
        </p:spPr>
        <p:txBody>
          <a:bodyPr wrap="square" lIns="0" tIns="0" rIns="0" bIns="0" rtlCol="0" anchor="ctr">
            <a:normAutofit/>
          </a:bodyPr>
          <a:lstStyle/>
          <a:p>
            <a:pPr marL="0" indent="0">
              <a:buNone/>
            </a:pPr>
            <a:r>
              <a:rPr lang="en-US" sz="2500" b="1" dirty="0">
                <a:solidFill>
                  <a:srgbClr val="111827"/>
                </a:solidFill>
                <a:latin typeface="Aptos Display" pitchFamily="34" charset="0"/>
                <a:ea typeface="Aptos Display" pitchFamily="34" charset="-122"/>
                <a:cs typeface="Aptos Display" pitchFamily="34" charset="-120"/>
              </a:rPr>
              <a:t>How We’ll Use This Room</a:t>
            </a:r>
            <a:endParaRPr lang="en-US" sz="2500" dirty="0"/>
          </a:p>
        </p:txBody>
      </p:sp>
      <p:sp>
        <p:nvSpPr>
          <p:cNvPr id="6" name="Text 4"/>
          <p:cNvSpPr/>
          <p:nvPr/>
        </p:nvSpPr>
        <p:spPr>
          <a:xfrm>
            <a:off x="667512" y="987552"/>
            <a:ext cx="10424160" cy="256032"/>
          </a:xfrm>
          <a:prstGeom prst="rect">
            <a:avLst/>
          </a:prstGeom>
          <a:noFill/>
          <a:ln/>
        </p:spPr>
        <p:txBody>
          <a:bodyPr wrap="square" lIns="0" tIns="0" rIns="0" bIns="0" rtlCol="0" anchor="ctr"/>
          <a:lstStyle/>
          <a:p>
            <a:pPr marL="0" indent="0">
              <a:buNone/>
            </a:pPr>
            <a:r>
              <a:rPr lang="en-US" sz="950" dirty="0">
                <a:solidFill>
                  <a:srgbClr val="5B6472"/>
                </a:solidFill>
              </a:rPr>
              <a:t>An interactive career conversation — not a one-way lecture</a:t>
            </a:r>
            <a:endParaRPr lang="en-US" sz="950" dirty="0"/>
          </a:p>
        </p:txBody>
      </p:sp>
      <p:sp>
        <p:nvSpPr>
          <p:cNvPr id="7" name="Shape 5"/>
          <p:cNvSpPr/>
          <p:nvPr/>
        </p:nvSpPr>
        <p:spPr>
          <a:xfrm>
            <a:off x="640080" y="1325880"/>
            <a:ext cx="10881360" cy="0"/>
          </a:xfrm>
          <a:prstGeom prst="line">
            <a:avLst/>
          </a:prstGeom>
          <a:noFill/>
          <a:ln w="12700">
            <a:solidFill>
              <a:srgbClr val="D6D3D1"/>
            </a:solidFill>
            <a:prstDash val="solid"/>
          </a:ln>
        </p:spPr>
      </p:sp>
      <p:sp>
        <p:nvSpPr>
          <p:cNvPr id="8" name="Shape 6"/>
          <p:cNvSpPr/>
          <p:nvPr/>
        </p:nvSpPr>
        <p:spPr>
          <a:xfrm>
            <a:off x="822960" y="1600200"/>
            <a:ext cx="10424160" cy="713232"/>
          </a:xfrm>
          <a:prstGeom prst="roundRect">
            <a:avLst>
              <a:gd name="adj" fmla="val 10256"/>
            </a:avLst>
          </a:prstGeom>
          <a:solidFill>
            <a:srgbClr val="FFFFFF"/>
          </a:solidFill>
          <a:ln w="12700">
            <a:solidFill>
              <a:srgbClr val="E8E2DE"/>
            </a:solidFill>
            <a:prstDash val="solid"/>
          </a:ln>
        </p:spPr>
      </p:sp>
      <p:sp>
        <p:nvSpPr>
          <p:cNvPr id="9" name="Text 7"/>
          <p:cNvSpPr/>
          <p:nvPr/>
        </p:nvSpPr>
        <p:spPr>
          <a:xfrm>
            <a:off x="1078992" y="1746504"/>
            <a:ext cx="1920240" cy="201168"/>
          </a:xfrm>
          <a:prstGeom prst="rect">
            <a:avLst/>
          </a:prstGeom>
          <a:noFill/>
          <a:ln/>
        </p:spPr>
        <p:txBody>
          <a:bodyPr wrap="square" lIns="0" tIns="0" rIns="0" bIns="0" rtlCol="0" anchor="ctr"/>
          <a:lstStyle/>
          <a:p>
            <a:pPr marL="0" indent="0">
              <a:buNone/>
            </a:pPr>
            <a:r>
              <a:rPr lang="en-US" sz="1300" b="1" dirty="0">
                <a:solidFill>
                  <a:srgbClr val="152238"/>
                </a:solidFill>
              </a:rPr>
              <a:t>Ask anytime</a:t>
            </a:r>
            <a:endParaRPr lang="en-US" sz="1300" dirty="0"/>
          </a:p>
        </p:txBody>
      </p:sp>
      <p:sp>
        <p:nvSpPr>
          <p:cNvPr id="10" name="Text 8"/>
          <p:cNvSpPr/>
          <p:nvPr/>
        </p:nvSpPr>
        <p:spPr>
          <a:xfrm>
            <a:off x="3154680" y="1755648"/>
            <a:ext cx="7223760" cy="228600"/>
          </a:xfrm>
          <a:prstGeom prst="rect">
            <a:avLst/>
          </a:prstGeom>
          <a:noFill/>
          <a:ln/>
        </p:spPr>
        <p:txBody>
          <a:bodyPr wrap="square" lIns="0" tIns="0" rIns="0" bIns="0" rtlCol="0" anchor="ctr">
            <a:normAutofit/>
          </a:bodyPr>
          <a:lstStyle/>
          <a:p>
            <a:pPr marL="0" indent="0">
              <a:buNone/>
            </a:pPr>
            <a:r>
              <a:rPr lang="en-US" sz="1030" dirty="0">
                <a:solidFill>
                  <a:srgbClr val="5B6472"/>
                </a:solidFill>
              </a:rPr>
              <a:t>Open your mic or use the chat. No question is too basic.</a:t>
            </a:r>
            <a:endParaRPr lang="en-US" sz="1030" dirty="0"/>
          </a:p>
        </p:txBody>
      </p:sp>
      <p:sp>
        <p:nvSpPr>
          <p:cNvPr id="11" name="Shape 9"/>
          <p:cNvSpPr/>
          <p:nvPr/>
        </p:nvSpPr>
        <p:spPr>
          <a:xfrm>
            <a:off x="822960" y="2496312"/>
            <a:ext cx="10424160" cy="713232"/>
          </a:xfrm>
          <a:prstGeom prst="roundRect">
            <a:avLst>
              <a:gd name="adj" fmla="val 10256"/>
            </a:avLst>
          </a:prstGeom>
          <a:solidFill>
            <a:srgbClr val="E0F2FE"/>
          </a:solidFill>
          <a:ln w="12700">
            <a:solidFill>
              <a:srgbClr val="E8E2DE"/>
            </a:solidFill>
            <a:prstDash val="solid"/>
          </a:ln>
        </p:spPr>
      </p:sp>
      <p:sp>
        <p:nvSpPr>
          <p:cNvPr id="12" name="Text 10"/>
          <p:cNvSpPr/>
          <p:nvPr/>
        </p:nvSpPr>
        <p:spPr>
          <a:xfrm>
            <a:off x="1078992" y="2642616"/>
            <a:ext cx="1920240" cy="201168"/>
          </a:xfrm>
          <a:prstGeom prst="rect">
            <a:avLst/>
          </a:prstGeom>
          <a:noFill/>
          <a:ln/>
        </p:spPr>
        <p:txBody>
          <a:bodyPr wrap="square" lIns="0" tIns="0" rIns="0" bIns="0" rtlCol="0" anchor="ctr"/>
          <a:lstStyle/>
          <a:p>
            <a:pPr marL="0" indent="0">
              <a:buNone/>
            </a:pPr>
            <a:r>
              <a:rPr lang="en-US" sz="1300" b="1" dirty="0">
                <a:solidFill>
                  <a:srgbClr val="2563EB"/>
                </a:solidFill>
              </a:rPr>
              <a:t>Share honestly</a:t>
            </a:r>
            <a:endParaRPr lang="en-US" sz="1300" dirty="0"/>
          </a:p>
        </p:txBody>
      </p:sp>
      <p:sp>
        <p:nvSpPr>
          <p:cNvPr id="13" name="Text 11"/>
          <p:cNvSpPr/>
          <p:nvPr/>
        </p:nvSpPr>
        <p:spPr>
          <a:xfrm>
            <a:off x="3154680" y="2651760"/>
            <a:ext cx="7223760" cy="228600"/>
          </a:xfrm>
          <a:prstGeom prst="rect">
            <a:avLst/>
          </a:prstGeom>
          <a:noFill/>
          <a:ln/>
        </p:spPr>
        <p:txBody>
          <a:bodyPr wrap="square" lIns="0" tIns="0" rIns="0" bIns="0" rtlCol="0" anchor="ctr">
            <a:normAutofit/>
          </a:bodyPr>
          <a:lstStyle/>
          <a:p>
            <a:pPr marL="0" indent="0">
              <a:buNone/>
            </a:pPr>
            <a:r>
              <a:rPr lang="en-US" sz="1030" dirty="0">
                <a:solidFill>
                  <a:srgbClr val="5B6472"/>
                </a:solidFill>
              </a:rPr>
              <a:t>Confusion after graduation is normal — we learn faster when we say it out loud.</a:t>
            </a:r>
            <a:endParaRPr lang="en-US" sz="1030" dirty="0"/>
          </a:p>
        </p:txBody>
      </p:sp>
      <p:sp>
        <p:nvSpPr>
          <p:cNvPr id="14" name="Shape 12"/>
          <p:cNvSpPr/>
          <p:nvPr/>
        </p:nvSpPr>
        <p:spPr>
          <a:xfrm>
            <a:off x="822960" y="3392424"/>
            <a:ext cx="10424160" cy="713232"/>
          </a:xfrm>
          <a:prstGeom prst="roundRect">
            <a:avLst>
              <a:gd name="adj" fmla="val 10256"/>
            </a:avLst>
          </a:prstGeom>
          <a:solidFill>
            <a:srgbClr val="FFFFFF"/>
          </a:solidFill>
          <a:ln w="12700">
            <a:solidFill>
              <a:srgbClr val="E8E2DE"/>
            </a:solidFill>
            <a:prstDash val="solid"/>
          </a:ln>
        </p:spPr>
      </p:sp>
      <p:sp>
        <p:nvSpPr>
          <p:cNvPr id="15" name="Text 13"/>
          <p:cNvSpPr/>
          <p:nvPr/>
        </p:nvSpPr>
        <p:spPr>
          <a:xfrm>
            <a:off x="1078992" y="3538728"/>
            <a:ext cx="1920240" cy="201168"/>
          </a:xfrm>
          <a:prstGeom prst="rect">
            <a:avLst/>
          </a:prstGeom>
          <a:noFill/>
          <a:ln/>
        </p:spPr>
        <p:txBody>
          <a:bodyPr wrap="square" lIns="0" tIns="0" rIns="0" bIns="0" rtlCol="0" anchor="ctr"/>
          <a:lstStyle/>
          <a:p>
            <a:pPr marL="0" indent="0">
              <a:buNone/>
            </a:pPr>
            <a:r>
              <a:rPr lang="en-US" sz="1300" b="1" dirty="0">
                <a:solidFill>
                  <a:srgbClr val="152238"/>
                </a:solidFill>
              </a:rPr>
              <a:t>Practice live</a:t>
            </a:r>
            <a:endParaRPr lang="en-US" sz="1300" dirty="0"/>
          </a:p>
        </p:txBody>
      </p:sp>
      <p:sp>
        <p:nvSpPr>
          <p:cNvPr id="16" name="Text 14"/>
          <p:cNvSpPr/>
          <p:nvPr/>
        </p:nvSpPr>
        <p:spPr>
          <a:xfrm>
            <a:off x="3154680" y="3547872"/>
            <a:ext cx="7223760" cy="228600"/>
          </a:xfrm>
          <a:prstGeom prst="rect">
            <a:avLst/>
          </a:prstGeom>
          <a:noFill/>
          <a:ln/>
        </p:spPr>
        <p:txBody>
          <a:bodyPr wrap="square" lIns="0" tIns="0" rIns="0" bIns="0" rtlCol="0" anchor="ctr">
            <a:normAutofit/>
          </a:bodyPr>
          <a:lstStyle/>
          <a:p>
            <a:pPr marL="0" indent="0">
              <a:buNone/>
            </a:pPr>
            <a:r>
              <a:rPr lang="en-US" sz="1030" dirty="0">
                <a:solidFill>
                  <a:srgbClr val="5B6472"/>
                </a:solidFill>
              </a:rPr>
              <a:t>We will rewrite CV bullets, create LinkedIn headlines, and map next steps.</a:t>
            </a:r>
            <a:endParaRPr lang="en-US" sz="1030" dirty="0"/>
          </a:p>
        </p:txBody>
      </p:sp>
      <p:sp>
        <p:nvSpPr>
          <p:cNvPr id="17" name="Shape 15"/>
          <p:cNvSpPr/>
          <p:nvPr/>
        </p:nvSpPr>
        <p:spPr>
          <a:xfrm>
            <a:off x="822960" y="4288536"/>
            <a:ext cx="10424160" cy="713232"/>
          </a:xfrm>
          <a:prstGeom prst="roundRect">
            <a:avLst>
              <a:gd name="adj" fmla="val 10256"/>
            </a:avLst>
          </a:prstGeom>
          <a:solidFill>
            <a:srgbClr val="E0F2FE"/>
          </a:solidFill>
          <a:ln w="12700">
            <a:solidFill>
              <a:srgbClr val="E8E2DE"/>
            </a:solidFill>
            <a:prstDash val="solid"/>
          </a:ln>
        </p:spPr>
      </p:sp>
      <p:sp>
        <p:nvSpPr>
          <p:cNvPr id="18" name="Text 16"/>
          <p:cNvSpPr/>
          <p:nvPr/>
        </p:nvSpPr>
        <p:spPr>
          <a:xfrm>
            <a:off x="1078992" y="4434840"/>
            <a:ext cx="1920240" cy="201168"/>
          </a:xfrm>
          <a:prstGeom prst="rect">
            <a:avLst/>
          </a:prstGeom>
          <a:noFill/>
          <a:ln/>
        </p:spPr>
        <p:txBody>
          <a:bodyPr wrap="square" lIns="0" tIns="0" rIns="0" bIns="0" rtlCol="0" anchor="ctr"/>
          <a:lstStyle/>
          <a:p>
            <a:pPr marL="0" indent="0">
              <a:buNone/>
            </a:pPr>
            <a:r>
              <a:rPr lang="en-US" sz="1300" b="1" dirty="0">
                <a:solidFill>
                  <a:srgbClr val="2563EB"/>
                </a:solidFill>
              </a:rPr>
              <a:t>Leave with action</a:t>
            </a:r>
            <a:endParaRPr lang="en-US" sz="1300" dirty="0"/>
          </a:p>
        </p:txBody>
      </p:sp>
      <p:sp>
        <p:nvSpPr>
          <p:cNvPr id="19" name="Text 17"/>
          <p:cNvSpPr/>
          <p:nvPr/>
        </p:nvSpPr>
        <p:spPr>
          <a:xfrm>
            <a:off x="3154680" y="4443984"/>
            <a:ext cx="7223760" cy="228600"/>
          </a:xfrm>
          <a:prstGeom prst="rect">
            <a:avLst/>
          </a:prstGeom>
          <a:noFill/>
          <a:ln/>
        </p:spPr>
        <p:txBody>
          <a:bodyPr wrap="square" lIns="0" tIns="0" rIns="0" bIns="0" rtlCol="0" anchor="ctr">
            <a:normAutofit/>
          </a:bodyPr>
          <a:lstStyle/>
          <a:p>
            <a:pPr marL="0" indent="0">
              <a:buNone/>
            </a:pPr>
            <a:r>
              <a:rPr lang="en-US" sz="1030" dirty="0">
                <a:solidFill>
                  <a:srgbClr val="5B6472"/>
                </a:solidFill>
              </a:rPr>
              <a:t>You should know what to do tomorrow — not just feel inspired today.</a:t>
            </a:r>
            <a:endParaRPr lang="en-US" sz="1030" dirty="0"/>
          </a:p>
        </p:txBody>
      </p:sp>
      <p:sp>
        <p:nvSpPr>
          <p:cNvPr id="21" name="Text 18"/>
          <p:cNvSpPr/>
          <p:nvPr/>
        </p:nvSpPr>
        <p:spPr>
          <a:xfrm>
            <a:off x="411480" y="6510528"/>
            <a:ext cx="6400800" cy="164592"/>
          </a:xfrm>
          <a:prstGeom prst="rect">
            <a:avLst/>
          </a:prstGeom>
          <a:noFill/>
          <a:ln/>
        </p:spPr>
        <p:txBody>
          <a:bodyPr wrap="square" lIns="0" tIns="0" rIns="0" bIns="0" rtlCol="0" anchor="ctr"/>
          <a:lstStyle/>
          <a:p>
            <a:pPr marL="0" indent="0">
              <a:buNone/>
            </a:pPr>
            <a:r>
              <a:rPr lang="en-US" sz="600" dirty="0">
                <a:solidFill>
                  <a:srgbClr val="7C7C7C"/>
                </a:solidFill>
                <a:latin typeface="Aptos" pitchFamily="34" charset="0"/>
                <a:ea typeface="Aptos" pitchFamily="34" charset="-122"/>
                <a:cs typeface="Aptos" pitchFamily="34" charset="-120"/>
              </a:rPr>
              <a:t>What's Next After Graduation?  |  Farah Kerbaj</a:t>
            </a:r>
            <a:endParaRPr lang="en-US" sz="600" dirty="0"/>
          </a:p>
        </p:txBody>
      </p:sp>
      <p:sp>
        <p:nvSpPr>
          <p:cNvPr id="22" name="Text 19"/>
          <p:cNvSpPr/>
          <p:nvPr/>
        </p:nvSpPr>
        <p:spPr>
          <a:xfrm>
            <a:off x="11430000" y="6473952"/>
            <a:ext cx="320040" cy="182880"/>
          </a:xfrm>
          <a:prstGeom prst="rect">
            <a:avLst/>
          </a:prstGeom>
          <a:noFill/>
          <a:ln/>
        </p:spPr>
        <p:txBody>
          <a:bodyPr wrap="square" lIns="0" tIns="0" rIns="0" bIns="0" rtlCol="0" anchor="ctr"/>
          <a:lstStyle/>
          <a:p>
            <a:pPr marL="0" indent="0" algn="r">
              <a:buNone/>
            </a:pPr>
            <a:r>
              <a:rPr lang="en-US" sz="700" dirty="0">
                <a:solidFill>
                  <a:srgbClr val="7C7C7C"/>
                </a:solidFill>
              </a:rPr>
              <a:t>2</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F2"/>
        </a:solidFill>
        <a:effectLst/>
      </p:bgPr>
    </p:bg>
    <p:spTree>
      <p:nvGrpSpPr>
        <p:cNvPr id="1" name=""/>
        <p:cNvGrpSpPr/>
        <p:nvPr/>
      </p:nvGrpSpPr>
      <p:grpSpPr>
        <a:xfrm>
          <a:off x="0" y="0"/>
          <a:ext cx="0" cy="0"/>
          <a:chOff x="0" y="0"/>
          <a:chExt cx="0" cy="0"/>
        </a:xfrm>
      </p:grpSpPr>
      <p:sp>
        <p:nvSpPr>
          <p:cNvPr id="2" name="Shape 0"/>
          <p:cNvSpPr/>
          <p:nvPr/>
        </p:nvSpPr>
        <p:spPr>
          <a:xfrm>
            <a:off x="-60808" y="0"/>
            <a:ext cx="12191695" cy="6858000"/>
          </a:xfrm>
          <a:prstGeom prst="rect">
            <a:avLst/>
          </a:prstGeom>
          <a:solidFill>
            <a:srgbClr val="F7F4F2"/>
          </a:solidFill>
          <a:ln w="12700">
            <a:solidFill>
              <a:srgbClr val="F7F4F2">
                <a:alpha val="0"/>
              </a:srgbClr>
            </a:solidFill>
            <a:prstDash val="solid"/>
          </a:ln>
        </p:spPr>
      </p:sp>
      <p:sp>
        <p:nvSpPr>
          <p:cNvPr id="3" name="Shape 1"/>
          <p:cNvSpPr/>
          <p:nvPr/>
        </p:nvSpPr>
        <p:spPr>
          <a:xfrm>
            <a:off x="0" y="0"/>
            <a:ext cx="12191695" cy="73152"/>
          </a:xfrm>
          <a:prstGeom prst="rect">
            <a:avLst/>
          </a:prstGeom>
          <a:solidFill>
            <a:srgbClr val="7C3AED"/>
          </a:solidFill>
          <a:ln w="12700">
            <a:solidFill>
              <a:srgbClr val="7C3AED"/>
            </a:solidFill>
            <a:prstDash val="solid"/>
          </a:ln>
        </p:spPr>
      </p:sp>
      <p:sp>
        <p:nvSpPr>
          <p:cNvPr id="4" name="Text 2"/>
          <p:cNvSpPr/>
          <p:nvPr/>
        </p:nvSpPr>
        <p:spPr>
          <a:xfrm>
            <a:off x="667512" y="274320"/>
            <a:ext cx="7315200" cy="201168"/>
          </a:xfrm>
          <a:prstGeom prst="rect">
            <a:avLst/>
          </a:prstGeom>
          <a:noFill/>
          <a:ln/>
        </p:spPr>
        <p:txBody>
          <a:bodyPr wrap="square" lIns="0" tIns="0" rIns="0" bIns="0" rtlCol="0" anchor="ctr"/>
          <a:lstStyle/>
          <a:p>
            <a:pPr marL="0" indent="0">
              <a:buNone/>
            </a:pPr>
            <a:r>
              <a:rPr lang="en-US" sz="750" b="1" dirty="0">
                <a:solidFill>
                  <a:srgbClr val="7C3AED"/>
                </a:solidFill>
              </a:rPr>
              <a:t>ABOUT YOUR SPEAKER</a:t>
            </a:r>
            <a:endParaRPr lang="en-US" sz="750" dirty="0"/>
          </a:p>
        </p:txBody>
      </p:sp>
      <p:sp>
        <p:nvSpPr>
          <p:cNvPr id="5" name="Text 3"/>
          <p:cNvSpPr/>
          <p:nvPr/>
        </p:nvSpPr>
        <p:spPr>
          <a:xfrm>
            <a:off x="640080" y="502920"/>
            <a:ext cx="10881360" cy="438912"/>
          </a:xfrm>
          <a:prstGeom prst="rect">
            <a:avLst/>
          </a:prstGeom>
          <a:noFill/>
          <a:ln/>
        </p:spPr>
        <p:txBody>
          <a:bodyPr wrap="square" lIns="0" tIns="0" rIns="0" bIns="0" rtlCol="0" anchor="ctr">
            <a:normAutofit/>
          </a:bodyPr>
          <a:lstStyle/>
          <a:p>
            <a:pPr marL="0" indent="0">
              <a:buNone/>
            </a:pPr>
            <a:r>
              <a:rPr lang="en-US" sz="2500" b="1" dirty="0">
                <a:solidFill>
                  <a:srgbClr val="111827"/>
                </a:solidFill>
                <a:latin typeface="Aptos Display" pitchFamily="34" charset="0"/>
                <a:ea typeface="Aptos Display" pitchFamily="34" charset="-122"/>
                <a:cs typeface="Aptos Display" pitchFamily="34" charset="-120"/>
              </a:rPr>
              <a:t>Not a résumé. A story.</a:t>
            </a:r>
            <a:endParaRPr lang="en-US" sz="2500" dirty="0"/>
          </a:p>
        </p:txBody>
      </p:sp>
      <p:sp>
        <p:nvSpPr>
          <p:cNvPr id="6" name="Text 4"/>
          <p:cNvSpPr/>
          <p:nvPr/>
        </p:nvSpPr>
        <p:spPr>
          <a:xfrm>
            <a:off x="667512" y="987552"/>
            <a:ext cx="10424160" cy="256032"/>
          </a:xfrm>
          <a:prstGeom prst="rect">
            <a:avLst/>
          </a:prstGeom>
          <a:noFill/>
          <a:ln/>
        </p:spPr>
        <p:txBody>
          <a:bodyPr wrap="square" lIns="0" tIns="0" rIns="0" bIns="0" rtlCol="0" anchor="ctr"/>
          <a:lstStyle/>
          <a:p>
            <a:pPr marL="0" indent="0">
              <a:buNone/>
            </a:pPr>
            <a:r>
              <a:rPr lang="en-US" sz="950" dirty="0">
                <a:solidFill>
                  <a:srgbClr val="5B6472"/>
                </a:solidFill>
              </a:rPr>
              <a:t>A career journey built through exploration, youth support, and recruitment insight</a:t>
            </a:r>
            <a:endParaRPr lang="en-US" sz="950" dirty="0"/>
          </a:p>
        </p:txBody>
      </p:sp>
      <p:sp>
        <p:nvSpPr>
          <p:cNvPr id="7" name="Shape 5"/>
          <p:cNvSpPr/>
          <p:nvPr/>
        </p:nvSpPr>
        <p:spPr>
          <a:xfrm>
            <a:off x="640080" y="1325880"/>
            <a:ext cx="10881360" cy="0"/>
          </a:xfrm>
          <a:prstGeom prst="line">
            <a:avLst/>
          </a:prstGeom>
          <a:noFill/>
          <a:ln w="12700">
            <a:solidFill>
              <a:srgbClr val="D6D3D1"/>
            </a:solidFill>
            <a:prstDash val="solid"/>
          </a:ln>
        </p:spPr>
      </p:sp>
      <p:sp>
        <p:nvSpPr>
          <p:cNvPr id="8" name="Text 6"/>
          <p:cNvSpPr/>
          <p:nvPr/>
        </p:nvSpPr>
        <p:spPr>
          <a:xfrm>
            <a:off x="822960" y="1645920"/>
            <a:ext cx="1280160" cy="457200"/>
          </a:xfrm>
          <a:prstGeom prst="rect">
            <a:avLst/>
          </a:prstGeom>
          <a:noFill/>
          <a:ln/>
        </p:spPr>
        <p:txBody>
          <a:bodyPr wrap="square" lIns="0" tIns="0" rIns="0" bIns="0" rtlCol="0" anchor="ctr"/>
          <a:lstStyle/>
          <a:p>
            <a:pPr marL="0" indent="0" algn="ctr">
              <a:buNone/>
            </a:pPr>
            <a:r>
              <a:rPr lang="en-US" sz="2600" b="1" dirty="0">
                <a:solidFill>
                  <a:srgbClr val="7C3AED"/>
                </a:solidFill>
              </a:rPr>
              <a:t>6,000+</a:t>
            </a:r>
            <a:endParaRPr lang="en-US" sz="2600" dirty="0"/>
          </a:p>
        </p:txBody>
      </p:sp>
      <p:sp>
        <p:nvSpPr>
          <p:cNvPr id="9" name="Text 7"/>
          <p:cNvSpPr/>
          <p:nvPr/>
        </p:nvSpPr>
        <p:spPr>
          <a:xfrm>
            <a:off x="685800" y="2176272"/>
            <a:ext cx="1554480" cy="347472"/>
          </a:xfrm>
          <a:prstGeom prst="rect">
            <a:avLst/>
          </a:prstGeom>
          <a:noFill/>
          <a:ln/>
        </p:spPr>
        <p:txBody>
          <a:bodyPr wrap="square" lIns="0" tIns="0" rIns="0" bIns="0" rtlCol="0" anchor="ctr">
            <a:normAutofit/>
          </a:bodyPr>
          <a:lstStyle/>
          <a:p>
            <a:pPr marL="0" indent="0" algn="ctr">
              <a:buNone/>
            </a:pPr>
            <a:r>
              <a:rPr lang="en-US" sz="750" dirty="0">
                <a:solidFill>
                  <a:srgbClr val="5B6472"/>
                </a:solidFill>
              </a:rPr>
              <a:t>young people supported</a:t>
            </a:r>
            <a:endParaRPr lang="en-US" sz="750" dirty="0"/>
          </a:p>
        </p:txBody>
      </p:sp>
      <p:sp>
        <p:nvSpPr>
          <p:cNvPr id="10" name="Text 8"/>
          <p:cNvSpPr/>
          <p:nvPr/>
        </p:nvSpPr>
        <p:spPr>
          <a:xfrm>
            <a:off x="2743200" y="1645920"/>
            <a:ext cx="1280160" cy="457200"/>
          </a:xfrm>
          <a:prstGeom prst="rect">
            <a:avLst/>
          </a:prstGeom>
          <a:noFill/>
          <a:ln/>
        </p:spPr>
        <p:txBody>
          <a:bodyPr wrap="square" lIns="0" tIns="0" rIns="0" bIns="0" rtlCol="0" anchor="ctr"/>
          <a:lstStyle/>
          <a:p>
            <a:pPr marL="0" indent="0" algn="ctr">
              <a:buNone/>
            </a:pPr>
            <a:r>
              <a:rPr lang="en-US" sz="2600" b="1" dirty="0">
                <a:solidFill>
                  <a:srgbClr val="00A8CC"/>
                </a:solidFill>
              </a:rPr>
              <a:t>600+</a:t>
            </a:r>
            <a:endParaRPr lang="en-US" sz="2600" dirty="0"/>
          </a:p>
        </p:txBody>
      </p:sp>
      <p:sp>
        <p:nvSpPr>
          <p:cNvPr id="11" name="Text 9"/>
          <p:cNvSpPr/>
          <p:nvPr/>
        </p:nvSpPr>
        <p:spPr>
          <a:xfrm>
            <a:off x="2606040" y="2176272"/>
            <a:ext cx="1554480" cy="347472"/>
          </a:xfrm>
          <a:prstGeom prst="rect">
            <a:avLst/>
          </a:prstGeom>
          <a:noFill/>
          <a:ln/>
        </p:spPr>
        <p:txBody>
          <a:bodyPr wrap="square" lIns="0" tIns="0" rIns="0" bIns="0" rtlCol="0" anchor="ctr">
            <a:normAutofit/>
          </a:bodyPr>
          <a:lstStyle/>
          <a:p>
            <a:pPr marL="0" indent="0" algn="ctr">
              <a:buNone/>
            </a:pPr>
            <a:r>
              <a:rPr lang="en-US" sz="750" dirty="0">
                <a:solidFill>
                  <a:srgbClr val="5B6472"/>
                </a:solidFill>
              </a:rPr>
              <a:t>students mentored</a:t>
            </a:r>
            <a:endParaRPr lang="en-US" sz="750" dirty="0"/>
          </a:p>
        </p:txBody>
      </p:sp>
      <p:sp>
        <p:nvSpPr>
          <p:cNvPr id="12" name="Text 10"/>
          <p:cNvSpPr/>
          <p:nvPr/>
        </p:nvSpPr>
        <p:spPr>
          <a:xfrm>
            <a:off x="4617720" y="1645920"/>
            <a:ext cx="1280160" cy="457200"/>
          </a:xfrm>
          <a:prstGeom prst="rect">
            <a:avLst/>
          </a:prstGeom>
          <a:noFill/>
          <a:ln/>
        </p:spPr>
        <p:txBody>
          <a:bodyPr wrap="square" lIns="0" tIns="0" rIns="0" bIns="0" rtlCol="0" anchor="ctr"/>
          <a:lstStyle/>
          <a:p>
            <a:pPr marL="0" indent="0" algn="ctr">
              <a:buNone/>
            </a:pPr>
            <a:r>
              <a:rPr lang="en-US" sz="2600" b="1" dirty="0">
                <a:solidFill>
                  <a:srgbClr val="FF6B4A"/>
                </a:solidFill>
              </a:rPr>
              <a:t>2</a:t>
            </a:r>
            <a:endParaRPr lang="en-US" sz="2600" dirty="0"/>
          </a:p>
        </p:txBody>
      </p:sp>
      <p:sp>
        <p:nvSpPr>
          <p:cNvPr id="13" name="Text 11"/>
          <p:cNvSpPr/>
          <p:nvPr/>
        </p:nvSpPr>
        <p:spPr>
          <a:xfrm>
            <a:off x="4480560" y="2176272"/>
            <a:ext cx="1554480" cy="347472"/>
          </a:xfrm>
          <a:prstGeom prst="rect">
            <a:avLst/>
          </a:prstGeom>
          <a:noFill/>
          <a:ln/>
        </p:spPr>
        <p:txBody>
          <a:bodyPr wrap="square" lIns="0" tIns="0" rIns="0" bIns="0" rtlCol="0" anchor="ctr">
            <a:normAutofit/>
          </a:bodyPr>
          <a:lstStyle/>
          <a:p>
            <a:pPr marL="0" indent="0" algn="ctr">
              <a:buNone/>
            </a:pPr>
            <a:r>
              <a:rPr lang="en-US" sz="750" dirty="0">
                <a:solidFill>
                  <a:srgbClr val="5B6472"/>
                </a:solidFill>
              </a:rPr>
              <a:t>sides of hiring</a:t>
            </a:r>
            <a:endParaRPr lang="en-US" sz="750" dirty="0"/>
          </a:p>
        </p:txBody>
      </p:sp>
      <p:sp>
        <p:nvSpPr>
          <p:cNvPr id="14" name="Shape 12"/>
          <p:cNvSpPr/>
          <p:nvPr/>
        </p:nvSpPr>
        <p:spPr>
          <a:xfrm>
            <a:off x="6720840" y="1536192"/>
            <a:ext cx="4480560" cy="2011680"/>
          </a:xfrm>
          <a:prstGeom prst="roundRect">
            <a:avLst>
              <a:gd name="adj" fmla="val 3636"/>
            </a:avLst>
          </a:prstGeom>
          <a:solidFill>
            <a:srgbClr val="FFFFFF"/>
          </a:solidFill>
          <a:ln w="12700">
            <a:solidFill>
              <a:srgbClr val="E8E2DE"/>
            </a:solidFill>
            <a:prstDash val="solid"/>
          </a:ln>
        </p:spPr>
      </p:sp>
      <p:sp>
        <p:nvSpPr>
          <p:cNvPr id="15" name="Text 13"/>
          <p:cNvSpPr/>
          <p:nvPr/>
        </p:nvSpPr>
        <p:spPr>
          <a:xfrm>
            <a:off x="7040880" y="1828800"/>
            <a:ext cx="3749040" cy="301752"/>
          </a:xfrm>
          <a:prstGeom prst="rect">
            <a:avLst/>
          </a:prstGeom>
          <a:noFill/>
          <a:ln/>
        </p:spPr>
        <p:txBody>
          <a:bodyPr wrap="square" lIns="0" tIns="0" rIns="0" bIns="0" rtlCol="0" anchor="ctr">
            <a:normAutofit/>
          </a:bodyPr>
          <a:lstStyle/>
          <a:p>
            <a:pPr marL="0" indent="0">
              <a:buNone/>
            </a:pPr>
            <a:r>
              <a:rPr lang="en-US" sz="1400" b="1" dirty="0">
                <a:solidFill>
                  <a:srgbClr val="152238"/>
                </a:solidFill>
              </a:rPr>
              <a:t>I work at the intersection of education and employment.</a:t>
            </a:r>
            <a:endParaRPr lang="en-US" sz="1400" dirty="0"/>
          </a:p>
        </p:txBody>
      </p:sp>
      <p:sp>
        <p:nvSpPr>
          <p:cNvPr id="16" name="Text 14"/>
          <p:cNvSpPr/>
          <p:nvPr/>
        </p:nvSpPr>
        <p:spPr>
          <a:xfrm>
            <a:off x="7040880" y="2331720"/>
            <a:ext cx="3749040" cy="457200"/>
          </a:xfrm>
          <a:prstGeom prst="rect">
            <a:avLst/>
          </a:prstGeom>
          <a:noFill/>
          <a:ln/>
        </p:spPr>
        <p:txBody>
          <a:bodyPr wrap="square" lIns="0" tIns="0" rIns="0" bIns="0" rtlCol="0" anchor="ctr">
            <a:normAutofit/>
          </a:bodyPr>
          <a:lstStyle/>
          <a:p>
            <a:pPr marL="0" indent="0">
              <a:buNone/>
            </a:pPr>
            <a:r>
              <a:rPr lang="en-US" sz="950" dirty="0">
                <a:solidFill>
                  <a:srgbClr val="5B6472"/>
                </a:solidFill>
              </a:rPr>
              <a:t>Career readiness • employability programs • AI workshops • bootcamps • coaching • recruitment support</a:t>
            </a:r>
            <a:endParaRPr lang="en-US" sz="950" dirty="0"/>
          </a:p>
        </p:txBody>
      </p:sp>
      <p:sp>
        <p:nvSpPr>
          <p:cNvPr id="17" name="Text 15"/>
          <p:cNvSpPr/>
          <p:nvPr/>
        </p:nvSpPr>
        <p:spPr>
          <a:xfrm>
            <a:off x="7040880" y="2999232"/>
            <a:ext cx="3749040" cy="320040"/>
          </a:xfrm>
          <a:prstGeom prst="rect">
            <a:avLst/>
          </a:prstGeom>
          <a:noFill/>
          <a:ln/>
        </p:spPr>
        <p:txBody>
          <a:bodyPr wrap="square" lIns="0" tIns="0" rIns="0" bIns="0" rtlCol="0" anchor="ctr">
            <a:normAutofit/>
          </a:bodyPr>
          <a:lstStyle/>
          <a:p>
            <a:pPr marL="0" indent="0">
              <a:buNone/>
            </a:pPr>
            <a:r>
              <a:rPr lang="en-US" sz="1050" dirty="0">
                <a:solidFill>
                  <a:srgbClr val="111827"/>
                </a:solidFill>
              </a:rPr>
              <a:t>Today you’ll hear both perspectives: the candidate side and the recruiter side.</a:t>
            </a:r>
            <a:endParaRPr lang="en-US" sz="1050" dirty="0"/>
          </a:p>
        </p:txBody>
      </p:sp>
      <p:sp>
        <p:nvSpPr>
          <p:cNvPr id="19" name="Text 16"/>
          <p:cNvSpPr/>
          <p:nvPr/>
        </p:nvSpPr>
        <p:spPr>
          <a:xfrm>
            <a:off x="411480" y="6510528"/>
            <a:ext cx="6400800" cy="164592"/>
          </a:xfrm>
          <a:prstGeom prst="rect">
            <a:avLst/>
          </a:prstGeom>
          <a:noFill/>
          <a:ln/>
        </p:spPr>
        <p:txBody>
          <a:bodyPr wrap="square" lIns="0" tIns="0" rIns="0" bIns="0" rtlCol="0" anchor="ctr"/>
          <a:lstStyle/>
          <a:p>
            <a:pPr marL="0" indent="0">
              <a:buNone/>
            </a:pPr>
            <a:r>
              <a:rPr lang="en-US" sz="600" dirty="0">
                <a:solidFill>
                  <a:srgbClr val="7C7C7C"/>
                </a:solidFill>
                <a:latin typeface="Aptos" pitchFamily="34" charset="0"/>
                <a:ea typeface="Aptos" pitchFamily="34" charset="-122"/>
                <a:cs typeface="Aptos" pitchFamily="34" charset="-120"/>
              </a:rPr>
              <a:t>What's Next After Graduation?  |  Farah Kerbaj</a:t>
            </a:r>
            <a:endParaRPr lang="en-US" sz="600" dirty="0"/>
          </a:p>
        </p:txBody>
      </p:sp>
      <p:sp>
        <p:nvSpPr>
          <p:cNvPr id="20" name="Text 17"/>
          <p:cNvSpPr/>
          <p:nvPr/>
        </p:nvSpPr>
        <p:spPr>
          <a:xfrm>
            <a:off x="11430000" y="6473952"/>
            <a:ext cx="320040" cy="182880"/>
          </a:xfrm>
          <a:prstGeom prst="rect">
            <a:avLst/>
          </a:prstGeom>
          <a:noFill/>
          <a:ln/>
        </p:spPr>
        <p:txBody>
          <a:bodyPr wrap="square" lIns="0" tIns="0" rIns="0" bIns="0" rtlCol="0" anchor="ctr"/>
          <a:lstStyle/>
          <a:p>
            <a:pPr marL="0" indent="0" algn="r">
              <a:buNone/>
            </a:pPr>
            <a:r>
              <a:rPr lang="en-US" sz="700" dirty="0">
                <a:solidFill>
                  <a:srgbClr val="7C7C7C"/>
                </a:solidFill>
              </a:rPr>
              <a:t>3</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F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F2"/>
          </a:solidFill>
          <a:ln w="12700">
            <a:solidFill>
              <a:srgbClr val="F7F4F2">
                <a:alpha val="0"/>
              </a:srgbClr>
            </a:solidFill>
            <a:prstDash val="solid"/>
          </a:ln>
        </p:spPr>
      </p:sp>
      <p:sp>
        <p:nvSpPr>
          <p:cNvPr id="3" name="Shape 1"/>
          <p:cNvSpPr/>
          <p:nvPr/>
        </p:nvSpPr>
        <p:spPr>
          <a:xfrm>
            <a:off x="0" y="0"/>
            <a:ext cx="12191695" cy="73152"/>
          </a:xfrm>
          <a:prstGeom prst="rect">
            <a:avLst/>
          </a:prstGeom>
          <a:solidFill>
            <a:srgbClr val="F59E0B"/>
          </a:solidFill>
          <a:ln w="12700">
            <a:solidFill>
              <a:srgbClr val="F59E0B"/>
            </a:solidFill>
            <a:prstDash val="solid"/>
          </a:ln>
        </p:spPr>
      </p:sp>
      <p:sp>
        <p:nvSpPr>
          <p:cNvPr id="4" name="Text 2"/>
          <p:cNvSpPr/>
          <p:nvPr/>
        </p:nvSpPr>
        <p:spPr>
          <a:xfrm>
            <a:off x="667512" y="274320"/>
            <a:ext cx="7315200" cy="201168"/>
          </a:xfrm>
          <a:prstGeom prst="rect">
            <a:avLst/>
          </a:prstGeom>
          <a:noFill/>
          <a:ln/>
        </p:spPr>
        <p:txBody>
          <a:bodyPr wrap="square" lIns="0" tIns="0" rIns="0" bIns="0" rtlCol="0" anchor="ctr"/>
          <a:lstStyle/>
          <a:p>
            <a:pPr marL="0" indent="0">
              <a:buNone/>
            </a:pPr>
            <a:r>
              <a:rPr lang="en-US" sz="750" b="1" dirty="0">
                <a:solidFill>
                  <a:srgbClr val="F59E0B"/>
                </a:solidFill>
              </a:rPr>
              <a:t>MY HONEST STARTING POINT</a:t>
            </a:r>
            <a:endParaRPr lang="en-US" sz="750" dirty="0"/>
          </a:p>
        </p:txBody>
      </p:sp>
      <p:sp>
        <p:nvSpPr>
          <p:cNvPr id="5" name="Text 3"/>
          <p:cNvSpPr/>
          <p:nvPr/>
        </p:nvSpPr>
        <p:spPr>
          <a:xfrm>
            <a:off x="640080" y="502920"/>
            <a:ext cx="10881360" cy="438912"/>
          </a:xfrm>
          <a:prstGeom prst="rect">
            <a:avLst/>
          </a:prstGeom>
          <a:noFill/>
          <a:ln/>
        </p:spPr>
        <p:txBody>
          <a:bodyPr wrap="square" lIns="0" tIns="0" rIns="0" bIns="0" rtlCol="0" anchor="ctr">
            <a:normAutofit/>
          </a:bodyPr>
          <a:lstStyle/>
          <a:p>
            <a:pPr marL="0" indent="0">
              <a:buNone/>
            </a:pPr>
            <a:r>
              <a:rPr lang="en-US" sz="2500" b="1" dirty="0">
                <a:solidFill>
                  <a:srgbClr val="111827"/>
                </a:solidFill>
                <a:latin typeface="Aptos Display" pitchFamily="34" charset="0"/>
                <a:ea typeface="Aptos Display" pitchFamily="34" charset="-122"/>
                <a:cs typeface="Aptos Display" pitchFamily="34" charset="-120"/>
              </a:rPr>
              <a:t>I’ve been in your shoes</a:t>
            </a:r>
            <a:endParaRPr lang="en-US" sz="2500" dirty="0"/>
          </a:p>
        </p:txBody>
      </p:sp>
      <p:sp>
        <p:nvSpPr>
          <p:cNvPr id="6" name="Text 4"/>
          <p:cNvSpPr/>
          <p:nvPr/>
        </p:nvSpPr>
        <p:spPr>
          <a:xfrm>
            <a:off x="667512" y="987552"/>
            <a:ext cx="10424160" cy="256032"/>
          </a:xfrm>
          <a:prstGeom prst="rect">
            <a:avLst/>
          </a:prstGeom>
          <a:noFill/>
          <a:ln/>
        </p:spPr>
        <p:txBody>
          <a:bodyPr wrap="square" lIns="0" tIns="0" rIns="0" bIns="0" rtlCol="0" anchor="ctr"/>
          <a:lstStyle/>
          <a:p>
            <a:pPr marL="0" indent="0">
              <a:buNone/>
            </a:pPr>
            <a:r>
              <a:rPr lang="en-US" sz="950" dirty="0">
                <a:solidFill>
                  <a:srgbClr val="5B6472"/>
                </a:solidFill>
              </a:rPr>
              <a:t>Lost, unsure, and trying to choose a path during uncertainty</a:t>
            </a:r>
            <a:endParaRPr lang="en-US" sz="950" dirty="0"/>
          </a:p>
        </p:txBody>
      </p:sp>
      <p:sp>
        <p:nvSpPr>
          <p:cNvPr id="7" name="Shape 5"/>
          <p:cNvSpPr/>
          <p:nvPr/>
        </p:nvSpPr>
        <p:spPr>
          <a:xfrm>
            <a:off x="640080" y="1325880"/>
            <a:ext cx="10881360" cy="0"/>
          </a:xfrm>
          <a:prstGeom prst="line">
            <a:avLst/>
          </a:prstGeom>
          <a:noFill/>
          <a:ln w="12700">
            <a:solidFill>
              <a:srgbClr val="D6D3D1"/>
            </a:solidFill>
            <a:prstDash val="solid"/>
          </a:ln>
        </p:spPr>
      </p:sp>
      <p:sp>
        <p:nvSpPr>
          <p:cNvPr id="8" name="Shape 6"/>
          <p:cNvSpPr/>
          <p:nvPr/>
        </p:nvSpPr>
        <p:spPr>
          <a:xfrm>
            <a:off x="777240" y="1737360"/>
            <a:ext cx="2606040" cy="2423160"/>
          </a:xfrm>
          <a:prstGeom prst="roundRect">
            <a:avLst>
              <a:gd name="adj" fmla="val 3019"/>
            </a:avLst>
          </a:prstGeom>
          <a:solidFill>
            <a:srgbClr val="FFFFFF"/>
          </a:solidFill>
          <a:ln w="12700">
            <a:solidFill>
              <a:srgbClr val="E8E2DE"/>
            </a:solidFill>
            <a:prstDash val="solid"/>
          </a:ln>
        </p:spPr>
      </p:sp>
      <p:sp>
        <p:nvSpPr>
          <p:cNvPr id="9" name="Text 7"/>
          <p:cNvSpPr/>
          <p:nvPr/>
        </p:nvSpPr>
        <p:spPr>
          <a:xfrm>
            <a:off x="941832" y="1938528"/>
            <a:ext cx="347472" cy="292608"/>
          </a:xfrm>
          <a:prstGeom prst="rect">
            <a:avLst/>
          </a:prstGeom>
          <a:noFill/>
          <a:ln/>
        </p:spPr>
        <p:txBody>
          <a:bodyPr wrap="square" lIns="0" tIns="0" rIns="0" bIns="0" rtlCol="0" anchor="ctr"/>
          <a:lstStyle/>
          <a:p>
            <a:pPr marL="0" indent="0">
              <a:buNone/>
            </a:pPr>
            <a:r>
              <a:rPr lang="en-US" sz="1600" b="1" dirty="0">
                <a:solidFill>
                  <a:srgbClr val="F59E0B"/>
                </a:solidFill>
              </a:rPr>
              <a:t>1</a:t>
            </a:r>
            <a:endParaRPr lang="en-US" sz="1600" dirty="0"/>
          </a:p>
        </p:txBody>
      </p:sp>
      <p:sp>
        <p:nvSpPr>
          <p:cNvPr id="10" name="Text 8"/>
          <p:cNvSpPr/>
          <p:nvPr/>
        </p:nvSpPr>
        <p:spPr>
          <a:xfrm>
            <a:off x="1344168" y="1965960"/>
            <a:ext cx="1645920" cy="228600"/>
          </a:xfrm>
          <a:prstGeom prst="rect">
            <a:avLst/>
          </a:prstGeom>
          <a:noFill/>
          <a:ln/>
        </p:spPr>
        <p:txBody>
          <a:bodyPr wrap="square" lIns="0" tIns="0" rIns="0" bIns="0" rtlCol="0" anchor="ctr">
            <a:normAutofit/>
          </a:bodyPr>
          <a:lstStyle/>
          <a:p>
            <a:pPr marL="0" indent="0">
              <a:buNone/>
            </a:pPr>
            <a:r>
              <a:rPr lang="en-US" sz="1200" b="1" dirty="0">
                <a:solidFill>
                  <a:srgbClr val="152238"/>
                </a:solidFill>
              </a:rPr>
              <a:t>COVID + crisis</a:t>
            </a:r>
            <a:endParaRPr lang="en-US" sz="1200" dirty="0"/>
          </a:p>
        </p:txBody>
      </p:sp>
      <p:sp>
        <p:nvSpPr>
          <p:cNvPr id="11" name="Text 9"/>
          <p:cNvSpPr/>
          <p:nvPr/>
        </p:nvSpPr>
        <p:spPr>
          <a:xfrm>
            <a:off x="1005840" y="2514600"/>
            <a:ext cx="2057400" cy="841248"/>
          </a:xfrm>
          <a:prstGeom prst="rect">
            <a:avLst/>
          </a:prstGeom>
          <a:noFill/>
          <a:ln/>
        </p:spPr>
        <p:txBody>
          <a:bodyPr wrap="square" lIns="0" tIns="0" rIns="0" bIns="0" rtlCol="0" anchor="ctr">
            <a:normAutofit/>
          </a:bodyPr>
          <a:lstStyle/>
          <a:p>
            <a:pPr marL="0" indent="0">
              <a:buNone/>
            </a:pPr>
            <a:r>
              <a:rPr lang="en-US" sz="920" dirty="0">
                <a:solidFill>
                  <a:srgbClr val="5B6472"/>
                </a:solidFill>
              </a:rPr>
              <a:t>I entered university during a confusing time and didn’t have clear guidance.</a:t>
            </a:r>
            <a:endParaRPr lang="en-US" sz="920" dirty="0"/>
          </a:p>
        </p:txBody>
      </p:sp>
      <p:sp>
        <p:nvSpPr>
          <p:cNvPr id="12" name="Shape 10"/>
          <p:cNvSpPr/>
          <p:nvPr/>
        </p:nvSpPr>
        <p:spPr>
          <a:xfrm>
            <a:off x="3566160" y="1737360"/>
            <a:ext cx="2606040" cy="2423160"/>
          </a:xfrm>
          <a:prstGeom prst="roundRect">
            <a:avLst>
              <a:gd name="adj" fmla="val 3019"/>
            </a:avLst>
          </a:prstGeom>
          <a:solidFill>
            <a:srgbClr val="FEF3C7"/>
          </a:solidFill>
          <a:ln w="12700">
            <a:solidFill>
              <a:srgbClr val="E8E2DE"/>
            </a:solidFill>
            <a:prstDash val="solid"/>
          </a:ln>
        </p:spPr>
      </p:sp>
      <p:sp>
        <p:nvSpPr>
          <p:cNvPr id="13" name="Text 11"/>
          <p:cNvSpPr/>
          <p:nvPr/>
        </p:nvSpPr>
        <p:spPr>
          <a:xfrm>
            <a:off x="3730752" y="1938528"/>
            <a:ext cx="347472" cy="292608"/>
          </a:xfrm>
          <a:prstGeom prst="rect">
            <a:avLst/>
          </a:prstGeom>
          <a:noFill/>
          <a:ln/>
        </p:spPr>
        <p:txBody>
          <a:bodyPr wrap="square" lIns="0" tIns="0" rIns="0" bIns="0" rtlCol="0" anchor="ctr"/>
          <a:lstStyle/>
          <a:p>
            <a:pPr marL="0" indent="0">
              <a:buNone/>
            </a:pPr>
            <a:r>
              <a:rPr lang="en-US" sz="1600" b="1" dirty="0">
                <a:solidFill>
                  <a:srgbClr val="FF6B4A"/>
                </a:solidFill>
              </a:rPr>
              <a:t>2</a:t>
            </a:r>
            <a:endParaRPr lang="en-US" sz="1600" dirty="0"/>
          </a:p>
        </p:txBody>
      </p:sp>
      <p:sp>
        <p:nvSpPr>
          <p:cNvPr id="14" name="Text 12"/>
          <p:cNvSpPr/>
          <p:nvPr/>
        </p:nvSpPr>
        <p:spPr>
          <a:xfrm>
            <a:off x="4133088" y="1965960"/>
            <a:ext cx="1645920" cy="228600"/>
          </a:xfrm>
          <a:prstGeom prst="rect">
            <a:avLst/>
          </a:prstGeom>
          <a:noFill/>
          <a:ln/>
        </p:spPr>
        <p:txBody>
          <a:bodyPr wrap="square" lIns="0" tIns="0" rIns="0" bIns="0" rtlCol="0" anchor="ctr">
            <a:normAutofit/>
          </a:bodyPr>
          <a:lstStyle/>
          <a:p>
            <a:pPr marL="0" indent="0">
              <a:buNone/>
            </a:pPr>
            <a:r>
              <a:rPr lang="en-US" sz="1200" b="1" dirty="0">
                <a:solidFill>
                  <a:srgbClr val="152238"/>
                </a:solidFill>
              </a:rPr>
              <a:t>Wrong-fit path</a:t>
            </a:r>
            <a:endParaRPr lang="en-US" sz="1200" dirty="0"/>
          </a:p>
        </p:txBody>
      </p:sp>
      <p:sp>
        <p:nvSpPr>
          <p:cNvPr id="15" name="Text 13"/>
          <p:cNvSpPr/>
          <p:nvPr/>
        </p:nvSpPr>
        <p:spPr>
          <a:xfrm>
            <a:off x="3794760" y="2514600"/>
            <a:ext cx="2057400" cy="841248"/>
          </a:xfrm>
          <a:prstGeom prst="rect">
            <a:avLst/>
          </a:prstGeom>
          <a:noFill/>
          <a:ln/>
        </p:spPr>
        <p:txBody>
          <a:bodyPr wrap="square" lIns="0" tIns="0" rIns="0" bIns="0" rtlCol="0" anchor="ctr">
            <a:normAutofit/>
          </a:bodyPr>
          <a:lstStyle/>
          <a:p>
            <a:pPr marL="0" indent="0">
              <a:buNone/>
            </a:pPr>
            <a:r>
              <a:rPr lang="en-US" sz="920" dirty="0">
                <a:solidFill>
                  <a:srgbClr val="5B6472"/>
                </a:solidFill>
              </a:rPr>
              <a:t>I started in Economics, then slowly realized it didn’t fully resonate with me.</a:t>
            </a:r>
            <a:endParaRPr lang="en-US" sz="920" dirty="0"/>
          </a:p>
        </p:txBody>
      </p:sp>
      <p:sp>
        <p:nvSpPr>
          <p:cNvPr id="16" name="Shape 14"/>
          <p:cNvSpPr/>
          <p:nvPr/>
        </p:nvSpPr>
        <p:spPr>
          <a:xfrm>
            <a:off x="6355080" y="1737360"/>
            <a:ext cx="2606040" cy="2423160"/>
          </a:xfrm>
          <a:prstGeom prst="roundRect">
            <a:avLst>
              <a:gd name="adj" fmla="val 3019"/>
            </a:avLst>
          </a:prstGeom>
          <a:solidFill>
            <a:srgbClr val="FFFFFF"/>
          </a:solidFill>
          <a:ln w="12700">
            <a:solidFill>
              <a:srgbClr val="E8E2DE"/>
            </a:solidFill>
            <a:prstDash val="solid"/>
          </a:ln>
        </p:spPr>
      </p:sp>
      <p:sp>
        <p:nvSpPr>
          <p:cNvPr id="17" name="Text 15"/>
          <p:cNvSpPr/>
          <p:nvPr/>
        </p:nvSpPr>
        <p:spPr>
          <a:xfrm>
            <a:off x="6519672" y="1938528"/>
            <a:ext cx="347472" cy="292608"/>
          </a:xfrm>
          <a:prstGeom prst="rect">
            <a:avLst/>
          </a:prstGeom>
          <a:noFill/>
          <a:ln/>
        </p:spPr>
        <p:txBody>
          <a:bodyPr wrap="square" lIns="0" tIns="0" rIns="0" bIns="0" rtlCol="0" anchor="ctr"/>
          <a:lstStyle/>
          <a:p>
            <a:pPr marL="0" indent="0">
              <a:buNone/>
            </a:pPr>
            <a:r>
              <a:rPr lang="en-US" sz="1600" b="1" dirty="0">
                <a:solidFill>
                  <a:srgbClr val="2563EB"/>
                </a:solidFill>
              </a:rPr>
              <a:t>3</a:t>
            </a:r>
            <a:endParaRPr lang="en-US" sz="1600" dirty="0"/>
          </a:p>
        </p:txBody>
      </p:sp>
      <p:sp>
        <p:nvSpPr>
          <p:cNvPr id="18" name="Text 16"/>
          <p:cNvSpPr/>
          <p:nvPr/>
        </p:nvSpPr>
        <p:spPr>
          <a:xfrm>
            <a:off x="6922008" y="1965960"/>
            <a:ext cx="1645920" cy="228600"/>
          </a:xfrm>
          <a:prstGeom prst="rect">
            <a:avLst/>
          </a:prstGeom>
          <a:noFill/>
          <a:ln/>
        </p:spPr>
        <p:txBody>
          <a:bodyPr wrap="square" lIns="0" tIns="0" rIns="0" bIns="0" rtlCol="0" anchor="ctr">
            <a:normAutofit/>
          </a:bodyPr>
          <a:lstStyle/>
          <a:p>
            <a:pPr marL="0" indent="0">
              <a:buNone/>
            </a:pPr>
            <a:r>
              <a:rPr lang="en-US" sz="1200" b="1" dirty="0">
                <a:solidFill>
                  <a:srgbClr val="152238"/>
                </a:solidFill>
              </a:rPr>
              <a:t>Exploration</a:t>
            </a:r>
            <a:endParaRPr lang="en-US" sz="1200" dirty="0"/>
          </a:p>
        </p:txBody>
      </p:sp>
      <p:sp>
        <p:nvSpPr>
          <p:cNvPr id="19" name="Text 17"/>
          <p:cNvSpPr/>
          <p:nvPr/>
        </p:nvSpPr>
        <p:spPr>
          <a:xfrm>
            <a:off x="6583680" y="2514600"/>
            <a:ext cx="2057400" cy="841248"/>
          </a:xfrm>
          <a:prstGeom prst="rect">
            <a:avLst/>
          </a:prstGeom>
          <a:noFill/>
          <a:ln/>
        </p:spPr>
        <p:txBody>
          <a:bodyPr wrap="square" lIns="0" tIns="0" rIns="0" bIns="0" rtlCol="0" anchor="ctr">
            <a:normAutofit/>
          </a:bodyPr>
          <a:lstStyle/>
          <a:p>
            <a:pPr marL="0" indent="0">
              <a:buNone/>
            </a:pPr>
            <a:r>
              <a:rPr lang="en-US" sz="920" dirty="0">
                <a:solidFill>
                  <a:srgbClr val="5B6472"/>
                </a:solidFill>
              </a:rPr>
              <a:t>Workshops, volunteering, programs, and LinkedIn helped me meet people and learn.</a:t>
            </a:r>
            <a:endParaRPr lang="en-US" sz="920" dirty="0"/>
          </a:p>
        </p:txBody>
      </p:sp>
      <p:sp>
        <p:nvSpPr>
          <p:cNvPr id="20" name="Shape 18"/>
          <p:cNvSpPr/>
          <p:nvPr/>
        </p:nvSpPr>
        <p:spPr>
          <a:xfrm>
            <a:off x="9144000" y="1737360"/>
            <a:ext cx="2606040" cy="2423160"/>
          </a:xfrm>
          <a:prstGeom prst="roundRect">
            <a:avLst>
              <a:gd name="adj" fmla="val 3019"/>
            </a:avLst>
          </a:prstGeom>
          <a:solidFill>
            <a:srgbClr val="FEF3C7"/>
          </a:solidFill>
          <a:ln w="12700">
            <a:solidFill>
              <a:srgbClr val="E8E2DE"/>
            </a:solidFill>
            <a:prstDash val="solid"/>
          </a:ln>
        </p:spPr>
      </p:sp>
      <p:sp>
        <p:nvSpPr>
          <p:cNvPr id="21" name="Text 19"/>
          <p:cNvSpPr/>
          <p:nvPr/>
        </p:nvSpPr>
        <p:spPr>
          <a:xfrm>
            <a:off x="9308592" y="1938528"/>
            <a:ext cx="347472" cy="292608"/>
          </a:xfrm>
          <a:prstGeom prst="rect">
            <a:avLst/>
          </a:prstGeom>
          <a:noFill/>
          <a:ln/>
        </p:spPr>
        <p:txBody>
          <a:bodyPr wrap="square" lIns="0" tIns="0" rIns="0" bIns="0" rtlCol="0" anchor="ctr"/>
          <a:lstStyle/>
          <a:p>
            <a:pPr marL="0" indent="0">
              <a:buNone/>
            </a:pPr>
            <a:r>
              <a:rPr lang="en-US" sz="1600" b="1" dirty="0">
                <a:solidFill>
                  <a:srgbClr val="10B981"/>
                </a:solidFill>
              </a:rPr>
              <a:t>4</a:t>
            </a:r>
            <a:endParaRPr lang="en-US" sz="1600" dirty="0"/>
          </a:p>
        </p:txBody>
      </p:sp>
      <p:sp>
        <p:nvSpPr>
          <p:cNvPr id="22" name="Text 20"/>
          <p:cNvSpPr/>
          <p:nvPr/>
        </p:nvSpPr>
        <p:spPr>
          <a:xfrm>
            <a:off x="9710928" y="1965960"/>
            <a:ext cx="1645920" cy="228600"/>
          </a:xfrm>
          <a:prstGeom prst="rect">
            <a:avLst/>
          </a:prstGeom>
          <a:noFill/>
          <a:ln/>
        </p:spPr>
        <p:txBody>
          <a:bodyPr wrap="square" lIns="0" tIns="0" rIns="0" bIns="0" rtlCol="0" anchor="ctr">
            <a:normAutofit/>
          </a:bodyPr>
          <a:lstStyle/>
          <a:p>
            <a:pPr marL="0" indent="0">
              <a:buNone/>
            </a:pPr>
            <a:r>
              <a:rPr lang="en-US" sz="1200" b="1" dirty="0">
                <a:solidFill>
                  <a:srgbClr val="152238"/>
                </a:solidFill>
              </a:rPr>
              <a:t>First opportunities</a:t>
            </a:r>
            <a:endParaRPr lang="en-US" sz="1200" dirty="0"/>
          </a:p>
        </p:txBody>
      </p:sp>
      <p:sp>
        <p:nvSpPr>
          <p:cNvPr id="23" name="Text 21"/>
          <p:cNvSpPr/>
          <p:nvPr/>
        </p:nvSpPr>
        <p:spPr>
          <a:xfrm>
            <a:off x="9372600" y="2514600"/>
            <a:ext cx="2057400" cy="841248"/>
          </a:xfrm>
          <a:prstGeom prst="rect">
            <a:avLst/>
          </a:prstGeom>
          <a:noFill/>
          <a:ln/>
        </p:spPr>
        <p:txBody>
          <a:bodyPr wrap="square" lIns="0" tIns="0" rIns="0" bIns="0" rtlCol="0" anchor="ctr">
            <a:normAutofit/>
          </a:bodyPr>
          <a:lstStyle/>
          <a:p>
            <a:pPr marL="0" indent="0">
              <a:buNone/>
            </a:pPr>
            <a:r>
              <a:rPr lang="en-US" sz="920" dirty="0">
                <a:solidFill>
                  <a:srgbClr val="5B6472"/>
                </a:solidFill>
              </a:rPr>
              <a:t>Internships and programs showed me my real strengths: people, growth, and youth empowerment.</a:t>
            </a:r>
            <a:endParaRPr lang="en-US" sz="920" dirty="0"/>
          </a:p>
        </p:txBody>
      </p:sp>
      <p:sp>
        <p:nvSpPr>
          <p:cNvPr id="24" name="Text 22"/>
          <p:cNvSpPr/>
          <p:nvPr/>
        </p:nvSpPr>
        <p:spPr>
          <a:xfrm>
            <a:off x="1143000" y="5257800"/>
            <a:ext cx="9875520" cy="320040"/>
          </a:xfrm>
          <a:prstGeom prst="rect">
            <a:avLst/>
          </a:prstGeom>
          <a:noFill/>
          <a:ln/>
        </p:spPr>
        <p:txBody>
          <a:bodyPr wrap="square" lIns="0" tIns="0" rIns="0" bIns="0" rtlCol="0" anchor="ctr">
            <a:normAutofit/>
          </a:bodyPr>
          <a:lstStyle/>
          <a:p>
            <a:pPr marL="0" indent="0" algn="ctr">
              <a:buNone/>
            </a:pPr>
            <a:r>
              <a:rPr lang="en-US" sz="1600" b="1" dirty="0">
                <a:solidFill>
                  <a:srgbClr val="111827"/>
                </a:solidFill>
              </a:rPr>
              <a:t>Your career is not discovered in one perfect decision — it is built through exploration.</a:t>
            </a:r>
            <a:endParaRPr lang="en-US" sz="1600" dirty="0"/>
          </a:p>
        </p:txBody>
      </p:sp>
      <p:sp>
        <p:nvSpPr>
          <p:cNvPr id="26" name="Text 23"/>
          <p:cNvSpPr/>
          <p:nvPr/>
        </p:nvSpPr>
        <p:spPr>
          <a:xfrm>
            <a:off x="411480" y="6510528"/>
            <a:ext cx="6400800" cy="164592"/>
          </a:xfrm>
          <a:prstGeom prst="rect">
            <a:avLst/>
          </a:prstGeom>
          <a:noFill/>
          <a:ln/>
        </p:spPr>
        <p:txBody>
          <a:bodyPr wrap="square" lIns="0" tIns="0" rIns="0" bIns="0" rtlCol="0" anchor="ctr"/>
          <a:lstStyle/>
          <a:p>
            <a:pPr marL="0" indent="0">
              <a:buNone/>
            </a:pPr>
            <a:r>
              <a:rPr lang="en-US" sz="600" dirty="0">
                <a:solidFill>
                  <a:srgbClr val="7C7C7C"/>
                </a:solidFill>
                <a:latin typeface="Aptos" pitchFamily="34" charset="0"/>
                <a:ea typeface="Aptos" pitchFamily="34" charset="-122"/>
                <a:cs typeface="Aptos" pitchFamily="34" charset="-120"/>
              </a:rPr>
              <a:t>What's Next After Graduation?  |  Farah Kerbaj</a:t>
            </a:r>
            <a:endParaRPr lang="en-US" sz="600" dirty="0"/>
          </a:p>
        </p:txBody>
      </p:sp>
      <p:sp>
        <p:nvSpPr>
          <p:cNvPr id="27" name="Text 24"/>
          <p:cNvSpPr/>
          <p:nvPr/>
        </p:nvSpPr>
        <p:spPr>
          <a:xfrm>
            <a:off x="11430000" y="6473952"/>
            <a:ext cx="320040" cy="182880"/>
          </a:xfrm>
          <a:prstGeom prst="rect">
            <a:avLst/>
          </a:prstGeom>
          <a:noFill/>
          <a:ln/>
        </p:spPr>
        <p:txBody>
          <a:bodyPr wrap="square" lIns="0" tIns="0" rIns="0" bIns="0" rtlCol="0" anchor="ctr"/>
          <a:lstStyle/>
          <a:p>
            <a:pPr marL="0" indent="0" algn="r">
              <a:buNone/>
            </a:pPr>
            <a:r>
              <a:rPr lang="en-US" sz="700" dirty="0">
                <a:solidFill>
                  <a:srgbClr val="7C7C7C"/>
                </a:solidFill>
              </a:rPr>
              <a:t>4</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F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F2"/>
          </a:solidFill>
          <a:ln w="12700">
            <a:solidFill>
              <a:srgbClr val="F7F4F2">
                <a:alpha val="0"/>
              </a:srgbClr>
            </a:solidFill>
            <a:prstDash val="solid"/>
          </a:ln>
        </p:spPr>
      </p:sp>
      <p:sp>
        <p:nvSpPr>
          <p:cNvPr id="3" name="Shape 1"/>
          <p:cNvSpPr/>
          <p:nvPr/>
        </p:nvSpPr>
        <p:spPr>
          <a:xfrm>
            <a:off x="0" y="0"/>
            <a:ext cx="12191695" cy="73152"/>
          </a:xfrm>
          <a:prstGeom prst="rect">
            <a:avLst/>
          </a:prstGeom>
          <a:solidFill>
            <a:srgbClr val="2563EB"/>
          </a:solidFill>
          <a:ln w="12700">
            <a:solidFill>
              <a:srgbClr val="2563EB"/>
            </a:solidFill>
            <a:prstDash val="solid"/>
          </a:ln>
        </p:spPr>
      </p:sp>
      <p:sp>
        <p:nvSpPr>
          <p:cNvPr id="4" name="Text 2"/>
          <p:cNvSpPr/>
          <p:nvPr/>
        </p:nvSpPr>
        <p:spPr>
          <a:xfrm>
            <a:off x="667512" y="274320"/>
            <a:ext cx="7315200" cy="201168"/>
          </a:xfrm>
          <a:prstGeom prst="rect">
            <a:avLst/>
          </a:prstGeom>
          <a:noFill/>
          <a:ln/>
        </p:spPr>
        <p:txBody>
          <a:bodyPr wrap="square" lIns="0" tIns="0" rIns="0" bIns="0" rtlCol="0" anchor="ctr"/>
          <a:lstStyle/>
          <a:p>
            <a:pPr marL="0" indent="0">
              <a:buNone/>
            </a:pPr>
            <a:r>
              <a:rPr lang="en-US" sz="750" b="1" dirty="0">
                <a:solidFill>
                  <a:srgbClr val="2563EB"/>
                </a:solidFill>
              </a:rPr>
              <a:t>TODAY’S PROMISE</a:t>
            </a:r>
            <a:endParaRPr lang="en-US" sz="750" dirty="0"/>
          </a:p>
        </p:txBody>
      </p:sp>
      <p:sp>
        <p:nvSpPr>
          <p:cNvPr id="5" name="Text 3"/>
          <p:cNvSpPr/>
          <p:nvPr/>
        </p:nvSpPr>
        <p:spPr>
          <a:xfrm>
            <a:off x="640080" y="502920"/>
            <a:ext cx="10881360" cy="438912"/>
          </a:xfrm>
          <a:prstGeom prst="rect">
            <a:avLst/>
          </a:prstGeom>
          <a:noFill/>
          <a:ln/>
        </p:spPr>
        <p:txBody>
          <a:bodyPr wrap="square" lIns="0" tIns="0" rIns="0" bIns="0" rtlCol="0" anchor="ctr">
            <a:normAutofit/>
          </a:bodyPr>
          <a:lstStyle/>
          <a:p>
            <a:pPr marL="0" indent="0">
              <a:buNone/>
            </a:pPr>
            <a:r>
              <a:rPr lang="en-US" sz="2500" b="1" dirty="0">
                <a:solidFill>
                  <a:srgbClr val="111827"/>
                </a:solidFill>
                <a:latin typeface="Aptos Display" pitchFamily="34" charset="0"/>
                <a:ea typeface="Aptos Display" pitchFamily="34" charset="-122"/>
                <a:cs typeface="Aptos Display" pitchFamily="34" charset="-120"/>
              </a:rPr>
              <a:t>Three Questions We’ll Answer</a:t>
            </a:r>
            <a:endParaRPr lang="en-US" sz="2500" dirty="0"/>
          </a:p>
        </p:txBody>
      </p:sp>
      <p:sp>
        <p:nvSpPr>
          <p:cNvPr id="6" name="Text 4"/>
          <p:cNvSpPr/>
          <p:nvPr/>
        </p:nvSpPr>
        <p:spPr>
          <a:xfrm>
            <a:off x="667512" y="987552"/>
            <a:ext cx="10424160" cy="256032"/>
          </a:xfrm>
          <a:prstGeom prst="rect">
            <a:avLst/>
          </a:prstGeom>
          <a:noFill/>
          <a:ln/>
        </p:spPr>
        <p:txBody>
          <a:bodyPr wrap="square" lIns="0" tIns="0" rIns="0" bIns="0" rtlCol="0" anchor="ctr"/>
          <a:lstStyle/>
          <a:p>
            <a:pPr marL="0" indent="0">
              <a:buNone/>
            </a:pPr>
            <a:r>
              <a:rPr lang="en-US" sz="950" dirty="0">
                <a:solidFill>
                  <a:srgbClr val="5B6472"/>
                </a:solidFill>
              </a:rPr>
              <a:t>The same questions every fresh graduate asks</a:t>
            </a:r>
            <a:endParaRPr lang="en-US" sz="950" dirty="0"/>
          </a:p>
        </p:txBody>
      </p:sp>
      <p:sp>
        <p:nvSpPr>
          <p:cNvPr id="7" name="Shape 5"/>
          <p:cNvSpPr/>
          <p:nvPr/>
        </p:nvSpPr>
        <p:spPr>
          <a:xfrm>
            <a:off x="640080" y="1325880"/>
            <a:ext cx="10881360" cy="0"/>
          </a:xfrm>
          <a:prstGeom prst="line">
            <a:avLst/>
          </a:prstGeom>
          <a:noFill/>
          <a:ln w="12700">
            <a:solidFill>
              <a:srgbClr val="D6D3D1"/>
            </a:solidFill>
            <a:prstDash val="solid"/>
          </a:ln>
        </p:spPr>
      </p:sp>
      <p:sp>
        <p:nvSpPr>
          <p:cNvPr id="8" name="Shape 6"/>
          <p:cNvSpPr/>
          <p:nvPr/>
        </p:nvSpPr>
        <p:spPr>
          <a:xfrm>
            <a:off x="1005840" y="1600200"/>
            <a:ext cx="10149840" cy="914400"/>
          </a:xfrm>
          <a:prstGeom prst="roundRect">
            <a:avLst>
              <a:gd name="adj" fmla="val 8000"/>
            </a:avLst>
          </a:prstGeom>
          <a:solidFill>
            <a:srgbClr val="E0F2FE"/>
          </a:solidFill>
          <a:ln w="12700">
            <a:solidFill>
              <a:srgbClr val="E8E2DE"/>
            </a:solidFill>
            <a:prstDash val="solid"/>
          </a:ln>
        </p:spPr>
      </p:sp>
      <p:sp>
        <p:nvSpPr>
          <p:cNvPr id="9" name="Text 7"/>
          <p:cNvSpPr/>
          <p:nvPr/>
        </p:nvSpPr>
        <p:spPr>
          <a:xfrm>
            <a:off x="1325880" y="1783080"/>
            <a:ext cx="4206240" cy="228600"/>
          </a:xfrm>
          <a:prstGeom prst="rect">
            <a:avLst/>
          </a:prstGeom>
          <a:noFill/>
          <a:ln/>
        </p:spPr>
        <p:txBody>
          <a:bodyPr wrap="square" lIns="0" tIns="0" rIns="0" bIns="0" rtlCol="0" anchor="ctr">
            <a:normAutofit/>
          </a:bodyPr>
          <a:lstStyle/>
          <a:p>
            <a:pPr marL="0" indent="0">
              <a:buNone/>
            </a:pPr>
            <a:r>
              <a:rPr lang="en-US" sz="1500" b="1" dirty="0">
                <a:solidFill>
                  <a:srgbClr val="2563EB"/>
                </a:solidFill>
              </a:rPr>
              <a:t>How do I get my first job?</a:t>
            </a:r>
            <a:endParaRPr lang="en-US" sz="1500" dirty="0"/>
          </a:p>
        </p:txBody>
      </p:sp>
      <p:sp>
        <p:nvSpPr>
          <p:cNvPr id="10" name="Text 8"/>
          <p:cNvSpPr/>
          <p:nvPr/>
        </p:nvSpPr>
        <p:spPr>
          <a:xfrm>
            <a:off x="5532120" y="1828800"/>
            <a:ext cx="4937760" cy="228600"/>
          </a:xfrm>
          <a:prstGeom prst="rect">
            <a:avLst/>
          </a:prstGeom>
          <a:noFill/>
          <a:ln/>
        </p:spPr>
        <p:txBody>
          <a:bodyPr wrap="square" lIns="0" tIns="0" rIns="0" bIns="0" rtlCol="0" anchor="ctr">
            <a:normAutofit/>
          </a:bodyPr>
          <a:lstStyle/>
          <a:p>
            <a:pPr marL="0" indent="0">
              <a:buNone/>
            </a:pPr>
            <a:r>
              <a:rPr lang="en-US" sz="1030" dirty="0">
                <a:solidFill>
                  <a:srgbClr val="5B6472"/>
                </a:solidFill>
              </a:rPr>
              <a:t>Applications, proof, networking, and interview readiness.</a:t>
            </a:r>
            <a:endParaRPr lang="en-US" sz="1030" dirty="0"/>
          </a:p>
        </p:txBody>
      </p:sp>
      <p:sp>
        <p:nvSpPr>
          <p:cNvPr id="11" name="Shape 9"/>
          <p:cNvSpPr/>
          <p:nvPr/>
        </p:nvSpPr>
        <p:spPr>
          <a:xfrm>
            <a:off x="1005840" y="2743200"/>
            <a:ext cx="10149840" cy="914400"/>
          </a:xfrm>
          <a:prstGeom prst="roundRect">
            <a:avLst>
              <a:gd name="adj" fmla="val 8000"/>
            </a:avLst>
          </a:prstGeom>
          <a:solidFill>
            <a:srgbClr val="EDE9FE"/>
          </a:solidFill>
          <a:ln w="12700">
            <a:solidFill>
              <a:srgbClr val="E8E2DE"/>
            </a:solidFill>
            <a:prstDash val="solid"/>
          </a:ln>
        </p:spPr>
      </p:sp>
      <p:sp>
        <p:nvSpPr>
          <p:cNvPr id="12" name="Text 10"/>
          <p:cNvSpPr/>
          <p:nvPr/>
        </p:nvSpPr>
        <p:spPr>
          <a:xfrm>
            <a:off x="1325880" y="2926080"/>
            <a:ext cx="4206240" cy="228600"/>
          </a:xfrm>
          <a:prstGeom prst="rect">
            <a:avLst/>
          </a:prstGeom>
          <a:noFill/>
          <a:ln/>
        </p:spPr>
        <p:txBody>
          <a:bodyPr wrap="square" lIns="0" tIns="0" rIns="0" bIns="0" rtlCol="0" anchor="ctr">
            <a:normAutofit/>
          </a:bodyPr>
          <a:lstStyle/>
          <a:p>
            <a:pPr marL="0" indent="0">
              <a:buNone/>
            </a:pPr>
            <a:r>
              <a:rPr lang="en-US" sz="1500" b="1" dirty="0">
                <a:solidFill>
                  <a:srgbClr val="7C3AED"/>
                </a:solidFill>
              </a:rPr>
              <a:t>How do I stand out?</a:t>
            </a:r>
            <a:endParaRPr lang="en-US" sz="1500" dirty="0"/>
          </a:p>
        </p:txBody>
      </p:sp>
      <p:sp>
        <p:nvSpPr>
          <p:cNvPr id="13" name="Text 11"/>
          <p:cNvSpPr/>
          <p:nvPr/>
        </p:nvSpPr>
        <p:spPr>
          <a:xfrm>
            <a:off x="5532120" y="2971800"/>
            <a:ext cx="4937760" cy="228600"/>
          </a:xfrm>
          <a:prstGeom prst="rect">
            <a:avLst/>
          </a:prstGeom>
          <a:noFill/>
          <a:ln/>
        </p:spPr>
        <p:txBody>
          <a:bodyPr wrap="square" lIns="0" tIns="0" rIns="0" bIns="0" rtlCol="0" anchor="ctr">
            <a:normAutofit/>
          </a:bodyPr>
          <a:lstStyle/>
          <a:p>
            <a:pPr marL="0" indent="0">
              <a:buNone/>
            </a:pPr>
            <a:r>
              <a:rPr lang="en-US" sz="1030" dirty="0">
                <a:solidFill>
                  <a:srgbClr val="5B6472"/>
                </a:solidFill>
              </a:rPr>
              <a:t>CV, LinkedIn, GitHub, projects, and personal brand.</a:t>
            </a:r>
            <a:endParaRPr lang="en-US" sz="1030" dirty="0"/>
          </a:p>
        </p:txBody>
      </p:sp>
      <p:sp>
        <p:nvSpPr>
          <p:cNvPr id="14" name="Shape 12"/>
          <p:cNvSpPr/>
          <p:nvPr/>
        </p:nvSpPr>
        <p:spPr>
          <a:xfrm>
            <a:off x="1005840" y="3886200"/>
            <a:ext cx="10149840" cy="914400"/>
          </a:xfrm>
          <a:prstGeom prst="roundRect">
            <a:avLst>
              <a:gd name="adj" fmla="val 8000"/>
            </a:avLst>
          </a:prstGeom>
          <a:solidFill>
            <a:srgbClr val="D1FAE5"/>
          </a:solidFill>
          <a:ln w="12700">
            <a:solidFill>
              <a:srgbClr val="E8E2DE"/>
            </a:solidFill>
            <a:prstDash val="solid"/>
          </a:ln>
        </p:spPr>
      </p:sp>
      <p:sp>
        <p:nvSpPr>
          <p:cNvPr id="15" name="Text 13"/>
          <p:cNvSpPr/>
          <p:nvPr/>
        </p:nvSpPr>
        <p:spPr>
          <a:xfrm>
            <a:off x="1325880" y="4069080"/>
            <a:ext cx="4206240" cy="228600"/>
          </a:xfrm>
          <a:prstGeom prst="rect">
            <a:avLst/>
          </a:prstGeom>
          <a:noFill/>
          <a:ln/>
        </p:spPr>
        <p:txBody>
          <a:bodyPr wrap="square" lIns="0" tIns="0" rIns="0" bIns="0" rtlCol="0" anchor="ctr">
            <a:normAutofit/>
          </a:bodyPr>
          <a:lstStyle/>
          <a:p>
            <a:pPr marL="0" indent="0">
              <a:buNone/>
            </a:pPr>
            <a:r>
              <a:rPr lang="en-US" sz="1500" b="1" dirty="0">
                <a:solidFill>
                  <a:srgbClr val="10B981"/>
                </a:solidFill>
              </a:rPr>
              <a:t>What should I focus on in tech?</a:t>
            </a:r>
            <a:endParaRPr lang="en-US" sz="1500" dirty="0"/>
          </a:p>
        </p:txBody>
      </p:sp>
      <p:sp>
        <p:nvSpPr>
          <p:cNvPr id="16" name="Text 14"/>
          <p:cNvSpPr/>
          <p:nvPr/>
        </p:nvSpPr>
        <p:spPr>
          <a:xfrm>
            <a:off x="5532120" y="4114800"/>
            <a:ext cx="4937760" cy="228600"/>
          </a:xfrm>
          <a:prstGeom prst="rect">
            <a:avLst/>
          </a:prstGeom>
          <a:noFill/>
          <a:ln/>
        </p:spPr>
        <p:txBody>
          <a:bodyPr wrap="square" lIns="0" tIns="0" rIns="0" bIns="0" rtlCol="0" anchor="ctr">
            <a:normAutofit/>
          </a:bodyPr>
          <a:lstStyle/>
          <a:p>
            <a:pPr marL="0" indent="0">
              <a:buNone/>
            </a:pPr>
            <a:r>
              <a:rPr lang="en-US" sz="1030" dirty="0">
                <a:solidFill>
                  <a:srgbClr val="5B6472"/>
                </a:solidFill>
              </a:rPr>
              <a:t>Career lanes, market signals, AI, FDE, cybersecurity, and practical skills.</a:t>
            </a:r>
            <a:endParaRPr lang="en-US" sz="1030" dirty="0"/>
          </a:p>
        </p:txBody>
      </p:sp>
      <p:sp>
        <p:nvSpPr>
          <p:cNvPr id="18" name="Text 15"/>
          <p:cNvSpPr/>
          <p:nvPr/>
        </p:nvSpPr>
        <p:spPr>
          <a:xfrm>
            <a:off x="411480" y="6510528"/>
            <a:ext cx="6400800" cy="164592"/>
          </a:xfrm>
          <a:prstGeom prst="rect">
            <a:avLst/>
          </a:prstGeom>
          <a:noFill/>
          <a:ln/>
        </p:spPr>
        <p:txBody>
          <a:bodyPr wrap="square" lIns="0" tIns="0" rIns="0" bIns="0" rtlCol="0" anchor="ctr"/>
          <a:lstStyle/>
          <a:p>
            <a:pPr marL="0" indent="0">
              <a:buNone/>
            </a:pPr>
            <a:r>
              <a:rPr lang="en-US" sz="600" dirty="0">
                <a:solidFill>
                  <a:srgbClr val="7C7C7C"/>
                </a:solidFill>
                <a:latin typeface="Aptos" pitchFamily="34" charset="0"/>
                <a:ea typeface="Aptos" pitchFamily="34" charset="-122"/>
                <a:cs typeface="Aptos" pitchFamily="34" charset="-120"/>
              </a:rPr>
              <a:t>What's Next After Graduation?  |  Farah Kerbaj</a:t>
            </a:r>
            <a:endParaRPr lang="en-US" sz="600" dirty="0"/>
          </a:p>
        </p:txBody>
      </p:sp>
      <p:sp>
        <p:nvSpPr>
          <p:cNvPr id="19" name="Text 16"/>
          <p:cNvSpPr/>
          <p:nvPr/>
        </p:nvSpPr>
        <p:spPr>
          <a:xfrm>
            <a:off x="11430000" y="6473952"/>
            <a:ext cx="320040" cy="182880"/>
          </a:xfrm>
          <a:prstGeom prst="rect">
            <a:avLst/>
          </a:prstGeom>
          <a:noFill/>
          <a:ln/>
        </p:spPr>
        <p:txBody>
          <a:bodyPr wrap="square" lIns="0" tIns="0" rIns="0" bIns="0" rtlCol="0" anchor="ctr"/>
          <a:lstStyle/>
          <a:p>
            <a:pPr marL="0" indent="0" algn="r">
              <a:buNone/>
            </a:pPr>
            <a:r>
              <a:rPr lang="en-US" sz="700" dirty="0">
                <a:solidFill>
                  <a:srgbClr val="7C7C7C"/>
                </a:solidFill>
              </a:rPr>
              <a:t>5</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F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F2"/>
          </a:solidFill>
          <a:ln w="12700">
            <a:solidFill>
              <a:srgbClr val="F7F4F2">
                <a:alpha val="0"/>
              </a:srgbClr>
            </a:solidFill>
            <a:prstDash val="solid"/>
          </a:ln>
        </p:spPr>
      </p:sp>
      <p:sp>
        <p:nvSpPr>
          <p:cNvPr id="3" name="Shape 1"/>
          <p:cNvSpPr/>
          <p:nvPr/>
        </p:nvSpPr>
        <p:spPr>
          <a:xfrm>
            <a:off x="0" y="0"/>
            <a:ext cx="12191695" cy="73152"/>
          </a:xfrm>
          <a:prstGeom prst="rect">
            <a:avLst/>
          </a:prstGeom>
          <a:solidFill>
            <a:srgbClr val="FF6B4A"/>
          </a:solidFill>
          <a:ln w="12700">
            <a:solidFill>
              <a:srgbClr val="FF6B4A"/>
            </a:solidFill>
            <a:prstDash val="solid"/>
          </a:ln>
        </p:spPr>
      </p:sp>
      <p:sp>
        <p:nvSpPr>
          <p:cNvPr id="4" name="Text 2"/>
          <p:cNvSpPr/>
          <p:nvPr/>
        </p:nvSpPr>
        <p:spPr>
          <a:xfrm>
            <a:off x="667512" y="274320"/>
            <a:ext cx="7315200" cy="201168"/>
          </a:xfrm>
          <a:prstGeom prst="rect">
            <a:avLst/>
          </a:prstGeom>
          <a:noFill/>
          <a:ln/>
        </p:spPr>
        <p:txBody>
          <a:bodyPr wrap="square" lIns="0" tIns="0" rIns="0" bIns="0" rtlCol="0" anchor="ctr"/>
          <a:lstStyle/>
          <a:p>
            <a:pPr marL="0" indent="0">
              <a:buNone/>
            </a:pPr>
            <a:r>
              <a:rPr lang="en-US" sz="750" b="1" dirty="0">
                <a:solidFill>
                  <a:srgbClr val="FF6B4A"/>
                </a:solidFill>
              </a:rPr>
              <a:t>REALITY CHECK</a:t>
            </a:r>
            <a:endParaRPr lang="en-US" sz="750" dirty="0"/>
          </a:p>
        </p:txBody>
      </p:sp>
      <p:sp>
        <p:nvSpPr>
          <p:cNvPr id="5" name="Text 3"/>
          <p:cNvSpPr/>
          <p:nvPr/>
        </p:nvSpPr>
        <p:spPr>
          <a:xfrm>
            <a:off x="640080" y="502920"/>
            <a:ext cx="10881360" cy="438912"/>
          </a:xfrm>
          <a:prstGeom prst="rect">
            <a:avLst/>
          </a:prstGeom>
          <a:noFill/>
          <a:ln/>
        </p:spPr>
        <p:txBody>
          <a:bodyPr wrap="square" lIns="0" tIns="0" rIns="0" bIns="0" rtlCol="0" anchor="ctr">
            <a:normAutofit/>
          </a:bodyPr>
          <a:lstStyle/>
          <a:p>
            <a:pPr marL="0" indent="0">
              <a:buNone/>
            </a:pPr>
            <a:r>
              <a:rPr lang="en-US" sz="2500" b="1" dirty="0">
                <a:solidFill>
                  <a:srgbClr val="111827"/>
                </a:solidFill>
                <a:latin typeface="Aptos Display" pitchFamily="34" charset="0"/>
                <a:ea typeface="Aptos Display" pitchFamily="34" charset="-122"/>
                <a:cs typeface="Aptos Display" pitchFamily="34" charset="-120"/>
              </a:rPr>
              <a:t>Graduation Is Not a Hiring Strategy</a:t>
            </a:r>
            <a:endParaRPr lang="en-US" sz="2500" dirty="0"/>
          </a:p>
        </p:txBody>
      </p:sp>
      <p:sp>
        <p:nvSpPr>
          <p:cNvPr id="6" name="Text 4"/>
          <p:cNvSpPr/>
          <p:nvPr/>
        </p:nvSpPr>
        <p:spPr>
          <a:xfrm>
            <a:off x="667512" y="987552"/>
            <a:ext cx="10424160" cy="256032"/>
          </a:xfrm>
          <a:prstGeom prst="rect">
            <a:avLst/>
          </a:prstGeom>
          <a:noFill/>
          <a:ln/>
        </p:spPr>
        <p:txBody>
          <a:bodyPr wrap="square" lIns="0" tIns="0" rIns="0" bIns="0" rtlCol="0" anchor="ctr"/>
          <a:lstStyle/>
          <a:p>
            <a:pPr marL="0" indent="0">
              <a:buNone/>
            </a:pPr>
            <a:r>
              <a:rPr lang="en-US" sz="950" dirty="0">
                <a:solidFill>
                  <a:srgbClr val="5B6472"/>
                </a:solidFill>
              </a:rPr>
              <a:t>A degree opens the door — evidence gets you invited in</a:t>
            </a:r>
            <a:endParaRPr lang="en-US" sz="950" dirty="0"/>
          </a:p>
        </p:txBody>
      </p:sp>
      <p:sp>
        <p:nvSpPr>
          <p:cNvPr id="7" name="Shape 5"/>
          <p:cNvSpPr/>
          <p:nvPr/>
        </p:nvSpPr>
        <p:spPr>
          <a:xfrm>
            <a:off x="640080" y="1325880"/>
            <a:ext cx="10881360" cy="0"/>
          </a:xfrm>
          <a:prstGeom prst="line">
            <a:avLst/>
          </a:prstGeom>
          <a:noFill/>
          <a:ln w="12700">
            <a:solidFill>
              <a:srgbClr val="D6D3D1"/>
            </a:solidFill>
            <a:prstDash val="solid"/>
          </a:ln>
        </p:spPr>
      </p:sp>
      <p:sp>
        <p:nvSpPr>
          <p:cNvPr id="8" name="Shape 6"/>
          <p:cNvSpPr/>
          <p:nvPr/>
        </p:nvSpPr>
        <p:spPr>
          <a:xfrm>
            <a:off x="777240" y="1600200"/>
            <a:ext cx="5166360" cy="4023360"/>
          </a:xfrm>
          <a:prstGeom prst="roundRect">
            <a:avLst>
              <a:gd name="adj" fmla="val 1818"/>
            </a:avLst>
          </a:prstGeom>
          <a:solidFill>
            <a:srgbClr val="FEE2E2"/>
          </a:solidFill>
          <a:ln w="12700">
            <a:solidFill>
              <a:srgbClr val="E8E2DE"/>
            </a:solidFill>
            <a:prstDash val="solid"/>
          </a:ln>
        </p:spPr>
      </p:sp>
      <p:sp>
        <p:nvSpPr>
          <p:cNvPr id="9" name="Shape 7"/>
          <p:cNvSpPr/>
          <p:nvPr/>
        </p:nvSpPr>
        <p:spPr>
          <a:xfrm>
            <a:off x="6263640" y="1600200"/>
            <a:ext cx="5166360" cy="4023360"/>
          </a:xfrm>
          <a:prstGeom prst="roundRect">
            <a:avLst>
              <a:gd name="adj" fmla="val 1818"/>
            </a:avLst>
          </a:prstGeom>
          <a:solidFill>
            <a:srgbClr val="D1FAE5"/>
          </a:solidFill>
          <a:ln w="12700">
            <a:solidFill>
              <a:srgbClr val="E8E2DE"/>
            </a:solidFill>
            <a:prstDash val="solid"/>
          </a:ln>
        </p:spPr>
      </p:sp>
      <p:sp>
        <p:nvSpPr>
          <p:cNvPr id="10" name="Text 8"/>
          <p:cNvSpPr/>
          <p:nvPr/>
        </p:nvSpPr>
        <p:spPr>
          <a:xfrm>
            <a:off x="1051560" y="1874520"/>
            <a:ext cx="4389120" cy="219456"/>
          </a:xfrm>
          <a:prstGeom prst="rect">
            <a:avLst/>
          </a:prstGeom>
          <a:noFill/>
          <a:ln/>
        </p:spPr>
        <p:txBody>
          <a:bodyPr wrap="square" lIns="0" tIns="0" rIns="0" bIns="0" rtlCol="0" anchor="ctr"/>
          <a:lstStyle/>
          <a:p>
            <a:pPr marL="0" indent="0">
              <a:buNone/>
            </a:pPr>
            <a:r>
              <a:rPr lang="en-US" sz="1000" b="1" dirty="0">
                <a:solidFill>
                  <a:srgbClr val="FF6B4A"/>
                </a:solidFill>
              </a:rPr>
              <a:t>WHAT KEEPS YOU STUCK</a:t>
            </a:r>
            <a:endParaRPr lang="en-US" sz="1000" dirty="0"/>
          </a:p>
        </p:txBody>
      </p:sp>
      <p:sp>
        <p:nvSpPr>
          <p:cNvPr id="11" name="Text 9"/>
          <p:cNvSpPr/>
          <p:nvPr/>
        </p:nvSpPr>
        <p:spPr>
          <a:xfrm>
            <a:off x="6537960" y="1874520"/>
            <a:ext cx="4389120" cy="219456"/>
          </a:xfrm>
          <a:prstGeom prst="rect">
            <a:avLst/>
          </a:prstGeom>
          <a:noFill/>
          <a:ln/>
        </p:spPr>
        <p:txBody>
          <a:bodyPr wrap="square" lIns="0" tIns="0" rIns="0" bIns="0" rtlCol="0" anchor="ctr"/>
          <a:lstStyle/>
          <a:p>
            <a:pPr marL="0" indent="0">
              <a:buNone/>
            </a:pPr>
            <a:r>
              <a:rPr lang="en-US" sz="1000" b="1" dirty="0">
                <a:solidFill>
                  <a:srgbClr val="10B981"/>
                </a:solidFill>
              </a:rPr>
              <a:t>WHAT MOVES YOU FORWARD</a:t>
            </a:r>
            <a:endParaRPr lang="en-US" sz="1000" dirty="0"/>
          </a:p>
        </p:txBody>
      </p:sp>
      <p:sp>
        <p:nvSpPr>
          <p:cNvPr id="12" name="Text 10"/>
          <p:cNvSpPr/>
          <p:nvPr/>
        </p:nvSpPr>
        <p:spPr>
          <a:xfrm>
            <a:off x="1078992" y="2331720"/>
            <a:ext cx="137160" cy="164592"/>
          </a:xfrm>
          <a:prstGeom prst="rect">
            <a:avLst/>
          </a:prstGeom>
          <a:noFill/>
          <a:ln/>
        </p:spPr>
        <p:txBody>
          <a:bodyPr wrap="square" lIns="0" tIns="0" rIns="0" bIns="0" rtlCol="0" anchor="ctr"/>
          <a:lstStyle/>
          <a:p>
            <a:pPr marL="0" indent="0">
              <a:buNone/>
            </a:pPr>
            <a:r>
              <a:rPr lang="en-US" sz="1000" dirty="0">
                <a:solidFill>
                  <a:srgbClr val="FF6B4A"/>
                </a:solidFill>
              </a:rPr>
              <a:t>•</a:t>
            </a:r>
            <a:endParaRPr lang="en-US" sz="1000" dirty="0"/>
          </a:p>
        </p:txBody>
      </p:sp>
      <p:sp>
        <p:nvSpPr>
          <p:cNvPr id="13" name="Text 11"/>
          <p:cNvSpPr/>
          <p:nvPr/>
        </p:nvSpPr>
        <p:spPr>
          <a:xfrm>
            <a:off x="1280160" y="2340864"/>
            <a:ext cx="4233672" cy="201168"/>
          </a:xfrm>
          <a:prstGeom prst="rect">
            <a:avLst/>
          </a:prstGeom>
          <a:noFill/>
          <a:ln/>
        </p:spPr>
        <p:txBody>
          <a:bodyPr wrap="square" lIns="0" tIns="0" rIns="0" bIns="0" rtlCol="0" anchor="ctr">
            <a:normAutofit/>
          </a:bodyPr>
          <a:lstStyle/>
          <a:p>
            <a:pPr marL="0" indent="0">
              <a:buNone/>
            </a:pPr>
            <a:r>
              <a:rPr lang="en-US" sz="920" dirty="0">
                <a:solidFill>
                  <a:srgbClr val="111827"/>
                </a:solidFill>
              </a:rPr>
              <a:t>Apply “hoping” instead of applying strategically</a:t>
            </a:r>
            <a:endParaRPr lang="en-US" sz="920" dirty="0"/>
          </a:p>
        </p:txBody>
      </p:sp>
      <p:sp>
        <p:nvSpPr>
          <p:cNvPr id="14" name="Text 12"/>
          <p:cNvSpPr/>
          <p:nvPr/>
        </p:nvSpPr>
        <p:spPr>
          <a:xfrm>
            <a:off x="1078992" y="2825496"/>
            <a:ext cx="137160" cy="164592"/>
          </a:xfrm>
          <a:prstGeom prst="rect">
            <a:avLst/>
          </a:prstGeom>
          <a:noFill/>
          <a:ln/>
        </p:spPr>
        <p:txBody>
          <a:bodyPr wrap="square" lIns="0" tIns="0" rIns="0" bIns="0" rtlCol="0" anchor="ctr"/>
          <a:lstStyle/>
          <a:p>
            <a:pPr marL="0" indent="0">
              <a:buNone/>
            </a:pPr>
            <a:r>
              <a:rPr lang="en-US" sz="1000" dirty="0">
                <a:solidFill>
                  <a:srgbClr val="FF6B4A"/>
                </a:solidFill>
              </a:rPr>
              <a:t>•</a:t>
            </a:r>
            <a:endParaRPr lang="en-US" sz="1000" dirty="0"/>
          </a:p>
        </p:txBody>
      </p:sp>
      <p:sp>
        <p:nvSpPr>
          <p:cNvPr id="15" name="Text 13"/>
          <p:cNvSpPr/>
          <p:nvPr/>
        </p:nvSpPr>
        <p:spPr>
          <a:xfrm>
            <a:off x="1280160" y="2834640"/>
            <a:ext cx="4233672" cy="201168"/>
          </a:xfrm>
          <a:prstGeom prst="rect">
            <a:avLst/>
          </a:prstGeom>
          <a:noFill/>
          <a:ln/>
        </p:spPr>
        <p:txBody>
          <a:bodyPr wrap="square" lIns="0" tIns="0" rIns="0" bIns="0" rtlCol="0" anchor="ctr">
            <a:normAutofit/>
          </a:bodyPr>
          <a:lstStyle/>
          <a:p>
            <a:pPr marL="0" indent="0">
              <a:buNone/>
            </a:pPr>
            <a:r>
              <a:rPr lang="en-US" sz="920" dirty="0">
                <a:solidFill>
                  <a:srgbClr val="111827"/>
                </a:solidFill>
              </a:rPr>
              <a:t>Have experience but present it weakly</a:t>
            </a:r>
            <a:endParaRPr lang="en-US" sz="920" dirty="0"/>
          </a:p>
        </p:txBody>
      </p:sp>
      <p:sp>
        <p:nvSpPr>
          <p:cNvPr id="16" name="Text 14"/>
          <p:cNvSpPr/>
          <p:nvPr/>
        </p:nvSpPr>
        <p:spPr>
          <a:xfrm>
            <a:off x="1078992" y="3319272"/>
            <a:ext cx="137160" cy="164592"/>
          </a:xfrm>
          <a:prstGeom prst="rect">
            <a:avLst/>
          </a:prstGeom>
          <a:noFill/>
          <a:ln/>
        </p:spPr>
        <p:txBody>
          <a:bodyPr wrap="square" lIns="0" tIns="0" rIns="0" bIns="0" rtlCol="0" anchor="ctr"/>
          <a:lstStyle/>
          <a:p>
            <a:pPr marL="0" indent="0">
              <a:buNone/>
            </a:pPr>
            <a:r>
              <a:rPr lang="en-US" sz="1000" dirty="0">
                <a:solidFill>
                  <a:srgbClr val="FF6B4A"/>
                </a:solidFill>
              </a:rPr>
              <a:t>•</a:t>
            </a:r>
            <a:endParaRPr lang="en-US" sz="1000" dirty="0"/>
          </a:p>
        </p:txBody>
      </p:sp>
      <p:sp>
        <p:nvSpPr>
          <p:cNvPr id="17" name="Text 15"/>
          <p:cNvSpPr/>
          <p:nvPr/>
        </p:nvSpPr>
        <p:spPr>
          <a:xfrm>
            <a:off x="1280160" y="3328416"/>
            <a:ext cx="4233672" cy="201168"/>
          </a:xfrm>
          <a:prstGeom prst="rect">
            <a:avLst/>
          </a:prstGeom>
          <a:noFill/>
          <a:ln/>
        </p:spPr>
        <p:txBody>
          <a:bodyPr wrap="square" lIns="0" tIns="0" rIns="0" bIns="0" rtlCol="0" anchor="ctr">
            <a:normAutofit/>
          </a:bodyPr>
          <a:lstStyle/>
          <a:p>
            <a:pPr marL="0" indent="0">
              <a:buNone/>
            </a:pPr>
            <a:r>
              <a:rPr lang="en-US" sz="920" dirty="0">
                <a:solidFill>
                  <a:srgbClr val="111827"/>
                </a:solidFill>
              </a:rPr>
              <a:t>Use one CV for every role</a:t>
            </a:r>
            <a:endParaRPr lang="en-US" sz="920" dirty="0"/>
          </a:p>
        </p:txBody>
      </p:sp>
      <p:sp>
        <p:nvSpPr>
          <p:cNvPr id="18" name="Text 16"/>
          <p:cNvSpPr/>
          <p:nvPr/>
        </p:nvSpPr>
        <p:spPr>
          <a:xfrm>
            <a:off x="1078992" y="3813048"/>
            <a:ext cx="137160" cy="164592"/>
          </a:xfrm>
          <a:prstGeom prst="rect">
            <a:avLst/>
          </a:prstGeom>
          <a:noFill/>
          <a:ln/>
        </p:spPr>
        <p:txBody>
          <a:bodyPr wrap="square" lIns="0" tIns="0" rIns="0" bIns="0" rtlCol="0" anchor="ctr"/>
          <a:lstStyle/>
          <a:p>
            <a:pPr marL="0" indent="0">
              <a:buNone/>
            </a:pPr>
            <a:r>
              <a:rPr lang="en-US" sz="1000" dirty="0">
                <a:solidFill>
                  <a:srgbClr val="FF6B4A"/>
                </a:solidFill>
              </a:rPr>
              <a:t>•</a:t>
            </a:r>
            <a:endParaRPr lang="en-US" sz="1000" dirty="0"/>
          </a:p>
        </p:txBody>
      </p:sp>
      <p:sp>
        <p:nvSpPr>
          <p:cNvPr id="19" name="Text 17"/>
          <p:cNvSpPr/>
          <p:nvPr/>
        </p:nvSpPr>
        <p:spPr>
          <a:xfrm>
            <a:off x="1280160" y="3822192"/>
            <a:ext cx="4233672" cy="201168"/>
          </a:xfrm>
          <a:prstGeom prst="rect">
            <a:avLst/>
          </a:prstGeom>
          <a:noFill/>
          <a:ln/>
        </p:spPr>
        <p:txBody>
          <a:bodyPr wrap="square" lIns="0" tIns="0" rIns="0" bIns="0" rtlCol="0" anchor="ctr">
            <a:normAutofit/>
          </a:bodyPr>
          <a:lstStyle/>
          <a:p>
            <a:pPr marL="0" indent="0">
              <a:buNone/>
            </a:pPr>
            <a:r>
              <a:rPr lang="en-US" sz="920" dirty="0">
                <a:solidFill>
                  <a:srgbClr val="111827"/>
                </a:solidFill>
              </a:rPr>
              <a:t>Leave LinkedIn empty or generic</a:t>
            </a:r>
            <a:endParaRPr lang="en-US" sz="920" dirty="0"/>
          </a:p>
        </p:txBody>
      </p:sp>
      <p:sp>
        <p:nvSpPr>
          <p:cNvPr id="20" name="Text 18"/>
          <p:cNvSpPr/>
          <p:nvPr/>
        </p:nvSpPr>
        <p:spPr>
          <a:xfrm>
            <a:off x="1078992" y="4306824"/>
            <a:ext cx="137160" cy="164592"/>
          </a:xfrm>
          <a:prstGeom prst="rect">
            <a:avLst/>
          </a:prstGeom>
          <a:noFill/>
          <a:ln/>
        </p:spPr>
        <p:txBody>
          <a:bodyPr wrap="square" lIns="0" tIns="0" rIns="0" bIns="0" rtlCol="0" anchor="ctr"/>
          <a:lstStyle/>
          <a:p>
            <a:pPr marL="0" indent="0">
              <a:buNone/>
            </a:pPr>
            <a:r>
              <a:rPr lang="en-US" sz="1000" dirty="0">
                <a:solidFill>
                  <a:srgbClr val="FF6B4A"/>
                </a:solidFill>
              </a:rPr>
              <a:t>•</a:t>
            </a:r>
            <a:endParaRPr lang="en-US" sz="1000" dirty="0"/>
          </a:p>
        </p:txBody>
      </p:sp>
      <p:sp>
        <p:nvSpPr>
          <p:cNvPr id="21" name="Text 19"/>
          <p:cNvSpPr/>
          <p:nvPr/>
        </p:nvSpPr>
        <p:spPr>
          <a:xfrm>
            <a:off x="1280160" y="4315968"/>
            <a:ext cx="4233672" cy="201168"/>
          </a:xfrm>
          <a:prstGeom prst="rect">
            <a:avLst/>
          </a:prstGeom>
          <a:noFill/>
          <a:ln/>
        </p:spPr>
        <p:txBody>
          <a:bodyPr wrap="square" lIns="0" tIns="0" rIns="0" bIns="0" rtlCol="0" anchor="ctr">
            <a:normAutofit/>
          </a:bodyPr>
          <a:lstStyle/>
          <a:p>
            <a:pPr marL="0" indent="0">
              <a:buNone/>
            </a:pPr>
            <a:r>
              <a:rPr lang="en-US" sz="920" dirty="0">
                <a:solidFill>
                  <a:srgbClr val="111827"/>
                </a:solidFill>
              </a:rPr>
              <a:t>Wait until graduation to start building proof</a:t>
            </a:r>
            <a:endParaRPr lang="en-US" sz="920" dirty="0"/>
          </a:p>
        </p:txBody>
      </p:sp>
      <p:sp>
        <p:nvSpPr>
          <p:cNvPr id="22" name="Text 20"/>
          <p:cNvSpPr/>
          <p:nvPr/>
        </p:nvSpPr>
        <p:spPr>
          <a:xfrm>
            <a:off x="6565392" y="2331720"/>
            <a:ext cx="137160" cy="164592"/>
          </a:xfrm>
          <a:prstGeom prst="rect">
            <a:avLst/>
          </a:prstGeom>
          <a:noFill/>
          <a:ln/>
        </p:spPr>
        <p:txBody>
          <a:bodyPr wrap="square" lIns="0" tIns="0" rIns="0" bIns="0" rtlCol="0" anchor="ctr"/>
          <a:lstStyle/>
          <a:p>
            <a:pPr marL="0" indent="0">
              <a:buNone/>
            </a:pPr>
            <a:r>
              <a:rPr lang="en-US" sz="1000" dirty="0">
                <a:solidFill>
                  <a:srgbClr val="10B981"/>
                </a:solidFill>
              </a:rPr>
              <a:t>•</a:t>
            </a:r>
            <a:endParaRPr lang="en-US" sz="1000" dirty="0"/>
          </a:p>
        </p:txBody>
      </p:sp>
      <p:sp>
        <p:nvSpPr>
          <p:cNvPr id="23" name="Text 21"/>
          <p:cNvSpPr/>
          <p:nvPr/>
        </p:nvSpPr>
        <p:spPr>
          <a:xfrm>
            <a:off x="6766560" y="2340864"/>
            <a:ext cx="4279392" cy="201168"/>
          </a:xfrm>
          <a:prstGeom prst="rect">
            <a:avLst/>
          </a:prstGeom>
          <a:noFill/>
          <a:ln/>
        </p:spPr>
        <p:txBody>
          <a:bodyPr wrap="square" lIns="0" tIns="0" rIns="0" bIns="0" rtlCol="0" anchor="ctr">
            <a:normAutofit/>
          </a:bodyPr>
          <a:lstStyle/>
          <a:p>
            <a:pPr marL="0" indent="0">
              <a:buNone/>
            </a:pPr>
            <a:r>
              <a:rPr lang="en-US" sz="920" dirty="0">
                <a:solidFill>
                  <a:srgbClr val="111827"/>
                </a:solidFill>
              </a:rPr>
              <a:t>Target roles and build proof</a:t>
            </a:r>
            <a:endParaRPr lang="en-US" sz="920" dirty="0"/>
          </a:p>
        </p:txBody>
      </p:sp>
      <p:sp>
        <p:nvSpPr>
          <p:cNvPr id="24" name="Text 22"/>
          <p:cNvSpPr/>
          <p:nvPr/>
        </p:nvSpPr>
        <p:spPr>
          <a:xfrm>
            <a:off x="6565392" y="2825496"/>
            <a:ext cx="137160" cy="164592"/>
          </a:xfrm>
          <a:prstGeom prst="rect">
            <a:avLst/>
          </a:prstGeom>
          <a:noFill/>
          <a:ln/>
        </p:spPr>
        <p:txBody>
          <a:bodyPr wrap="square" lIns="0" tIns="0" rIns="0" bIns="0" rtlCol="0" anchor="ctr"/>
          <a:lstStyle/>
          <a:p>
            <a:pPr marL="0" indent="0">
              <a:buNone/>
            </a:pPr>
            <a:r>
              <a:rPr lang="en-US" sz="1000" dirty="0">
                <a:solidFill>
                  <a:srgbClr val="10B981"/>
                </a:solidFill>
              </a:rPr>
              <a:t>•</a:t>
            </a:r>
            <a:endParaRPr lang="en-US" sz="1000" dirty="0"/>
          </a:p>
        </p:txBody>
      </p:sp>
      <p:sp>
        <p:nvSpPr>
          <p:cNvPr id="25" name="Text 23"/>
          <p:cNvSpPr/>
          <p:nvPr/>
        </p:nvSpPr>
        <p:spPr>
          <a:xfrm>
            <a:off x="6766560" y="2834640"/>
            <a:ext cx="4279392" cy="201168"/>
          </a:xfrm>
          <a:prstGeom prst="rect">
            <a:avLst/>
          </a:prstGeom>
          <a:noFill/>
          <a:ln/>
        </p:spPr>
        <p:txBody>
          <a:bodyPr wrap="square" lIns="0" tIns="0" rIns="0" bIns="0" rtlCol="0" anchor="ctr">
            <a:normAutofit/>
          </a:bodyPr>
          <a:lstStyle/>
          <a:p>
            <a:pPr marL="0" indent="0">
              <a:buNone/>
            </a:pPr>
            <a:r>
              <a:rPr lang="en-US" sz="920" dirty="0">
                <a:solidFill>
                  <a:srgbClr val="111827"/>
                </a:solidFill>
              </a:rPr>
              <a:t>Translate duties into outcomes</a:t>
            </a:r>
            <a:endParaRPr lang="en-US" sz="920" dirty="0"/>
          </a:p>
        </p:txBody>
      </p:sp>
      <p:sp>
        <p:nvSpPr>
          <p:cNvPr id="26" name="Text 24"/>
          <p:cNvSpPr/>
          <p:nvPr/>
        </p:nvSpPr>
        <p:spPr>
          <a:xfrm>
            <a:off x="6565392" y="3319272"/>
            <a:ext cx="137160" cy="164592"/>
          </a:xfrm>
          <a:prstGeom prst="rect">
            <a:avLst/>
          </a:prstGeom>
          <a:noFill/>
          <a:ln/>
        </p:spPr>
        <p:txBody>
          <a:bodyPr wrap="square" lIns="0" tIns="0" rIns="0" bIns="0" rtlCol="0" anchor="ctr"/>
          <a:lstStyle/>
          <a:p>
            <a:pPr marL="0" indent="0">
              <a:buNone/>
            </a:pPr>
            <a:r>
              <a:rPr lang="en-US" sz="1000" dirty="0">
                <a:solidFill>
                  <a:srgbClr val="10B981"/>
                </a:solidFill>
              </a:rPr>
              <a:t>•</a:t>
            </a:r>
            <a:endParaRPr lang="en-US" sz="1000" dirty="0"/>
          </a:p>
        </p:txBody>
      </p:sp>
      <p:sp>
        <p:nvSpPr>
          <p:cNvPr id="27" name="Text 25"/>
          <p:cNvSpPr/>
          <p:nvPr/>
        </p:nvSpPr>
        <p:spPr>
          <a:xfrm>
            <a:off x="6766560" y="3328416"/>
            <a:ext cx="4279392" cy="201168"/>
          </a:xfrm>
          <a:prstGeom prst="rect">
            <a:avLst/>
          </a:prstGeom>
          <a:noFill/>
          <a:ln/>
        </p:spPr>
        <p:txBody>
          <a:bodyPr wrap="square" lIns="0" tIns="0" rIns="0" bIns="0" rtlCol="0" anchor="ctr">
            <a:normAutofit/>
          </a:bodyPr>
          <a:lstStyle/>
          <a:p>
            <a:pPr marL="0" indent="0">
              <a:buNone/>
            </a:pPr>
            <a:r>
              <a:rPr lang="en-US" sz="920" dirty="0">
                <a:solidFill>
                  <a:srgbClr val="111827"/>
                </a:solidFill>
              </a:rPr>
              <a:t>Match CV language to the job</a:t>
            </a:r>
            <a:endParaRPr lang="en-US" sz="920" dirty="0"/>
          </a:p>
        </p:txBody>
      </p:sp>
      <p:sp>
        <p:nvSpPr>
          <p:cNvPr id="28" name="Text 26"/>
          <p:cNvSpPr/>
          <p:nvPr/>
        </p:nvSpPr>
        <p:spPr>
          <a:xfrm>
            <a:off x="6565392" y="3813048"/>
            <a:ext cx="137160" cy="164592"/>
          </a:xfrm>
          <a:prstGeom prst="rect">
            <a:avLst/>
          </a:prstGeom>
          <a:noFill/>
          <a:ln/>
        </p:spPr>
        <p:txBody>
          <a:bodyPr wrap="square" lIns="0" tIns="0" rIns="0" bIns="0" rtlCol="0" anchor="ctr"/>
          <a:lstStyle/>
          <a:p>
            <a:pPr marL="0" indent="0">
              <a:buNone/>
            </a:pPr>
            <a:r>
              <a:rPr lang="en-US" sz="1000" dirty="0">
                <a:solidFill>
                  <a:srgbClr val="10B981"/>
                </a:solidFill>
              </a:rPr>
              <a:t>•</a:t>
            </a:r>
            <a:endParaRPr lang="en-US" sz="1000" dirty="0"/>
          </a:p>
        </p:txBody>
      </p:sp>
      <p:sp>
        <p:nvSpPr>
          <p:cNvPr id="29" name="Text 27"/>
          <p:cNvSpPr/>
          <p:nvPr/>
        </p:nvSpPr>
        <p:spPr>
          <a:xfrm>
            <a:off x="6766560" y="3822192"/>
            <a:ext cx="4279392" cy="201168"/>
          </a:xfrm>
          <a:prstGeom prst="rect">
            <a:avLst/>
          </a:prstGeom>
          <a:noFill/>
          <a:ln/>
        </p:spPr>
        <p:txBody>
          <a:bodyPr wrap="square" lIns="0" tIns="0" rIns="0" bIns="0" rtlCol="0" anchor="ctr">
            <a:normAutofit/>
          </a:bodyPr>
          <a:lstStyle/>
          <a:p>
            <a:pPr marL="0" indent="0">
              <a:buNone/>
            </a:pPr>
            <a:r>
              <a:rPr lang="en-US" sz="920" dirty="0">
                <a:solidFill>
                  <a:srgbClr val="111827"/>
                </a:solidFill>
              </a:rPr>
              <a:t>Use LinkedIn as a mini portfolio</a:t>
            </a:r>
            <a:endParaRPr lang="en-US" sz="920" dirty="0"/>
          </a:p>
        </p:txBody>
      </p:sp>
      <p:sp>
        <p:nvSpPr>
          <p:cNvPr id="30" name="Text 28"/>
          <p:cNvSpPr/>
          <p:nvPr/>
        </p:nvSpPr>
        <p:spPr>
          <a:xfrm>
            <a:off x="6565392" y="4306824"/>
            <a:ext cx="137160" cy="164592"/>
          </a:xfrm>
          <a:prstGeom prst="rect">
            <a:avLst/>
          </a:prstGeom>
          <a:noFill/>
          <a:ln/>
        </p:spPr>
        <p:txBody>
          <a:bodyPr wrap="square" lIns="0" tIns="0" rIns="0" bIns="0" rtlCol="0" anchor="ctr"/>
          <a:lstStyle/>
          <a:p>
            <a:pPr marL="0" indent="0">
              <a:buNone/>
            </a:pPr>
            <a:r>
              <a:rPr lang="en-US" sz="1000" dirty="0">
                <a:solidFill>
                  <a:srgbClr val="10B981"/>
                </a:solidFill>
              </a:rPr>
              <a:t>•</a:t>
            </a:r>
            <a:endParaRPr lang="en-US" sz="1000" dirty="0"/>
          </a:p>
        </p:txBody>
      </p:sp>
      <p:sp>
        <p:nvSpPr>
          <p:cNvPr id="31" name="Text 29"/>
          <p:cNvSpPr/>
          <p:nvPr/>
        </p:nvSpPr>
        <p:spPr>
          <a:xfrm>
            <a:off x="6766560" y="4315968"/>
            <a:ext cx="4279392" cy="201168"/>
          </a:xfrm>
          <a:prstGeom prst="rect">
            <a:avLst/>
          </a:prstGeom>
          <a:noFill/>
          <a:ln/>
        </p:spPr>
        <p:txBody>
          <a:bodyPr wrap="square" lIns="0" tIns="0" rIns="0" bIns="0" rtlCol="0" anchor="ctr">
            <a:normAutofit/>
          </a:bodyPr>
          <a:lstStyle/>
          <a:p>
            <a:pPr marL="0" indent="0">
              <a:buNone/>
            </a:pPr>
            <a:r>
              <a:rPr lang="en-US" sz="920" dirty="0">
                <a:solidFill>
                  <a:srgbClr val="111827"/>
                </a:solidFill>
              </a:rPr>
              <a:t>Start building projects and network early</a:t>
            </a:r>
            <a:endParaRPr lang="en-US" sz="920" dirty="0"/>
          </a:p>
        </p:txBody>
      </p:sp>
      <p:sp>
        <p:nvSpPr>
          <p:cNvPr id="33" name="Text 30"/>
          <p:cNvSpPr/>
          <p:nvPr/>
        </p:nvSpPr>
        <p:spPr>
          <a:xfrm>
            <a:off x="411480" y="6510528"/>
            <a:ext cx="6400800" cy="164592"/>
          </a:xfrm>
          <a:prstGeom prst="rect">
            <a:avLst/>
          </a:prstGeom>
          <a:noFill/>
          <a:ln/>
        </p:spPr>
        <p:txBody>
          <a:bodyPr wrap="square" lIns="0" tIns="0" rIns="0" bIns="0" rtlCol="0" anchor="ctr"/>
          <a:lstStyle/>
          <a:p>
            <a:pPr marL="0" indent="0">
              <a:buNone/>
            </a:pPr>
            <a:r>
              <a:rPr lang="en-US" sz="600" dirty="0">
                <a:solidFill>
                  <a:srgbClr val="7C7C7C"/>
                </a:solidFill>
                <a:latin typeface="Aptos" pitchFamily="34" charset="0"/>
                <a:ea typeface="Aptos" pitchFamily="34" charset="-122"/>
                <a:cs typeface="Aptos" pitchFamily="34" charset="-120"/>
              </a:rPr>
              <a:t>What's Next After Graduation?  |  Farah Kerbaj</a:t>
            </a:r>
            <a:endParaRPr lang="en-US" sz="600" dirty="0"/>
          </a:p>
        </p:txBody>
      </p:sp>
      <p:sp>
        <p:nvSpPr>
          <p:cNvPr id="34" name="Text 31"/>
          <p:cNvSpPr/>
          <p:nvPr/>
        </p:nvSpPr>
        <p:spPr>
          <a:xfrm>
            <a:off x="11430000" y="6473952"/>
            <a:ext cx="320040" cy="182880"/>
          </a:xfrm>
          <a:prstGeom prst="rect">
            <a:avLst/>
          </a:prstGeom>
          <a:noFill/>
          <a:ln/>
        </p:spPr>
        <p:txBody>
          <a:bodyPr wrap="square" lIns="0" tIns="0" rIns="0" bIns="0" rtlCol="0" anchor="ctr"/>
          <a:lstStyle/>
          <a:p>
            <a:pPr marL="0" indent="0" algn="r">
              <a:buNone/>
            </a:pPr>
            <a:r>
              <a:rPr lang="en-US" sz="700" dirty="0">
                <a:solidFill>
                  <a:srgbClr val="7C7C7C"/>
                </a:solidFill>
              </a:rPr>
              <a:t>6</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F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F2"/>
          </a:solidFill>
          <a:ln w="12700">
            <a:solidFill>
              <a:srgbClr val="F7F4F2">
                <a:alpha val="0"/>
              </a:srgbClr>
            </a:solidFill>
            <a:prstDash val="solid"/>
          </a:ln>
        </p:spPr>
      </p:sp>
      <p:sp>
        <p:nvSpPr>
          <p:cNvPr id="3" name="Shape 1"/>
          <p:cNvSpPr/>
          <p:nvPr/>
        </p:nvSpPr>
        <p:spPr>
          <a:xfrm>
            <a:off x="0" y="0"/>
            <a:ext cx="12191695" cy="73152"/>
          </a:xfrm>
          <a:prstGeom prst="rect">
            <a:avLst/>
          </a:prstGeom>
          <a:solidFill>
            <a:srgbClr val="10B981"/>
          </a:solidFill>
          <a:ln w="12700">
            <a:solidFill>
              <a:srgbClr val="10B981"/>
            </a:solidFill>
            <a:prstDash val="solid"/>
          </a:ln>
        </p:spPr>
      </p:sp>
      <p:sp>
        <p:nvSpPr>
          <p:cNvPr id="4" name="Text 2"/>
          <p:cNvSpPr/>
          <p:nvPr/>
        </p:nvSpPr>
        <p:spPr>
          <a:xfrm>
            <a:off x="667512" y="274320"/>
            <a:ext cx="7315200" cy="201168"/>
          </a:xfrm>
          <a:prstGeom prst="rect">
            <a:avLst/>
          </a:prstGeom>
          <a:noFill/>
          <a:ln/>
        </p:spPr>
        <p:txBody>
          <a:bodyPr wrap="square" lIns="0" tIns="0" rIns="0" bIns="0" rtlCol="0" anchor="ctr"/>
          <a:lstStyle/>
          <a:p>
            <a:pPr marL="0" indent="0">
              <a:buNone/>
            </a:pPr>
            <a:r>
              <a:rPr lang="en-US" sz="750" b="1" dirty="0">
                <a:solidFill>
                  <a:srgbClr val="10B981"/>
                </a:solidFill>
              </a:rPr>
              <a:t>THE TECH MARKET IS WIDER THAN YOU THINK</a:t>
            </a:r>
            <a:endParaRPr lang="en-US" sz="750" dirty="0"/>
          </a:p>
        </p:txBody>
      </p:sp>
      <p:sp>
        <p:nvSpPr>
          <p:cNvPr id="5" name="Text 3"/>
          <p:cNvSpPr/>
          <p:nvPr/>
        </p:nvSpPr>
        <p:spPr>
          <a:xfrm>
            <a:off x="640080" y="502920"/>
            <a:ext cx="10881360" cy="438912"/>
          </a:xfrm>
          <a:prstGeom prst="rect">
            <a:avLst/>
          </a:prstGeom>
          <a:noFill/>
          <a:ln/>
        </p:spPr>
        <p:txBody>
          <a:bodyPr wrap="square" lIns="0" tIns="0" rIns="0" bIns="0" rtlCol="0" anchor="ctr">
            <a:normAutofit/>
          </a:bodyPr>
          <a:lstStyle/>
          <a:p>
            <a:pPr marL="0" indent="0">
              <a:buNone/>
            </a:pPr>
            <a:r>
              <a:rPr lang="en-US" sz="2500" b="1" dirty="0">
                <a:solidFill>
                  <a:srgbClr val="111827"/>
                </a:solidFill>
                <a:latin typeface="Aptos Display" pitchFamily="34" charset="0"/>
                <a:ea typeface="Aptos Display" pitchFamily="34" charset="-122"/>
                <a:cs typeface="Aptos Display" pitchFamily="34" charset="-120"/>
              </a:rPr>
              <a:t>You Don’t Have to Fit One Box</a:t>
            </a:r>
            <a:endParaRPr lang="en-US" sz="2500" dirty="0"/>
          </a:p>
        </p:txBody>
      </p:sp>
      <p:sp>
        <p:nvSpPr>
          <p:cNvPr id="6" name="Text 4"/>
          <p:cNvSpPr/>
          <p:nvPr/>
        </p:nvSpPr>
        <p:spPr>
          <a:xfrm>
            <a:off x="667512" y="987552"/>
            <a:ext cx="10424160" cy="256032"/>
          </a:xfrm>
          <a:prstGeom prst="rect">
            <a:avLst/>
          </a:prstGeom>
          <a:noFill/>
          <a:ln/>
        </p:spPr>
        <p:txBody>
          <a:bodyPr wrap="square" lIns="0" tIns="0" rIns="0" bIns="0" rtlCol="0" anchor="ctr"/>
          <a:lstStyle/>
          <a:p>
            <a:pPr marL="0" indent="0">
              <a:buNone/>
            </a:pPr>
            <a:r>
              <a:rPr lang="en-US" sz="950" dirty="0">
                <a:solidFill>
                  <a:srgbClr val="5B6472"/>
                </a:solidFill>
              </a:rPr>
              <a:t>Tech careers are no longer only “sit and code all day”</a:t>
            </a:r>
            <a:endParaRPr lang="en-US" sz="950" dirty="0"/>
          </a:p>
        </p:txBody>
      </p:sp>
      <p:sp>
        <p:nvSpPr>
          <p:cNvPr id="7" name="Shape 5"/>
          <p:cNvSpPr/>
          <p:nvPr/>
        </p:nvSpPr>
        <p:spPr>
          <a:xfrm>
            <a:off x="640080" y="1325880"/>
            <a:ext cx="10881360" cy="0"/>
          </a:xfrm>
          <a:prstGeom prst="line">
            <a:avLst/>
          </a:prstGeom>
          <a:noFill/>
          <a:ln w="12700">
            <a:solidFill>
              <a:srgbClr val="D6D3D1"/>
            </a:solidFill>
            <a:prstDash val="solid"/>
          </a:ln>
        </p:spPr>
      </p:sp>
      <p:sp>
        <p:nvSpPr>
          <p:cNvPr id="8" name="Shape 6"/>
          <p:cNvSpPr/>
          <p:nvPr/>
        </p:nvSpPr>
        <p:spPr>
          <a:xfrm>
            <a:off x="777240" y="1627632"/>
            <a:ext cx="1600200" cy="347472"/>
          </a:xfrm>
          <a:prstGeom prst="roundRect">
            <a:avLst>
              <a:gd name="adj" fmla="val 21053"/>
            </a:avLst>
          </a:prstGeom>
          <a:solidFill>
            <a:srgbClr val="2563EB"/>
          </a:solidFill>
          <a:ln w="12700">
            <a:solidFill>
              <a:srgbClr val="2563EB">
                <a:alpha val="0"/>
              </a:srgbClr>
            </a:solidFill>
            <a:prstDash val="solid"/>
          </a:ln>
        </p:spPr>
      </p:sp>
      <p:sp>
        <p:nvSpPr>
          <p:cNvPr id="9" name="Text 7"/>
          <p:cNvSpPr/>
          <p:nvPr/>
        </p:nvSpPr>
        <p:spPr>
          <a:xfrm>
            <a:off x="886968" y="1719072"/>
            <a:ext cx="1380744" cy="155448"/>
          </a:xfrm>
          <a:prstGeom prst="rect">
            <a:avLst/>
          </a:prstGeom>
          <a:noFill/>
          <a:ln/>
        </p:spPr>
        <p:txBody>
          <a:bodyPr wrap="square" lIns="0" tIns="0" rIns="0" bIns="0" rtlCol="0" anchor="ctr">
            <a:normAutofit/>
          </a:bodyPr>
          <a:lstStyle/>
          <a:p>
            <a:pPr marL="0" indent="0" algn="ctr">
              <a:buNone/>
            </a:pPr>
            <a:r>
              <a:rPr lang="en-US" sz="750" b="1" dirty="0">
                <a:solidFill>
                  <a:srgbClr val="FFFFFF"/>
                </a:solidFill>
              </a:rPr>
              <a:t>Frontend</a:t>
            </a:r>
            <a:endParaRPr lang="en-US" sz="750" dirty="0"/>
          </a:p>
        </p:txBody>
      </p:sp>
      <p:sp>
        <p:nvSpPr>
          <p:cNvPr id="10" name="Shape 8"/>
          <p:cNvSpPr/>
          <p:nvPr/>
        </p:nvSpPr>
        <p:spPr>
          <a:xfrm>
            <a:off x="2560320" y="1627632"/>
            <a:ext cx="1600200" cy="347472"/>
          </a:xfrm>
          <a:prstGeom prst="roundRect">
            <a:avLst>
              <a:gd name="adj" fmla="val 21053"/>
            </a:avLst>
          </a:prstGeom>
          <a:solidFill>
            <a:srgbClr val="10B981"/>
          </a:solidFill>
          <a:ln w="12700">
            <a:solidFill>
              <a:srgbClr val="10B981">
                <a:alpha val="0"/>
              </a:srgbClr>
            </a:solidFill>
            <a:prstDash val="solid"/>
          </a:ln>
        </p:spPr>
      </p:sp>
      <p:sp>
        <p:nvSpPr>
          <p:cNvPr id="11" name="Text 9"/>
          <p:cNvSpPr/>
          <p:nvPr/>
        </p:nvSpPr>
        <p:spPr>
          <a:xfrm>
            <a:off x="2670048" y="1719072"/>
            <a:ext cx="1380744" cy="155448"/>
          </a:xfrm>
          <a:prstGeom prst="rect">
            <a:avLst/>
          </a:prstGeom>
          <a:noFill/>
          <a:ln/>
        </p:spPr>
        <p:txBody>
          <a:bodyPr wrap="square" lIns="0" tIns="0" rIns="0" bIns="0" rtlCol="0" anchor="ctr">
            <a:normAutofit/>
          </a:bodyPr>
          <a:lstStyle/>
          <a:p>
            <a:pPr marL="0" indent="0" algn="ctr">
              <a:buNone/>
            </a:pPr>
            <a:r>
              <a:rPr lang="en-US" sz="750" b="1" dirty="0">
                <a:solidFill>
                  <a:srgbClr val="FFFFFF"/>
                </a:solidFill>
              </a:rPr>
              <a:t>Backend</a:t>
            </a:r>
            <a:endParaRPr lang="en-US" sz="750" dirty="0"/>
          </a:p>
        </p:txBody>
      </p:sp>
      <p:sp>
        <p:nvSpPr>
          <p:cNvPr id="12" name="Shape 10"/>
          <p:cNvSpPr/>
          <p:nvPr/>
        </p:nvSpPr>
        <p:spPr>
          <a:xfrm>
            <a:off x="4343400" y="1627632"/>
            <a:ext cx="1600200" cy="347472"/>
          </a:xfrm>
          <a:prstGeom prst="roundRect">
            <a:avLst>
              <a:gd name="adj" fmla="val 21053"/>
            </a:avLst>
          </a:prstGeom>
          <a:solidFill>
            <a:srgbClr val="7C3AED"/>
          </a:solidFill>
          <a:ln w="12700">
            <a:solidFill>
              <a:srgbClr val="7C3AED">
                <a:alpha val="0"/>
              </a:srgbClr>
            </a:solidFill>
            <a:prstDash val="solid"/>
          </a:ln>
        </p:spPr>
      </p:sp>
      <p:sp>
        <p:nvSpPr>
          <p:cNvPr id="13" name="Text 11"/>
          <p:cNvSpPr/>
          <p:nvPr/>
        </p:nvSpPr>
        <p:spPr>
          <a:xfrm>
            <a:off x="4453128" y="1719072"/>
            <a:ext cx="1380744" cy="155448"/>
          </a:xfrm>
          <a:prstGeom prst="rect">
            <a:avLst/>
          </a:prstGeom>
          <a:noFill/>
          <a:ln/>
        </p:spPr>
        <p:txBody>
          <a:bodyPr wrap="square" lIns="0" tIns="0" rIns="0" bIns="0" rtlCol="0" anchor="ctr">
            <a:normAutofit/>
          </a:bodyPr>
          <a:lstStyle/>
          <a:p>
            <a:pPr marL="0" indent="0" algn="ctr">
              <a:buNone/>
            </a:pPr>
            <a:r>
              <a:rPr lang="en-US" sz="750" b="1" dirty="0">
                <a:solidFill>
                  <a:srgbClr val="FFFFFF"/>
                </a:solidFill>
              </a:rPr>
              <a:t>Full Stack</a:t>
            </a:r>
            <a:endParaRPr lang="en-US" sz="750" dirty="0"/>
          </a:p>
        </p:txBody>
      </p:sp>
      <p:sp>
        <p:nvSpPr>
          <p:cNvPr id="14" name="Shape 12"/>
          <p:cNvSpPr/>
          <p:nvPr/>
        </p:nvSpPr>
        <p:spPr>
          <a:xfrm>
            <a:off x="6126480" y="1627632"/>
            <a:ext cx="1600200" cy="347472"/>
          </a:xfrm>
          <a:prstGeom prst="roundRect">
            <a:avLst>
              <a:gd name="adj" fmla="val 21053"/>
            </a:avLst>
          </a:prstGeom>
          <a:solidFill>
            <a:srgbClr val="FF6B4A"/>
          </a:solidFill>
          <a:ln w="12700">
            <a:solidFill>
              <a:srgbClr val="FF6B4A">
                <a:alpha val="0"/>
              </a:srgbClr>
            </a:solidFill>
            <a:prstDash val="solid"/>
          </a:ln>
        </p:spPr>
      </p:sp>
      <p:sp>
        <p:nvSpPr>
          <p:cNvPr id="15" name="Text 13"/>
          <p:cNvSpPr/>
          <p:nvPr/>
        </p:nvSpPr>
        <p:spPr>
          <a:xfrm>
            <a:off x="6236208" y="1719072"/>
            <a:ext cx="1380744" cy="155448"/>
          </a:xfrm>
          <a:prstGeom prst="rect">
            <a:avLst/>
          </a:prstGeom>
          <a:noFill/>
          <a:ln/>
        </p:spPr>
        <p:txBody>
          <a:bodyPr wrap="square" lIns="0" tIns="0" rIns="0" bIns="0" rtlCol="0" anchor="ctr">
            <a:normAutofit/>
          </a:bodyPr>
          <a:lstStyle/>
          <a:p>
            <a:pPr marL="0" indent="0" algn="ctr">
              <a:buNone/>
            </a:pPr>
            <a:r>
              <a:rPr lang="en-US" sz="750" b="1" dirty="0">
                <a:solidFill>
                  <a:srgbClr val="FFFFFF"/>
                </a:solidFill>
              </a:rPr>
              <a:t>Data</a:t>
            </a:r>
            <a:endParaRPr lang="en-US" sz="750" dirty="0"/>
          </a:p>
        </p:txBody>
      </p:sp>
      <p:sp>
        <p:nvSpPr>
          <p:cNvPr id="16" name="Shape 14"/>
          <p:cNvSpPr/>
          <p:nvPr/>
        </p:nvSpPr>
        <p:spPr>
          <a:xfrm>
            <a:off x="7909560" y="1627632"/>
            <a:ext cx="1600200" cy="347472"/>
          </a:xfrm>
          <a:prstGeom prst="roundRect">
            <a:avLst>
              <a:gd name="adj" fmla="val 21053"/>
            </a:avLst>
          </a:prstGeom>
          <a:solidFill>
            <a:srgbClr val="F59E0B"/>
          </a:solidFill>
          <a:ln w="12700">
            <a:solidFill>
              <a:srgbClr val="F59E0B">
                <a:alpha val="0"/>
              </a:srgbClr>
            </a:solidFill>
            <a:prstDash val="solid"/>
          </a:ln>
        </p:spPr>
      </p:sp>
      <p:sp>
        <p:nvSpPr>
          <p:cNvPr id="17" name="Text 15"/>
          <p:cNvSpPr/>
          <p:nvPr/>
        </p:nvSpPr>
        <p:spPr>
          <a:xfrm>
            <a:off x="8019288" y="1719072"/>
            <a:ext cx="1380744" cy="155448"/>
          </a:xfrm>
          <a:prstGeom prst="rect">
            <a:avLst/>
          </a:prstGeom>
          <a:noFill/>
          <a:ln/>
        </p:spPr>
        <p:txBody>
          <a:bodyPr wrap="square" lIns="0" tIns="0" rIns="0" bIns="0" rtlCol="0" anchor="ctr">
            <a:normAutofit/>
          </a:bodyPr>
          <a:lstStyle/>
          <a:p>
            <a:pPr marL="0" indent="0" algn="ctr">
              <a:buNone/>
            </a:pPr>
            <a:r>
              <a:rPr lang="en-US" sz="750" b="1" dirty="0">
                <a:solidFill>
                  <a:srgbClr val="FFFFFF"/>
                </a:solidFill>
              </a:rPr>
              <a:t>AI / ML</a:t>
            </a:r>
            <a:endParaRPr lang="en-US" sz="750" dirty="0"/>
          </a:p>
        </p:txBody>
      </p:sp>
      <p:sp>
        <p:nvSpPr>
          <p:cNvPr id="18" name="Shape 16"/>
          <p:cNvSpPr/>
          <p:nvPr/>
        </p:nvSpPr>
        <p:spPr>
          <a:xfrm>
            <a:off x="9692640" y="1627632"/>
            <a:ext cx="1600200" cy="347472"/>
          </a:xfrm>
          <a:prstGeom prst="roundRect">
            <a:avLst>
              <a:gd name="adj" fmla="val 21053"/>
            </a:avLst>
          </a:prstGeom>
          <a:solidFill>
            <a:srgbClr val="2563EB"/>
          </a:solidFill>
          <a:ln w="12700">
            <a:solidFill>
              <a:srgbClr val="2563EB">
                <a:alpha val="0"/>
              </a:srgbClr>
            </a:solidFill>
            <a:prstDash val="solid"/>
          </a:ln>
        </p:spPr>
      </p:sp>
      <p:sp>
        <p:nvSpPr>
          <p:cNvPr id="19" name="Text 17"/>
          <p:cNvSpPr/>
          <p:nvPr/>
        </p:nvSpPr>
        <p:spPr>
          <a:xfrm>
            <a:off x="9802368" y="1719072"/>
            <a:ext cx="1380744" cy="155448"/>
          </a:xfrm>
          <a:prstGeom prst="rect">
            <a:avLst/>
          </a:prstGeom>
          <a:noFill/>
          <a:ln/>
        </p:spPr>
        <p:txBody>
          <a:bodyPr wrap="square" lIns="0" tIns="0" rIns="0" bIns="0" rtlCol="0" anchor="ctr">
            <a:normAutofit/>
          </a:bodyPr>
          <a:lstStyle/>
          <a:p>
            <a:pPr marL="0" indent="0" algn="ctr">
              <a:buNone/>
            </a:pPr>
            <a:r>
              <a:rPr lang="en-US" sz="750" b="1" dirty="0">
                <a:solidFill>
                  <a:srgbClr val="FFFFFF"/>
                </a:solidFill>
              </a:rPr>
              <a:t>Cybersecurity</a:t>
            </a:r>
            <a:endParaRPr lang="en-US" sz="750" dirty="0"/>
          </a:p>
        </p:txBody>
      </p:sp>
      <p:sp>
        <p:nvSpPr>
          <p:cNvPr id="20" name="Shape 18"/>
          <p:cNvSpPr/>
          <p:nvPr/>
        </p:nvSpPr>
        <p:spPr>
          <a:xfrm>
            <a:off x="777240" y="2194560"/>
            <a:ext cx="1600200" cy="347472"/>
          </a:xfrm>
          <a:prstGeom prst="roundRect">
            <a:avLst>
              <a:gd name="adj" fmla="val 21053"/>
            </a:avLst>
          </a:prstGeom>
          <a:solidFill>
            <a:srgbClr val="10B981"/>
          </a:solidFill>
          <a:ln w="12700">
            <a:solidFill>
              <a:srgbClr val="10B981">
                <a:alpha val="0"/>
              </a:srgbClr>
            </a:solidFill>
            <a:prstDash val="solid"/>
          </a:ln>
        </p:spPr>
      </p:sp>
      <p:sp>
        <p:nvSpPr>
          <p:cNvPr id="21" name="Text 19"/>
          <p:cNvSpPr/>
          <p:nvPr/>
        </p:nvSpPr>
        <p:spPr>
          <a:xfrm>
            <a:off x="886968" y="2286000"/>
            <a:ext cx="1380744" cy="155448"/>
          </a:xfrm>
          <a:prstGeom prst="rect">
            <a:avLst/>
          </a:prstGeom>
          <a:noFill/>
          <a:ln/>
        </p:spPr>
        <p:txBody>
          <a:bodyPr wrap="square" lIns="0" tIns="0" rIns="0" bIns="0" rtlCol="0" anchor="ctr">
            <a:normAutofit/>
          </a:bodyPr>
          <a:lstStyle/>
          <a:p>
            <a:pPr marL="0" indent="0" algn="ctr">
              <a:buNone/>
            </a:pPr>
            <a:r>
              <a:rPr lang="en-US" sz="750" b="1" dirty="0">
                <a:solidFill>
                  <a:srgbClr val="FFFFFF"/>
                </a:solidFill>
              </a:rPr>
              <a:t>Cloud</a:t>
            </a:r>
            <a:endParaRPr lang="en-US" sz="750" dirty="0"/>
          </a:p>
        </p:txBody>
      </p:sp>
      <p:sp>
        <p:nvSpPr>
          <p:cNvPr id="22" name="Shape 20"/>
          <p:cNvSpPr/>
          <p:nvPr/>
        </p:nvSpPr>
        <p:spPr>
          <a:xfrm>
            <a:off x="2560320" y="2194560"/>
            <a:ext cx="1600200" cy="347472"/>
          </a:xfrm>
          <a:prstGeom prst="roundRect">
            <a:avLst>
              <a:gd name="adj" fmla="val 21053"/>
            </a:avLst>
          </a:prstGeom>
          <a:solidFill>
            <a:srgbClr val="7C3AED"/>
          </a:solidFill>
          <a:ln w="12700">
            <a:solidFill>
              <a:srgbClr val="7C3AED">
                <a:alpha val="0"/>
              </a:srgbClr>
            </a:solidFill>
            <a:prstDash val="solid"/>
          </a:ln>
        </p:spPr>
      </p:sp>
      <p:sp>
        <p:nvSpPr>
          <p:cNvPr id="23" name="Text 21"/>
          <p:cNvSpPr/>
          <p:nvPr/>
        </p:nvSpPr>
        <p:spPr>
          <a:xfrm>
            <a:off x="2670048" y="2286000"/>
            <a:ext cx="1380744" cy="155448"/>
          </a:xfrm>
          <a:prstGeom prst="rect">
            <a:avLst/>
          </a:prstGeom>
          <a:noFill/>
          <a:ln/>
        </p:spPr>
        <p:txBody>
          <a:bodyPr wrap="square" lIns="0" tIns="0" rIns="0" bIns="0" rtlCol="0" anchor="ctr">
            <a:normAutofit/>
          </a:bodyPr>
          <a:lstStyle/>
          <a:p>
            <a:pPr marL="0" indent="0" algn="ctr">
              <a:buNone/>
            </a:pPr>
            <a:r>
              <a:rPr lang="en-US" sz="750" b="1" dirty="0">
                <a:solidFill>
                  <a:srgbClr val="FFFFFF"/>
                </a:solidFill>
              </a:rPr>
              <a:t>DevOps</a:t>
            </a:r>
            <a:endParaRPr lang="en-US" sz="750" dirty="0"/>
          </a:p>
        </p:txBody>
      </p:sp>
      <p:sp>
        <p:nvSpPr>
          <p:cNvPr id="24" name="Shape 22"/>
          <p:cNvSpPr/>
          <p:nvPr/>
        </p:nvSpPr>
        <p:spPr>
          <a:xfrm>
            <a:off x="4343400" y="2194560"/>
            <a:ext cx="1600200" cy="347472"/>
          </a:xfrm>
          <a:prstGeom prst="roundRect">
            <a:avLst>
              <a:gd name="adj" fmla="val 21053"/>
            </a:avLst>
          </a:prstGeom>
          <a:solidFill>
            <a:srgbClr val="FF6B4A"/>
          </a:solidFill>
          <a:ln w="12700">
            <a:solidFill>
              <a:srgbClr val="FF6B4A">
                <a:alpha val="0"/>
              </a:srgbClr>
            </a:solidFill>
            <a:prstDash val="solid"/>
          </a:ln>
        </p:spPr>
      </p:sp>
      <p:sp>
        <p:nvSpPr>
          <p:cNvPr id="25" name="Text 23"/>
          <p:cNvSpPr/>
          <p:nvPr/>
        </p:nvSpPr>
        <p:spPr>
          <a:xfrm>
            <a:off x="4453128" y="2286000"/>
            <a:ext cx="1380744" cy="155448"/>
          </a:xfrm>
          <a:prstGeom prst="rect">
            <a:avLst/>
          </a:prstGeom>
          <a:noFill/>
          <a:ln/>
        </p:spPr>
        <p:txBody>
          <a:bodyPr wrap="square" lIns="0" tIns="0" rIns="0" bIns="0" rtlCol="0" anchor="ctr">
            <a:normAutofit/>
          </a:bodyPr>
          <a:lstStyle/>
          <a:p>
            <a:pPr marL="0" indent="0" algn="ctr">
              <a:buNone/>
            </a:pPr>
            <a:r>
              <a:rPr lang="en-US" sz="750" b="1" dirty="0">
                <a:solidFill>
                  <a:srgbClr val="FFFFFF"/>
                </a:solidFill>
              </a:rPr>
              <a:t>QA</a:t>
            </a:r>
            <a:endParaRPr lang="en-US" sz="750" dirty="0"/>
          </a:p>
        </p:txBody>
      </p:sp>
      <p:sp>
        <p:nvSpPr>
          <p:cNvPr id="26" name="Shape 24"/>
          <p:cNvSpPr/>
          <p:nvPr/>
        </p:nvSpPr>
        <p:spPr>
          <a:xfrm>
            <a:off x="6126480" y="2194560"/>
            <a:ext cx="1600200" cy="347472"/>
          </a:xfrm>
          <a:prstGeom prst="roundRect">
            <a:avLst>
              <a:gd name="adj" fmla="val 21053"/>
            </a:avLst>
          </a:prstGeom>
          <a:solidFill>
            <a:srgbClr val="F59E0B"/>
          </a:solidFill>
          <a:ln w="12700">
            <a:solidFill>
              <a:srgbClr val="F59E0B">
                <a:alpha val="0"/>
              </a:srgbClr>
            </a:solidFill>
            <a:prstDash val="solid"/>
          </a:ln>
        </p:spPr>
      </p:sp>
      <p:sp>
        <p:nvSpPr>
          <p:cNvPr id="27" name="Text 25"/>
          <p:cNvSpPr/>
          <p:nvPr/>
        </p:nvSpPr>
        <p:spPr>
          <a:xfrm>
            <a:off x="6236208" y="2286000"/>
            <a:ext cx="1380744" cy="155448"/>
          </a:xfrm>
          <a:prstGeom prst="rect">
            <a:avLst/>
          </a:prstGeom>
          <a:noFill/>
          <a:ln/>
        </p:spPr>
        <p:txBody>
          <a:bodyPr wrap="square" lIns="0" tIns="0" rIns="0" bIns="0" rtlCol="0" anchor="ctr">
            <a:normAutofit/>
          </a:bodyPr>
          <a:lstStyle/>
          <a:p>
            <a:pPr marL="0" indent="0" algn="ctr">
              <a:buNone/>
            </a:pPr>
            <a:r>
              <a:rPr lang="en-US" sz="750" b="1" dirty="0">
                <a:solidFill>
                  <a:srgbClr val="FFFFFF"/>
                </a:solidFill>
              </a:rPr>
              <a:t>Product</a:t>
            </a:r>
            <a:endParaRPr lang="en-US" sz="750" dirty="0"/>
          </a:p>
        </p:txBody>
      </p:sp>
      <p:sp>
        <p:nvSpPr>
          <p:cNvPr id="28" name="Shape 26"/>
          <p:cNvSpPr/>
          <p:nvPr/>
        </p:nvSpPr>
        <p:spPr>
          <a:xfrm>
            <a:off x="7909560" y="2194560"/>
            <a:ext cx="1600200" cy="347472"/>
          </a:xfrm>
          <a:prstGeom prst="roundRect">
            <a:avLst>
              <a:gd name="adj" fmla="val 21053"/>
            </a:avLst>
          </a:prstGeom>
          <a:solidFill>
            <a:srgbClr val="2563EB"/>
          </a:solidFill>
          <a:ln w="12700">
            <a:solidFill>
              <a:srgbClr val="2563EB">
                <a:alpha val="0"/>
              </a:srgbClr>
            </a:solidFill>
            <a:prstDash val="solid"/>
          </a:ln>
        </p:spPr>
      </p:sp>
      <p:sp>
        <p:nvSpPr>
          <p:cNvPr id="29" name="Text 27"/>
          <p:cNvSpPr/>
          <p:nvPr/>
        </p:nvSpPr>
        <p:spPr>
          <a:xfrm>
            <a:off x="8019288" y="2286000"/>
            <a:ext cx="1380744" cy="155448"/>
          </a:xfrm>
          <a:prstGeom prst="rect">
            <a:avLst/>
          </a:prstGeom>
          <a:noFill/>
          <a:ln/>
        </p:spPr>
        <p:txBody>
          <a:bodyPr wrap="square" lIns="0" tIns="0" rIns="0" bIns="0" rtlCol="0" anchor="ctr">
            <a:normAutofit/>
          </a:bodyPr>
          <a:lstStyle/>
          <a:p>
            <a:pPr marL="0" indent="0" algn="ctr">
              <a:buNone/>
            </a:pPr>
            <a:r>
              <a:rPr lang="en-US" sz="750" b="1" dirty="0">
                <a:solidFill>
                  <a:srgbClr val="FFFFFF"/>
                </a:solidFill>
              </a:rPr>
              <a:t>FDE</a:t>
            </a:r>
            <a:endParaRPr lang="en-US" sz="750" dirty="0"/>
          </a:p>
        </p:txBody>
      </p:sp>
      <p:sp>
        <p:nvSpPr>
          <p:cNvPr id="30" name="Shape 28"/>
          <p:cNvSpPr/>
          <p:nvPr/>
        </p:nvSpPr>
        <p:spPr>
          <a:xfrm>
            <a:off x="9692640" y="2194560"/>
            <a:ext cx="1600200" cy="347472"/>
          </a:xfrm>
          <a:prstGeom prst="roundRect">
            <a:avLst>
              <a:gd name="adj" fmla="val 21053"/>
            </a:avLst>
          </a:prstGeom>
          <a:solidFill>
            <a:srgbClr val="10B981"/>
          </a:solidFill>
          <a:ln w="12700">
            <a:solidFill>
              <a:srgbClr val="10B981">
                <a:alpha val="0"/>
              </a:srgbClr>
            </a:solidFill>
            <a:prstDash val="solid"/>
          </a:ln>
        </p:spPr>
      </p:sp>
      <p:sp>
        <p:nvSpPr>
          <p:cNvPr id="31" name="Text 29"/>
          <p:cNvSpPr/>
          <p:nvPr/>
        </p:nvSpPr>
        <p:spPr>
          <a:xfrm>
            <a:off x="9802368" y="2286000"/>
            <a:ext cx="1380744" cy="155448"/>
          </a:xfrm>
          <a:prstGeom prst="rect">
            <a:avLst/>
          </a:prstGeom>
          <a:noFill/>
          <a:ln/>
        </p:spPr>
        <p:txBody>
          <a:bodyPr wrap="square" lIns="0" tIns="0" rIns="0" bIns="0" rtlCol="0" anchor="ctr">
            <a:normAutofit/>
          </a:bodyPr>
          <a:lstStyle/>
          <a:p>
            <a:pPr marL="0" indent="0" algn="ctr">
              <a:buNone/>
            </a:pPr>
            <a:r>
              <a:rPr lang="en-US" sz="750" b="1" dirty="0">
                <a:solidFill>
                  <a:srgbClr val="FFFFFF"/>
                </a:solidFill>
              </a:rPr>
              <a:t>UX / UI</a:t>
            </a:r>
            <a:endParaRPr lang="en-US" sz="750" dirty="0"/>
          </a:p>
        </p:txBody>
      </p:sp>
      <p:sp>
        <p:nvSpPr>
          <p:cNvPr id="32" name="Shape 30"/>
          <p:cNvSpPr/>
          <p:nvPr/>
        </p:nvSpPr>
        <p:spPr>
          <a:xfrm>
            <a:off x="868680" y="3601778"/>
            <a:ext cx="10424160" cy="2981899"/>
          </a:xfrm>
          <a:prstGeom prst="roundRect">
            <a:avLst>
              <a:gd name="adj" fmla="val 5517"/>
            </a:avLst>
          </a:prstGeom>
          <a:solidFill>
            <a:srgbClr val="FFFFFF"/>
          </a:solidFill>
          <a:ln w="12700">
            <a:solidFill>
              <a:srgbClr val="E8E2DE"/>
            </a:solidFill>
            <a:prstDash val="solid"/>
          </a:ln>
        </p:spPr>
        <p:txBody>
          <a:bodyPr/>
          <a:lstStyle/>
          <a:p>
            <a:endParaRPr lang="en-US" dirty="0"/>
          </a:p>
        </p:txBody>
      </p:sp>
      <p:sp>
        <p:nvSpPr>
          <p:cNvPr id="33" name="Text 31"/>
          <p:cNvSpPr/>
          <p:nvPr/>
        </p:nvSpPr>
        <p:spPr>
          <a:xfrm>
            <a:off x="1188720" y="3886200"/>
            <a:ext cx="3840480" cy="274320"/>
          </a:xfrm>
          <a:prstGeom prst="rect">
            <a:avLst/>
          </a:prstGeom>
          <a:noFill/>
          <a:ln/>
        </p:spPr>
        <p:txBody>
          <a:bodyPr wrap="square" lIns="0" tIns="0" rIns="0" bIns="0" rtlCol="0" anchor="ctr"/>
          <a:lstStyle/>
          <a:p>
            <a:pPr marL="0" indent="0">
              <a:buNone/>
            </a:pPr>
            <a:r>
              <a:rPr lang="en-US" sz="1600" b="1" dirty="0">
                <a:solidFill>
                  <a:srgbClr val="152238"/>
                </a:solidFill>
              </a:rPr>
              <a:t>Forward Deployed Engineer (FDE)</a:t>
            </a:r>
            <a:endParaRPr lang="en-US" sz="1600" dirty="0"/>
          </a:p>
        </p:txBody>
      </p:sp>
      <p:sp>
        <p:nvSpPr>
          <p:cNvPr id="34" name="Text 32"/>
          <p:cNvSpPr/>
          <p:nvPr/>
        </p:nvSpPr>
        <p:spPr>
          <a:xfrm>
            <a:off x="1188720" y="4343400"/>
            <a:ext cx="9052560" cy="1399030"/>
          </a:xfrm>
          <a:prstGeom prst="rect">
            <a:avLst/>
          </a:prstGeom>
          <a:noFill/>
          <a:ln/>
        </p:spPr>
        <p:txBody>
          <a:bodyPr wrap="square" lIns="0" tIns="0" rIns="0" bIns="0" rtlCol="0" anchor="ctr">
            <a:normAutofit/>
          </a:bodyPr>
          <a:lstStyle/>
          <a:p>
            <a:pPr marL="0" indent="0">
              <a:buNone/>
            </a:pPr>
            <a:r>
              <a:rPr lang="en-US" sz="1050" dirty="0"/>
              <a:t>FDE = Forward Deployed Engineer. Think of an FDE as someone who is part consultant + part engineer + part AI expert. </a:t>
            </a:r>
          </a:p>
          <a:p>
            <a:pPr marL="0" indent="0">
              <a:buNone/>
            </a:pPr>
            <a:endParaRPr lang="en-US" sz="1050" dirty="0"/>
          </a:p>
          <a:p>
            <a:pPr marL="0" indent="0">
              <a:buNone/>
            </a:pPr>
            <a:r>
              <a:rPr lang="en-US" sz="1050" dirty="0"/>
              <a:t>Instead of only writing code, they: Meet with clients. Understand the client's business problems. Build AI solutions or AI workflows. Help companies actually deploy AI successfully. </a:t>
            </a:r>
            <a:endParaRPr lang="en-US" sz="1030" dirty="0"/>
          </a:p>
        </p:txBody>
      </p:sp>
      <p:sp>
        <p:nvSpPr>
          <p:cNvPr id="35" name="Text 33"/>
          <p:cNvSpPr/>
          <p:nvPr/>
        </p:nvSpPr>
        <p:spPr>
          <a:xfrm>
            <a:off x="1257300" y="6035039"/>
            <a:ext cx="7772400" cy="182880"/>
          </a:xfrm>
          <a:prstGeom prst="rect">
            <a:avLst/>
          </a:prstGeom>
          <a:noFill/>
          <a:ln/>
        </p:spPr>
        <p:txBody>
          <a:bodyPr wrap="square" lIns="0" tIns="0" rIns="0" bIns="0" rtlCol="0" anchor="ctr"/>
          <a:lstStyle/>
          <a:p>
            <a:pPr marL="0" indent="0">
              <a:buNone/>
            </a:pPr>
            <a:r>
              <a:rPr lang="en-US" sz="980" b="1" dirty="0">
                <a:solidFill>
                  <a:srgbClr val="10B981"/>
                </a:solidFill>
              </a:rPr>
              <a:t>Bridge between business needs and technical execution.</a:t>
            </a:r>
            <a:endParaRPr lang="en-US" sz="980" dirty="0"/>
          </a:p>
        </p:txBody>
      </p:sp>
      <p:sp>
        <p:nvSpPr>
          <p:cNvPr id="37" name="Text 34"/>
          <p:cNvSpPr/>
          <p:nvPr/>
        </p:nvSpPr>
        <p:spPr>
          <a:xfrm>
            <a:off x="411480" y="6510528"/>
            <a:ext cx="6400800" cy="164592"/>
          </a:xfrm>
          <a:prstGeom prst="rect">
            <a:avLst/>
          </a:prstGeom>
          <a:noFill/>
          <a:ln/>
        </p:spPr>
        <p:txBody>
          <a:bodyPr wrap="square" lIns="0" tIns="0" rIns="0" bIns="0" rtlCol="0" anchor="ctr"/>
          <a:lstStyle/>
          <a:p>
            <a:pPr marL="0" indent="0">
              <a:buNone/>
            </a:pPr>
            <a:r>
              <a:rPr lang="en-US" sz="600" dirty="0">
                <a:solidFill>
                  <a:srgbClr val="7C7C7C"/>
                </a:solidFill>
                <a:latin typeface="Aptos" pitchFamily="34" charset="0"/>
                <a:ea typeface="Aptos" pitchFamily="34" charset="-122"/>
                <a:cs typeface="Aptos" pitchFamily="34" charset="-120"/>
              </a:rPr>
              <a:t>What's Next After Graduation?  |  Farah Kerbaj</a:t>
            </a:r>
            <a:endParaRPr lang="en-US" sz="600" dirty="0"/>
          </a:p>
        </p:txBody>
      </p:sp>
      <p:sp>
        <p:nvSpPr>
          <p:cNvPr id="38" name="Text 35"/>
          <p:cNvSpPr/>
          <p:nvPr/>
        </p:nvSpPr>
        <p:spPr>
          <a:xfrm>
            <a:off x="11430000" y="6473952"/>
            <a:ext cx="320040" cy="182880"/>
          </a:xfrm>
          <a:prstGeom prst="rect">
            <a:avLst/>
          </a:prstGeom>
          <a:noFill/>
          <a:ln/>
        </p:spPr>
        <p:txBody>
          <a:bodyPr wrap="square" lIns="0" tIns="0" rIns="0" bIns="0" rtlCol="0" anchor="ctr"/>
          <a:lstStyle/>
          <a:p>
            <a:pPr marL="0" indent="0" algn="r">
              <a:buNone/>
            </a:pPr>
            <a:r>
              <a:rPr lang="en-US" sz="700" dirty="0">
                <a:solidFill>
                  <a:srgbClr val="7C7C7C"/>
                </a:solidFill>
              </a:rPr>
              <a:t>7</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F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F2"/>
          </a:solidFill>
          <a:ln w="12700">
            <a:solidFill>
              <a:srgbClr val="F7F4F2">
                <a:alpha val="0"/>
              </a:srgbClr>
            </a:solidFill>
            <a:prstDash val="solid"/>
          </a:ln>
        </p:spPr>
      </p:sp>
      <p:sp>
        <p:nvSpPr>
          <p:cNvPr id="3" name="Shape 1"/>
          <p:cNvSpPr/>
          <p:nvPr/>
        </p:nvSpPr>
        <p:spPr>
          <a:xfrm>
            <a:off x="0" y="0"/>
            <a:ext cx="12191695" cy="73152"/>
          </a:xfrm>
          <a:prstGeom prst="rect">
            <a:avLst/>
          </a:prstGeom>
          <a:solidFill>
            <a:srgbClr val="7C3AED"/>
          </a:solidFill>
          <a:ln w="12700">
            <a:solidFill>
              <a:srgbClr val="7C3AED"/>
            </a:solidFill>
            <a:prstDash val="solid"/>
          </a:ln>
        </p:spPr>
      </p:sp>
      <p:sp>
        <p:nvSpPr>
          <p:cNvPr id="4" name="Text 2"/>
          <p:cNvSpPr/>
          <p:nvPr/>
        </p:nvSpPr>
        <p:spPr>
          <a:xfrm>
            <a:off x="667512" y="274320"/>
            <a:ext cx="7315200" cy="201168"/>
          </a:xfrm>
          <a:prstGeom prst="rect">
            <a:avLst/>
          </a:prstGeom>
          <a:noFill/>
          <a:ln/>
        </p:spPr>
        <p:txBody>
          <a:bodyPr wrap="square" lIns="0" tIns="0" rIns="0" bIns="0" rtlCol="0" anchor="ctr"/>
          <a:lstStyle/>
          <a:p>
            <a:pPr marL="0" indent="0">
              <a:buNone/>
            </a:pPr>
            <a:r>
              <a:rPr lang="en-US" sz="750" b="1" dirty="0">
                <a:solidFill>
                  <a:srgbClr val="7C3AED"/>
                </a:solidFill>
              </a:rPr>
              <a:t>ACTIVITY 1</a:t>
            </a:r>
            <a:endParaRPr lang="en-US" sz="750" dirty="0"/>
          </a:p>
        </p:txBody>
      </p:sp>
      <p:sp>
        <p:nvSpPr>
          <p:cNvPr id="5" name="Text 3"/>
          <p:cNvSpPr/>
          <p:nvPr/>
        </p:nvSpPr>
        <p:spPr>
          <a:xfrm>
            <a:off x="640080" y="502920"/>
            <a:ext cx="10881360" cy="438912"/>
          </a:xfrm>
          <a:prstGeom prst="rect">
            <a:avLst/>
          </a:prstGeom>
          <a:noFill/>
          <a:ln/>
        </p:spPr>
        <p:txBody>
          <a:bodyPr wrap="square" lIns="0" tIns="0" rIns="0" bIns="0" rtlCol="0" anchor="ctr">
            <a:normAutofit/>
          </a:bodyPr>
          <a:lstStyle/>
          <a:p>
            <a:pPr marL="0" indent="0">
              <a:buNone/>
            </a:pPr>
            <a:r>
              <a:rPr lang="en-US" sz="2500" b="1" dirty="0">
                <a:solidFill>
                  <a:srgbClr val="111827"/>
                </a:solidFill>
                <a:latin typeface="Aptos Display" pitchFamily="34" charset="0"/>
                <a:ea typeface="Aptos Display" pitchFamily="34" charset="-122"/>
                <a:cs typeface="Aptos Display" pitchFamily="34" charset="-120"/>
              </a:rPr>
              <a:t>Know Yourself Sprint</a:t>
            </a:r>
            <a:endParaRPr lang="en-US" sz="2500" dirty="0"/>
          </a:p>
        </p:txBody>
      </p:sp>
      <p:sp>
        <p:nvSpPr>
          <p:cNvPr id="6" name="Text 4"/>
          <p:cNvSpPr/>
          <p:nvPr/>
        </p:nvSpPr>
        <p:spPr>
          <a:xfrm>
            <a:off x="667512" y="987552"/>
            <a:ext cx="10424160" cy="256032"/>
          </a:xfrm>
          <a:prstGeom prst="rect">
            <a:avLst/>
          </a:prstGeom>
          <a:noFill/>
          <a:ln/>
        </p:spPr>
        <p:txBody>
          <a:bodyPr wrap="square" lIns="0" tIns="0" rIns="0" bIns="0" rtlCol="0" anchor="ctr"/>
          <a:lstStyle/>
          <a:p>
            <a:pPr marL="0" indent="0">
              <a:buNone/>
            </a:pPr>
            <a:r>
              <a:rPr lang="en-US" sz="950" dirty="0">
                <a:solidFill>
                  <a:srgbClr val="5B6472"/>
                </a:solidFill>
              </a:rPr>
              <a:t>Before choosing a role, collect clues about yourself</a:t>
            </a:r>
            <a:endParaRPr lang="en-US" sz="950" dirty="0"/>
          </a:p>
        </p:txBody>
      </p:sp>
      <p:sp>
        <p:nvSpPr>
          <p:cNvPr id="7" name="Shape 5"/>
          <p:cNvSpPr/>
          <p:nvPr/>
        </p:nvSpPr>
        <p:spPr>
          <a:xfrm>
            <a:off x="640080" y="1325880"/>
            <a:ext cx="10881360" cy="0"/>
          </a:xfrm>
          <a:prstGeom prst="line">
            <a:avLst/>
          </a:prstGeom>
          <a:noFill/>
          <a:ln w="12700">
            <a:solidFill>
              <a:srgbClr val="D6D3D1"/>
            </a:solidFill>
            <a:prstDash val="solid"/>
          </a:ln>
        </p:spPr>
      </p:sp>
      <p:sp>
        <p:nvSpPr>
          <p:cNvPr id="8" name="Shape 6"/>
          <p:cNvSpPr/>
          <p:nvPr/>
        </p:nvSpPr>
        <p:spPr>
          <a:xfrm>
            <a:off x="822960" y="1600200"/>
            <a:ext cx="3429000" cy="640080"/>
          </a:xfrm>
          <a:prstGeom prst="roundRect">
            <a:avLst>
              <a:gd name="adj" fmla="val 11429"/>
            </a:avLst>
          </a:prstGeom>
          <a:solidFill>
            <a:srgbClr val="EDE9FE"/>
          </a:solidFill>
          <a:ln w="12700">
            <a:solidFill>
              <a:srgbClr val="E8E2DE"/>
            </a:solidFill>
            <a:prstDash val="solid"/>
          </a:ln>
        </p:spPr>
      </p:sp>
      <p:sp>
        <p:nvSpPr>
          <p:cNvPr id="9" name="Text 7"/>
          <p:cNvSpPr/>
          <p:nvPr/>
        </p:nvSpPr>
        <p:spPr>
          <a:xfrm>
            <a:off x="1051560" y="1792224"/>
            <a:ext cx="2926080" cy="182880"/>
          </a:xfrm>
          <a:prstGeom prst="rect">
            <a:avLst/>
          </a:prstGeom>
          <a:noFill/>
          <a:ln/>
        </p:spPr>
        <p:txBody>
          <a:bodyPr wrap="square" lIns="0" tIns="0" rIns="0" bIns="0" rtlCol="0" anchor="ctr">
            <a:normAutofit/>
          </a:bodyPr>
          <a:lstStyle/>
          <a:p>
            <a:pPr marL="0" indent="0">
              <a:buNone/>
            </a:pPr>
            <a:r>
              <a:rPr lang="en-US" sz="1060" b="1" dirty="0">
                <a:solidFill>
                  <a:srgbClr val="111827"/>
                </a:solidFill>
              </a:rPr>
              <a:t>Things I enjoy doing</a:t>
            </a:r>
            <a:endParaRPr lang="en-US" sz="1060" dirty="0"/>
          </a:p>
        </p:txBody>
      </p:sp>
      <p:sp>
        <p:nvSpPr>
          <p:cNvPr id="10" name="Shape 8"/>
          <p:cNvSpPr/>
          <p:nvPr/>
        </p:nvSpPr>
        <p:spPr>
          <a:xfrm>
            <a:off x="4480560" y="1600200"/>
            <a:ext cx="3429000" cy="640080"/>
          </a:xfrm>
          <a:prstGeom prst="roundRect">
            <a:avLst>
              <a:gd name="adj" fmla="val 11429"/>
            </a:avLst>
          </a:prstGeom>
          <a:solidFill>
            <a:srgbClr val="FFFFFF"/>
          </a:solidFill>
          <a:ln w="12700">
            <a:solidFill>
              <a:srgbClr val="E8E2DE"/>
            </a:solidFill>
            <a:prstDash val="solid"/>
          </a:ln>
        </p:spPr>
      </p:sp>
      <p:sp>
        <p:nvSpPr>
          <p:cNvPr id="11" name="Text 9"/>
          <p:cNvSpPr/>
          <p:nvPr/>
        </p:nvSpPr>
        <p:spPr>
          <a:xfrm>
            <a:off x="4709160" y="1792224"/>
            <a:ext cx="2926080" cy="182880"/>
          </a:xfrm>
          <a:prstGeom prst="rect">
            <a:avLst/>
          </a:prstGeom>
          <a:noFill/>
          <a:ln/>
        </p:spPr>
        <p:txBody>
          <a:bodyPr wrap="square" lIns="0" tIns="0" rIns="0" bIns="0" rtlCol="0" anchor="ctr">
            <a:normAutofit/>
          </a:bodyPr>
          <a:lstStyle/>
          <a:p>
            <a:pPr marL="0" indent="0">
              <a:buNone/>
            </a:pPr>
            <a:r>
              <a:rPr lang="en-US" sz="1060" dirty="0">
                <a:solidFill>
                  <a:srgbClr val="111827"/>
                </a:solidFill>
              </a:rPr>
              <a:t>Things people ask me for help with</a:t>
            </a:r>
            <a:endParaRPr lang="en-US" sz="1060" dirty="0"/>
          </a:p>
        </p:txBody>
      </p:sp>
      <p:sp>
        <p:nvSpPr>
          <p:cNvPr id="12" name="Shape 10"/>
          <p:cNvSpPr/>
          <p:nvPr/>
        </p:nvSpPr>
        <p:spPr>
          <a:xfrm>
            <a:off x="8138160" y="1600200"/>
            <a:ext cx="3429000" cy="640080"/>
          </a:xfrm>
          <a:prstGeom prst="roundRect">
            <a:avLst>
              <a:gd name="adj" fmla="val 11429"/>
            </a:avLst>
          </a:prstGeom>
          <a:solidFill>
            <a:srgbClr val="EDE9FE"/>
          </a:solidFill>
          <a:ln w="12700">
            <a:solidFill>
              <a:srgbClr val="E8E2DE"/>
            </a:solidFill>
            <a:prstDash val="solid"/>
          </a:ln>
        </p:spPr>
      </p:sp>
      <p:sp>
        <p:nvSpPr>
          <p:cNvPr id="13" name="Text 11"/>
          <p:cNvSpPr/>
          <p:nvPr/>
        </p:nvSpPr>
        <p:spPr>
          <a:xfrm>
            <a:off x="8366760" y="1792224"/>
            <a:ext cx="2926080" cy="182880"/>
          </a:xfrm>
          <a:prstGeom prst="rect">
            <a:avLst/>
          </a:prstGeom>
          <a:noFill/>
          <a:ln/>
        </p:spPr>
        <p:txBody>
          <a:bodyPr wrap="square" lIns="0" tIns="0" rIns="0" bIns="0" rtlCol="0" anchor="ctr">
            <a:normAutofit/>
          </a:bodyPr>
          <a:lstStyle/>
          <a:p>
            <a:pPr marL="0" indent="0">
              <a:buNone/>
            </a:pPr>
            <a:r>
              <a:rPr lang="en-US" sz="1060" dirty="0">
                <a:solidFill>
                  <a:srgbClr val="111827"/>
                </a:solidFill>
              </a:rPr>
              <a:t>Things I learn quickly</a:t>
            </a:r>
            <a:endParaRPr lang="en-US" sz="1060" dirty="0"/>
          </a:p>
        </p:txBody>
      </p:sp>
      <p:sp>
        <p:nvSpPr>
          <p:cNvPr id="14" name="Shape 12"/>
          <p:cNvSpPr/>
          <p:nvPr/>
        </p:nvSpPr>
        <p:spPr>
          <a:xfrm>
            <a:off x="822960" y="2423160"/>
            <a:ext cx="3429000" cy="640080"/>
          </a:xfrm>
          <a:prstGeom prst="roundRect">
            <a:avLst>
              <a:gd name="adj" fmla="val 11429"/>
            </a:avLst>
          </a:prstGeom>
          <a:solidFill>
            <a:srgbClr val="FFFFFF"/>
          </a:solidFill>
          <a:ln w="12700">
            <a:solidFill>
              <a:srgbClr val="E8E2DE"/>
            </a:solidFill>
            <a:prstDash val="solid"/>
          </a:ln>
        </p:spPr>
      </p:sp>
      <p:sp>
        <p:nvSpPr>
          <p:cNvPr id="15" name="Text 13"/>
          <p:cNvSpPr/>
          <p:nvPr/>
        </p:nvSpPr>
        <p:spPr>
          <a:xfrm>
            <a:off x="1051560" y="2615184"/>
            <a:ext cx="2926080" cy="182880"/>
          </a:xfrm>
          <a:prstGeom prst="rect">
            <a:avLst/>
          </a:prstGeom>
          <a:noFill/>
          <a:ln/>
        </p:spPr>
        <p:txBody>
          <a:bodyPr wrap="square" lIns="0" tIns="0" rIns="0" bIns="0" rtlCol="0" anchor="ctr">
            <a:normAutofit/>
          </a:bodyPr>
          <a:lstStyle/>
          <a:p>
            <a:pPr marL="0" indent="0">
              <a:buNone/>
            </a:pPr>
            <a:r>
              <a:rPr lang="en-US" sz="1060" dirty="0">
                <a:solidFill>
                  <a:srgbClr val="111827"/>
                </a:solidFill>
              </a:rPr>
              <a:t>Things that make me lose track of time</a:t>
            </a:r>
            <a:endParaRPr lang="en-US" sz="1060" dirty="0"/>
          </a:p>
        </p:txBody>
      </p:sp>
      <p:sp>
        <p:nvSpPr>
          <p:cNvPr id="16" name="Shape 14"/>
          <p:cNvSpPr/>
          <p:nvPr/>
        </p:nvSpPr>
        <p:spPr>
          <a:xfrm>
            <a:off x="4480560" y="2423160"/>
            <a:ext cx="3429000" cy="640080"/>
          </a:xfrm>
          <a:prstGeom prst="roundRect">
            <a:avLst>
              <a:gd name="adj" fmla="val 11429"/>
            </a:avLst>
          </a:prstGeom>
          <a:solidFill>
            <a:srgbClr val="EDE9FE"/>
          </a:solidFill>
          <a:ln w="12700">
            <a:solidFill>
              <a:srgbClr val="E8E2DE"/>
            </a:solidFill>
            <a:prstDash val="solid"/>
          </a:ln>
        </p:spPr>
      </p:sp>
      <p:sp>
        <p:nvSpPr>
          <p:cNvPr id="17" name="Text 15"/>
          <p:cNvSpPr/>
          <p:nvPr/>
        </p:nvSpPr>
        <p:spPr>
          <a:xfrm>
            <a:off x="4709160" y="2615184"/>
            <a:ext cx="2926080" cy="182880"/>
          </a:xfrm>
          <a:prstGeom prst="rect">
            <a:avLst/>
          </a:prstGeom>
          <a:noFill/>
          <a:ln/>
        </p:spPr>
        <p:txBody>
          <a:bodyPr wrap="square" lIns="0" tIns="0" rIns="0" bIns="0" rtlCol="0" anchor="ctr">
            <a:normAutofit/>
          </a:bodyPr>
          <a:lstStyle/>
          <a:p>
            <a:pPr marL="0" indent="0">
              <a:buNone/>
            </a:pPr>
            <a:r>
              <a:rPr lang="en-US" sz="1060" dirty="0">
                <a:solidFill>
                  <a:srgbClr val="111827"/>
                </a:solidFill>
              </a:rPr>
              <a:t>Problems I naturally notice</a:t>
            </a:r>
            <a:endParaRPr lang="en-US" sz="1060" dirty="0"/>
          </a:p>
        </p:txBody>
      </p:sp>
      <p:sp>
        <p:nvSpPr>
          <p:cNvPr id="18" name="Shape 16"/>
          <p:cNvSpPr/>
          <p:nvPr/>
        </p:nvSpPr>
        <p:spPr>
          <a:xfrm>
            <a:off x="8138160" y="2423160"/>
            <a:ext cx="3429000" cy="640080"/>
          </a:xfrm>
          <a:prstGeom prst="roundRect">
            <a:avLst>
              <a:gd name="adj" fmla="val 11429"/>
            </a:avLst>
          </a:prstGeom>
          <a:solidFill>
            <a:srgbClr val="FFFFFF"/>
          </a:solidFill>
          <a:ln w="12700">
            <a:solidFill>
              <a:srgbClr val="E8E2DE"/>
            </a:solidFill>
            <a:prstDash val="solid"/>
          </a:ln>
        </p:spPr>
      </p:sp>
      <p:sp>
        <p:nvSpPr>
          <p:cNvPr id="19" name="Text 17"/>
          <p:cNvSpPr/>
          <p:nvPr/>
        </p:nvSpPr>
        <p:spPr>
          <a:xfrm>
            <a:off x="8366760" y="2615184"/>
            <a:ext cx="2926080" cy="182880"/>
          </a:xfrm>
          <a:prstGeom prst="rect">
            <a:avLst/>
          </a:prstGeom>
          <a:noFill/>
          <a:ln/>
        </p:spPr>
        <p:txBody>
          <a:bodyPr wrap="square" lIns="0" tIns="0" rIns="0" bIns="0" rtlCol="0" anchor="ctr">
            <a:normAutofit/>
          </a:bodyPr>
          <a:lstStyle/>
          <a:p>
            <a:pPr marL="0" indent="0">
              <a:buNone/>
            </a:pPr>
            <a:r>
              <a:rPr lang="en-US" sz="1060" dirty="0">
                <a:solidFill>
                  <a:srgbClr val="111827"/>
                </a:solidFill>
              </a:rPr>
              <a:t>Work environments I prefer</a:t>
            </a:r>
            <a:endParaRPr lang="en-US" sz="1060" dirty="0"/>
          </a:p>
        </p:txBody>
      </p:sp>
      <p:sp>
        <p:nvSpPr>
          <p:cNvPr id="20" name="Text 18"/>
          <p:cNvSpPr/>
          <p:nvPr/>
        </p:nvSpPr>
        <p:spPr>
          <a:xfrm>
            <a:off x="1097280" y="4892040"/>
            <a:ext cx="9692640" cy="310896"/>
          </a:xfrm>
          <a:prstGeom prst="rect">
            <a:avLst/>
          </a:prstGeom>
          <a:noFill/>
          <a:ln/>
        </p:spPr>
        <p:txBody>
          <a:bodyPr wrap="square" lIns="0" tIns="0" rIns="0" bIns="0" rtlCol="0" anchor="ctr">
            <a:normAutofit/>
          </a:bodyPr>
          <a:lstStyle/>
          <a:p>
            <a:pPr marL="0" indent="0" algn="ctr">
              <a:buNone/>
            </a:pPr>
            <a:r>
              <a:rPr lang="en-US" sz="1500" b="1" dirty="0">
                <a:solidFill>
                  <a:srgbClr val="7C3AED"/>
                </a:solidFill>
              </a:rPr>
              <a:t>3 minutes: write one answer for each prompt. Then circle the repeated patterns.</a:t>
            </a:r>
            <a:endParaRPr lang="en-US" sz="1500" dirty="0"/>
          </a:p>
        </p:txBody>
      </p:sp>
      <p:sp>
        <p:nvSpPr>
          <p:cNvPr id="22" name="Text 19"/>
          <p:cNvSpPr/>
          <p:nvPr/>
        </p:nvSpPr>
        <p:spPr>
          <a:xfrm>
            <a:off x="411480" y="6510528"/>
            <a:ext cx="6400800" cy="164592"/>
          </a:xfrm>
          <a:prstGeom prst="rect">
            <a:avLst/>
          </a:prstGeom>
          <a:noFill/>
          <a:ln/>
        </p:spPr>
        <p:txBody>
          <a:bodyPr wrap="square" lIns="0" tIns="0" rIns="0" bIns="0" rtlCol="0" anchor="ctr"/>
          <a:lstStyle/>
          <a:p>
            <a:pPr marL="0" indent="0">
              <a:buNone/>
            </a:pPr>
            <a:r>
              <a:rPr lang="en-US" sz="600" dirty="0">
                <a:solidFill>
                  <a:srgbClr val="7C7C7C"/>
                </a:solidFill>
                <a:latin typeface="Aptos" pitchFamily="34" charset="0"/>
                <a:ea typeface="Aptos" pitchFamily="34" charset="-122"/>
                <a:cs typeface="Aptos" pitchFamily="34" charset="-120"/>
              </a:rPr>
              <a:t>What's Next After Graduation?  |  Farah Kerbaj</a:t>
            </a:r>
            <a:endParaRPr lang="en-US" sz="600" dirty="0"/>
          </a:p>
        </p:txBody>
      </p:sp>
      <p:sp>
        <p:nvSpPr>
          <p:cNvPr id="23" name="Text 20"/>
          <p:cNvSpPr/>
          <p:nvPr/>
        </p:nvSpPr>
        <p:spPr>
          <a:xfrm>
            <a:off x="11430000" y="6473952"/>
            <a:ext cx="320040" cy="182880"/>
          </a:xfrm>
          <a:prstGeom prst="rect">
            <a:avLst/>
          </a:prstGeom>
          <a:noFill/>
          <a:ln/>
        </p:spPr>
        <p:txBody>
          <a:bodyPr wrap="square" lIns="0" tIns="0" rIns="0" bIns="0" rtlCol="0" anchor="ctr"/>
          <a:lstStyle/>
          <a:p>
            <a:pPr marL="0" indent="0" algn="r">
              <a:buNone/>
            </a:pPr>
            <a:r>
              <a:rPr lang="en-US" sz="700" dirty="0">
                <a:solidFill>
                  <a:srgbClr val="7C7C7C"/>
                </a:solidFill>
              </a:rPr>
              <a:t>8</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F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F2"/>
          </a:solidFill>
          <a:ln w="12700">
            <a:solidFill>
              <a:srgbClr val="F7F4F2">
                <a:alpha val="0"/>
              </a:srgbClr>
            </a:solidFill>
            <a:prstDash val="solid"/>
          </a:ln>
        </p:spPr>
      </p:sp>
      <p:sp>
        <p:nvSpPr>
          <p:cNvPr id="3" name="Shape 1"/>
          <p:cNvSpPr/>
          <p:nvPr/>
        </p:nvSpPr>
        <p:spPr>
          <a:xfrm>
            <a:off x="0" y="0"/>
            <a:ext cx="12191695" cy="73152"/>
          </a:xfrm>
          <a:prstGeom prst="rect">
            <a:avLst/>
          </a:prstGeom>
          <a:solidFill>
            <a:srgbClr val="2563EB"/>
          </a:solidFill>
          <a:ln w="12700">
            <a:solidFill>
              <a:srgbClr val="2563EB"/>
            </a:solidFill>
            <a:prstDash val="solid"/>
          </a:ln>
        </p:spPr>
      </p:sp>
      <p:sp>
        <p:nvSpPr>
          <p:cNvPr id="4" name="Text 2"/>
          <p:cNvSpPr/>
          <p:nvPr/>
        </p:nvSpPr>
        <p:spPr>
          <a:xfrm>
            <a:off x="667512" y="274320"/>
            <a:ext cx="7315200" cy="201168"/>
          </a:xfrm>
          <a:prstGeom prst="rect">
            <a:avLst/>
          </a:prstGeom>
          <a:noFill/>
          <a:ln/>
        </p:spPr>
        <p:txBody>
          <a:bodyPr wrap="square" lIns="0" tIns="0" rIns="0" bIns="0" rtlCol="0" anchor="ctr"/>
          <a:lstStyle/>
          <a:p>
            <a:pPr marL="0" indent="0">
              <a:buNone/>
            </a:pPr>
            <a:r>
              <a:rPr lang="en-US" sz="750" b="1" dirty="0">
                <a:solidFill>
                  <a:srgbClr val="2563EB"/>
                </a:solidFill>
              </a:rPr>
              <a:t>BEFORE THE CV</a:t>
            </a:r>
            <a:endParaRPr lang="en-US" sz="750" dirty="0"/>
          </a:p>
        </p:txBody>
      </p:sp>
      <p:sp>
        <p:nvSpPr>
          <p:cNvPr id="5" name="Text 3"/>
          <p:cNvSpPr/>
          <p:nvPr/>
        </p:nvSpPr>
        <p:spPr>
          <a:xfrm>
            <a:off x="640080" y="502920"/>
            <a:ext cx="10881360" cy="438912"/>
          </a:xfrm>
          <a:prstGeom prst="rect">
            <a:avLst/>
          </a:prstGeom>
          <a:noFill/>
          <a:ln/>
        </p:spPr>
        <p:txBody>
          <a:bodyPr wrap="square" lIns="0" tIns="0" rIns="0" bIns="0" rtlCol="0" anchor="ctr">
            <a:normAutofit/>
          </a:bodyPr>
          <a:lstStyle/>
          <a:p>
            <a:pPr marL="0" indent="0">
              <a:buNone/>
            </a:pPr>
            <a:r>
              <a:rPr lang="en-US" sz="2500" b="1" dirty="0">
                <a:solidFill>
                  <a:srgbClr val="111827"/>
                </a:solidFill>
                <a:latin typeface="Aptos Display" pitchFamily="34" charset="0"/>
                <a:ea typeface="Aptos Display" pitchFamily="34" charset="-122"/>
                <a:cs typeface="Aptos Display" pitchFamily="34" charset="-120"/>
              </a:rPr>
              <a:t>Pick a Target Before Writing Anything</a:t>
            </a:r>
            <a:endParaRPr lang="en-US" sz="2500" dirty="0"/>
          </a:p>
        </p:txBody>
      </p:sp>
      <p:sp>
        <p:nvSpPr>
          <p:cNvPr id="6" name="Text 4"/>
          <p:cNvSpPr/>
          <p:nvPr/>
        </p:nvSpPr>
        <p:spPr>
          <a:xfrm>
            <a:off x="667512" y="987552"/>
            <a:ext cx="10424160" cy="256032"/>
          </a:xfrm>
          <a:prstGeom prst="rect">
            <a:avLst/>
          </a:prstGeom>
          <a:noFill/>
          <a:ln/>
        </p:spPr>
        <p:txBody>
          <a:bodyPr wrap="square" lIns="0" tIns="0" rIns="0" bIns="0" rtlCol="0" anchor="ctr"/>
          <a:lstStyle/>
          <a:p>
            <a:pPr marL="0" indent="0">
              <a:buNone/>
            </a:pPr>
            <a:r>
              <a:rPr lang="en-US" sz="950" dirty="0">
                <a:solidFill>
                  <a:srgbClr val="5B6472"/>
                </a:solidFill>
              </a:rPr>
              <a:t>Your CV can’t be strong if it’s trying to speak to everyone</a:t>
            </a:r>
            <a:endParaRPr lang="en-US" sz="950" dirty="0"/>
          </a:p>
        </p:txBody>
      </p:sp>
      <p:sp>
        <p:nvSpPr>
          <p:cNvPr id="7" name="Shape 5"/>
          <p:cNvSpPr/>
          <p:nvPr/>
        </p:nvSpPr>
        <p:spPr>
          <a:xfrm>
            <a:off x="640080" y="1325880"/>
            <a:ext cx="10881360" cy="0"/>
          </a:xfrm>
          <a:prstGeom prst="line">
            <a:avLst/>
          </a:prstGeom>
          <a:noFill/>
          <a:ln w="12700">
            <a:solidFill>
              <a:srgbClr val="D6D3D1"/>
            </a:solidFill>
            <a:prstDash val="solid"/>
          </a:ln>
        </p:spPr>
      </p:sp>
      <p:sp>
        <p:nvSpPr>
          <p:cNvPr id="8" name="Shape 6"/>
          <p:cNvSpPr/>
          <p:nvPr/>
        </p:nvSpPr>
        <p:spPr>
          <a:xfrm>
            <a:off x="914400" y="1627632"/>
            <a:ext cx="3017520" cy="3200400"/>
          </a:xfrm>
          <a:prstGeom prst="roundRect">
            <a:avLst>
              <a:gd name="adj" fmla="val 2424"/>
            </a:avLst>
          </a:prstGeom>
          <a:solidFill>
            <a:srgbClr val="E0F2FE"/>
          </a:solidFill>
          <a:ln w="12700">
            <a:solidFill>
              <a:srgbClr val="E8E2DE"/>
            </a:solidFill>
            <a:prstDash val="solid"/>
          </a:ln>
        </p:spPr>
      </p:sp>
      <p:sp>
        <p:nvSpPr>
          <p:cNvPr id="9" name="Shape 7"/>
          <p:cNvSpPr/>
          <p:nvPr/>
        </p:nvSpPr>
        <p:spPr>
          <a:xfrm>
            <a:off x="4572000" y="1627632"/>
            <a:ext cx="3017520" cy="3200400"/>
          </a:xfrm>
          <a:prstGeom prst="roundRect">
            <a:avLst>
              <a:gd name="adj" fmla="val 2424"/>
            </a:avLst>
          </a:prstGeom>
          <a:solidFill>
            <a:srgbClr val="FFFFFF"/>
          </a:solidFill>
          <a:ln w="12700">
            <a:solidFill>
              <a:srgbClr val="E8E2DE"/>
            </a:solidFill>
            <a:prstDash val="solid"/>
          </a:ln>
        </p:spPr>
      </p:sp>
      <p:sp>
        <p:nvSpPr>
          <p:cNvPr id="10" name="Shape 8"/>
          <p:cNvSpPr/>
          <p:nvPr/>
        </p:nvSpPr>
        <p:spPr>
          <a:xfrm>
            <a:off x="8229600" y="1627632"/>
            <a:ext cx="3017520" cy="3200400"/>
          </a:xfrm>
          <a:prstGeom prst="roundRect">
            <a:avLst>
              <a:gd name="adj" fmla="val 2424"/>
            </a:avLst>
          </a:prstGeom>
          <a:solidFill>
            <a:srgbClr val="EDE9FE"/>
          </a:solidFill>
          <a:ln w="12700">
            <a:solidFill>
              <a:srgbClr val="E8E2DE"/>
            </a:solidFill>
            <a:prstDash val="solid"/>
          </a:ln>
        </p:spPr>
      </p:sp>
      <p:sp>
        <p:nvSpPr>
          <p:cNvPr id="11" name="Text 9"/>
          <p:cNvSpPr/>
          <p:nvPr/>
        </p:nvSpPr>
        <p:spPr>
          <a:xfrm>
            <a:off x="1234440" y="1901952"/>
            <a:ext cx="365760" cy="320040"/>
          </a:xfrm>
          <a:prstGeom prst="rect">
            <a:avLst/>
          </a:prstGeom>
          <a:noFill/>
          <a:ln/>
        </p:spPr>
        <p:txBody>
          <a:bodyPr wrap="square" lIns="0" tIns="0" rIns="0" bIns="0" rtlCol="0" anchor="ctr"/>
          <a:lstStyle/>
          <a:p>
            <a:pPr marL="0" indent="0">
              <a:buNone/>
            </a:pPr>
            <a:r>
              <a:rPr lang="en-US" sz="2000" b="1" dirty="0">
                <a:solidFill>
                  <a:srgbClr val="2563EB"/>
                </a:solidFill>
              </a:rPr>
              <a:t>1</a:t>
            </a:r>
            <a:endParaRPr lang="en-US" sz="2000" dirty="0"/>
          </a:p>
        </p:txBody>
      </p:sp>
      <p:sp>
        <p:nvSpPr>
          <p:cNvPr id="12" name="Text 10"/>
          <p:cNvSpPr/>
          <p:nvPr/>
        </p:nvSpPr>
        <p:spPr>
          <a:xfrm>
            <a:off x="1691640" y="1965960"/>
            <a:ext cx="1645920" cy="210312"/>
          </a:xfrm>
          <a:prstGeom prst="rect">
            <a:avLst/>
          </a:prstGeom>
          <a:noFill/>
          <a:ln/>
        </p:spPr>
        <p:txBody>
          <a:bodyPr wrap="square" lIns="0" tIns="0" rIns="0" bIns="0" rtlCol="0" anchor="ctr"/>
          <a:lstStyle/>
          <a:p>
            <a:pPr marL="0" indent="0">
              <a:buNone/>
            </a:pPr>
            <a:r>
              <a:rPr lang="en-US" sz="1400" b="1" dirty="0">
                <a:solidFill>
                  <a:srgbClr val="152238"/>
                </a:solidFill>
              </a:rPr>
              <a:t>Target roles</a:t>
            </a:r>
            <a:endParaRPr lang="en-US" sz="1400" dirty="0"/>
          </a:p>
        </p:txBody>
      </p:sp>
      <p:sp>
        <p:nvSpPr>
          <p:cNvPr id="13" name="Text 11"/>
          <p:cNvSpPr/>
          <p:nvPr/>
        </p:nvSpPr>
        <p:spPr>
          <a:xfrm>
            <a:off x="1234440" y="2560320"/>
            <a:ext cx="2194560" cy="658368"/>
          </a:xfrm>
          <a:prstGeom prst="rect">
            <a:avLst/>
          </a:prstGeom>
          <a:noFill/>
          <a:ln/>
        </p:spPr>
        <p:txBody>
          <a:bodyPr wrap="square" lIns="0" tIns="0" rIns="0" bIns="0" rtlCol="0" anchor="ctr">
            <a:normAutofit/>
          </a:bodyPr>
          <a:lstStyle/>
          <a:p>
            <a:pPr marL="0" indent="0">
              <a:buNone/>
            </a:pPr>
            <a:r>
              <a:rPr lang="en-US" sz="1000" dirty="0">
                <a:solidFill>
                  <a:srgbClr val="5B6472"/>
                </a:solidFill>
              </a:rPr>
              <a:t>Choose 2–3 maximum: e.g., Frontend Developer, QA Engineer, Data Analyst.</a:t>
            </a:r>
            <a:endParaRPr lang="en-US" sz="1000" dirty="0"/>
          </a:p>
        </p:txBody>
      </p:sp>
      <p:sp>
        <p:nvSpPr>
          <p:cNvPr id="14" name="Text 12"/>
          <p:cNvSpPr/>
          <p:nvPr/>
        </p:nvSpPr>
        <p:spPr>
          <a:xfrm>
            <a:off x="4892040" y="1901952"/>
            <a:ext cx="365760" cy="320040"/>
          </a:xfrm>
          <a:prstGeom prst="rect">
            <a:avLst/>
          </a:prstGeom>
          <a:noFill/>
          <a:ln/>
        </p:spPr>
        <p:txBody>
          <a:bodyPr wrap="square" lIns="0" tIns="0" rIns="0" bIns="0" rtlCol="0" anchor="ctr"/>
          <a:lstStyle/>
          <a:p>
            <a:pPr marL="0" indent="0">
              <a:buNone/>
            </a:pPr>
            <a:r>
              <a:rPr lang="en-US" sz="2000" b="1" dirty="0">
                <a:solidFill>
                  <a:srgbClr val="10B981"/>
                </a:solidFill>
              </a:rPr>
              <a:t>2</a:t>
            </a:r>
            <a:endParaRPr lang="en-US" sz="2000" dirty="0"/>
          </a:p>
        </p:txBody>
      </p:sp>
      <p:sp>
        <p:nvSpPr>
          <p:cNvPr id="15" name="Text 13"/>
          <p:cNvSpPr/>
          <p:nvPr/>
        </p:nvSpPr>
        <p:spPr>
          <a:xfrm>
            <a:off x="5349240" y="1965960"/>
            <a:ext cx="1645920" cy="210312"/>
          </a:xfrm>
          <a:prstGeom prst="rect">
            <a:avLst/>
          </a:prstGeom>
          <a:noFill/>
          <a:ln/>
        </p:spPr>
        <p:txBody>
          <a:bodyPr wrap="square" lIns="0" tIns="0" rIns="0" bIns="0" rtlCol="0" anchor="ctr"/>
          <a:lstStyle/>
          <a:p>
            <a:pPr marL="0" indent="0">
              <a:buNone/>
            </a:pPr>
            <a:r>
              <a:rPr lang="en-US" sz="1400" b="1" dirty="0">
                <a:solidFill>
                  <a:srgbClr val="152238"/>
                </a:solidFill>
              </a:rPr>
              <a:t>Target skills</a:t>
            </a:r>
            <a:endParaRPr lang="en-US" sz="1400" dirty="0"/>
          </a:p>
        </p:txBody>
      </p:sp>
      <p:sp>
        <p:nvSpPr>
          <p:cNvPr id="16" name="Text 14"/>
          <p:cNvSpPr/>
          <p:nvPr/>
        </p:nvSpPr>
        <p:spPr>
          <a:xfrm>
            <a:off x="4892040" y="2560320"/>
            <a:ext cx="2194560" cy="594360"/>
          </a:xfrm>
          <a:prstGeom prst="rect">
            <a:avLst/>
          </a:prstGeom>
          <a:noFill/>
          <a:ln/>
        </p:spPr>
        <p:txBody>
          <a:bodyPr wrap="square" lIns="0" tIns="0" rIns="0" bIns="0" rtlCol="0" anchor="ctr">
            <a:normAutofit/>
          </a:bodyPr>
          <a:lstStyle/>
          <a:p>
            <a:pPr marL="0" indent="0">
              <a:buNone/>
            </a:pPr>
            <a:r>
              <a:rPr lang="en-US" sz="1000" dirty="0">
                <a:solidFill>
                  <a:srgbClr val="5B6472"/>
                </a:solidFill>
              </a:rPr>
              <a:t>Pick the top 5 skills you want recruiters to remember.</a:t>
            </a:r>
            <a:endParaRPr lang="en-US" sz="1000" dirty="0"/>
          </a:p>
        </p:txBody>
      </p:sp>
      <p:sp>
        <p:nvSpPr>
          <p:cNvPr id="17" name="Text 15"/>
          <p:cNvSpPr/>
          <p:nvPr/>
        </p:nvSpPr>
        <p:spPr>
          <a:xfrm>
            <a:off x="8549640" y="1901952"/>
            <a:ext cx="365760" cy="320040"/>
          </a:xfrm>
          <a:prstGeom prst="rect">
            <a:avLst/>
          </a:prstGeom>
          <a:noFill/>
          <a:ln/>
        </p:spPr>
        <p:txBody>
          <a:bodyPr wrap="square" lIns="0" tIns="0" rIns="0" bIns="0" rtlCol="0" anchor="ctr"/>
          <a:lstStyle/>
          <a:p>
            <a:pPr marL="0" indent="0">
              <a:buNone/>
            </a:pPr>
            <a:r>
              <a:rPr lang="en-US" sz="2000" b="1" dirty="0">
                <a:solidFill>
                  <a:srgbClr val="7C3AED"/>
                </a:solidFill>
              </a:rPr>
              <a:t>3</a:t>
            </a:r>
            <a:endParaRPr lang="en-US" sz="2000" dirty="0"/>
          </a:p>
        </p:txBody>
      </p:sp>
      <p:sp>
        <p:nvSpPr>
          <p:cNvPr id="18" name="Text 16"/>
          <p:cNvSpPr/>
          <p:nvPr/>
        </p:nvSpPr>
        <p:spPr>
          <a:xfrm>
            <a:off x="9006840" y="1965960"/>
            <a:ext cx="1645920" cy="210312"/>
          </a:xfrm>
          <a:prstGeom prst="rect">
            <a:avLst/>
          </a:prstGeom>
          <a:noFill/>
          <a:ln/>
        </p:spPr>
        <p:txBody>
          <a:bodyPr wrap="square" lIns="0" tIns="0" rIns="0" bIns="0" rtlCol="0" anchor="ctr"/>
          <a:lstStyle/>
          <a:p>
            <a:pPr marL="0" indent="0">
              <a:buNone/>
            </a:pPr>
            <a:r>
              <a:rPr lang="en-US" sz="1400" b="1" dirty="0">
                <a:solidFill>
                  <a:srgbClr val="152238"/>
                </a:solidFill>
              </a:rPr>
              <a:t>Target proof</a:t>
            </a:r>
            <a:endParaRPr lang="en-US" sz="1400" dirty="0"/>
          </a:p>
        </p:txBody>
      </p:sp>
      <p:sp>
        <p:nvSpPr>
          <p:cNvPr id="19" name="Text 17"/>
          <p:cNvSpPr/>
          <p:nvPr/>
        </p:nvSpPr>
        <p:spPr>
          <a:xfrm>
            <a:off x="8549640" y="2560320"/>
            <a:ext cx="2194560" cy="658368"/>
          </a:xfrm>
          <a:prstGeom prst="rect">
            <a:avLst/>
          </a:prstGeom>
          <a:noFill/>
          <a:ln/>
        </p:spPr>
        <p:txBody>
          <a:bodyPr wrap="square" lIns="0" tIns="0" rIns="0" bIns="0" rtlCol="0" anchor="ctr">
            <a:normAutofit/>
          </a:bodyPr>
          <a:lstStyle/>
          <a:p>
            <a:pPr marL="0" indent="0">
              <a:buNone/>
            </a:pPr>
            <a:r>
              <a:rPr lang="en-US" sz="1000" dirty="0">
                <a:solidFill>
                  <a:srgbClr val="5B6472"/>
                </a:solidFill>
              </a:rPr>
              <a:t>Projects, GitHub, internship, volunteering, or coursework that proves the skills.</a:t>
            </a:r>
            <a:endParaRPr lang="en-US" sz="1000" dirty="0"/>
          </a:p>
        </p:txBody>
      </p:sp>
      <p:sp>
        <p:nvSpPr>
          <p:cNvPr id="20" name="Text 18"/>
          <p:cNvSpPr/>
          <p:nvPr/>
        </p:nvSpPr>
        <p:spPr>
          <a:xfrm>
            <a:off x="1005840" y="5349240"/>
            <a:ext cx="9966960" cy="228600"/>
          </a:xfrm>
          <a:prstGeom prst="rect">
            <a:avLst/>
          </a:prstGeom>
          <a:noFill/>
          <a:ln/>
        </p:spPr>
        <p:txBody>
          <a:bodyPr wrap="square" lIns="0" tIns="0" rIns="0" bIns="0" rtlCol="0" anchor="ctr"/>
          <a:lstStyle/>
          <a:p>
            <a:pPr marL="0" indent="0" algn="ctr">
              <a:buNone/>
            </a:pPr>
            <a:r>
              <a:rPr lang="en-US" sz="1400" b="1" dirty="0">
                <a:solidFill>
                  <a:srgbClr val="2563EB"/>
                </a:solidFill>
              </a:rPr>
              <a:t>Activity: Write your target role + five skills in the chat.</a:t>
            </a:r>
            <a:endParaRPr lang="en-US" sz="1400" dirty="0"/>
          </a:p>
        </p:txBody>
      </p:sp>
      <p:sp>
        <p:nvSpPr>
          <p:cNvPr id="22" name="Text 19"/>
          <p:cNvSpPr/>
          <p:nvPr/>
        </p:nvSpPr>
        <p:spPr>
          <a:xfrm>
            <a:off x="411480" y="6510528"/>
            <a:ext cx="6400800" cy="164592"/>
          </a:xfrm>
          <a:prstGeom prst="rect">
            <a:avLst/>
          </a:prstGeom>
          <a:noFill/>
          <a:ln/>
        </p:spPr>
        <p:txBody>
          <a:bodyPr wrap="square" lIns="0" tIns="0" rIns="0" bIns="0" rtlCol="0" anchor="ctr"/>
          <a:lstStyle/>
          <a:p>
            <a:pPr marL="0" indent="0">
              <a:buNone/>
            </a:pPr>
            <a:r>
              <a:rPr lang="en-US" sz="600" dirty="0">
                <a:solidFill>
                  <a:srgbClr val="7C7C7C"/>
                </a:solidFill>
                <a:latin typeface="Aptos" pitchFamily="34" charset="0"/>
                <a:ea typeface="Aptos" pitchFamily="34" charset="-122"/>
                <a:cs typeface="Aptos" pitchFamily="34" charset="-120"/>
              </a:rPr>
              <a:t>What's Next After Graduation?  |  Farah Kerbaj</a:t>
            </a:r>
            <a:endParaRPr lang="en-US" sz="600" dirty="0"/>
          </a:p>
        </p:txBody>
      </p:sp>
      <p:sp>
        <p:nvSpPr>
          <p:cNvPr id="23" name="Text 20"/>
          <p:cNvSpPr/>
          <p:nvPr/>
        </p:nvSpPr>
        <p:spPr>
          <a:xfrm>
            <a:off x="11430000" y="6473952"/>
            <a:ext cx="320040" cy="182880"/>
          </a:xfrm>
          <a:prstGeom prst="rect">
            <a:avLst/>
          </a:prstGeom>
          <a:noFill/>
          <a:ln/>
        </p:spPr>
        <p:txBody>
          <a:bodyPr wrap="square" lIns="0" tIns="0" rIns="0" bIns="0" rtlCol="0" anchor="ctr"/>
          <a:lstStyle/>
          <a:p>
            <a:pPr marL="0" indent="0" algn="r">
              <a:buNone/>
            </a:pPr>
            <a:r>
              <a:rPr lang="en-US" sz="700" dirty="0">
                <a:solidFill>
                  <a:srgbClr val="7C7C7C"/>
                </a:solidFill>
              </a:rPr>
              <a:t>9</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F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F2"/>
          </a:solidFill>
          <a:ln w="12700">
            <a:solidFill>
              <a:srgbClr val="F7F4F2">
                <a:alpha val="0"/>
              </a:srgbClr>
            </a:solidFill>
            <a:prstDash val="solid"/>
          </a:ln>
        </p:spPr>
      </p:sp>
      <p:sp>
        <p:nvSpPr>
          <p:cNvPr id="3" name="Shape 1"/>
          <p:cNvSpPr/>
          <p:nvPr/>
        </p:nvSpPr>
        <p:spPr>
          <a:xfrm>
            <a:off x="0" y="0"/>
            <a:ext cx="12191695" cy="73152"/>
          </a:xfrm>
          <a:prstGeom prst="rect">
            <a:avLst/>
          </a:prstGeom>
          <a:solidFill>
            <a:srgbClr val="00A8CC"/>
          </a:solidFill>
          <a:ln w="12700">
            <a:solidFill>
              <a:srgbClr val="00A8CC"/>
            </a:solidFill>
            <a:prstDash val="solid"/>
          </a:ln>
        </p:spPr>
      </p:sp>
      <p:sp>
        <p:nvSpPr>
          <p:cNvPr id="4" name="Text 2"/>
          <p:cNvSpPr/>
          <p:nvPr/>
        </p:nvSpPr>
        <p:spPr>
          <a:xfrm>
            <a:off x="667512" y="274320"/>
            <a:ext cx="7315200" cy="201168"/>
          </a:xfrm>
          <a:prstGeom prst="rect">
            <a:avLst/>
          </a:prstGeom>
          <a:noFill/>
          <a:ln/>
        </p:spPr>
        <p:txBody>
          <a:bodyPr wrap="square" lIns="0" tIns="0" rIns="0" bIns="0" rtlCol="0" anchor="ctr"/>
          <a:lstStyle/>
          <a:p>
            <a:pPr marL="0" indent="0">
              <a:buNone/>
            </a:pPr>
            <a:r>
              <a:rPr lang="en-US" sz="750" b="1" dirty="0">
                <a:solidFill>
                  <a:srgbClr val="00A8CC"/>
                </a:solidFill>
              </a:rPr>
              <a:t>WHAT SHOULD YOU FOCUS ON?</a:t>
            </a:r>
            <a:endParaRPr lang="en-US" sz="750" dirty="0"/>
          </a:p>
        </p:txBody>
      </p:sp>
      <p:sp>
        <p:nvSpPr>
          <p:cNvPr id="5" name="Text 3"/>
          <p:cNvSpPr/>
          <p:nvPr/>
        </p:nvSpPr>
        <p:spPr>
          <a:xfrm>
            <a:off x="640080" y="502920"/>
            <a:ext cx="10881360" cy="438912"/>
          </a:xfrm>
          <a:prstGeom prst="rect">
            <a:avLst/>
          </a:prstGeom>
          <a:noFill/>
          <a:ln/>
        </p:spPr>
        <p:txBody>
          <a:bodyPr wrap="square" lIns="0" tIns="0" rIns="0" bIns="0" rtlCol="0" anchor="ctr">
            <a:normAutofit/>
          </a:bodyPr>
          <a:lstStyle/>
          <a:p>
            <a:pPr marL="0" indent="0">
              <a:buNone/>
            </a:pPr>
            <a:r>
              <a:rPr lang="en-US" sz="2500" b="1" dirty="0">
                <a:solidFill>
                  <a:srgbClr val="111827"/>
                </a:solidFill>
                <a:latin typeface="Aptos Display" pitchFamily="34" charset="0"/>
                <a:ea typeface="Aptos Display" pitchFamily="34" charset="-122"/>
                <a:cs typeface="Aptos Display" pitchFamily="34" charset="-120"/>
              </a:rPr>
              <a:t>Sample Tech Roadmaps</a:t>
            </a:r>
            <a:endParaRPr lang="en-US" sz="2500" dirty="0"/>
          </a:p>
        </p:txBody>
      </p:sp>
      <p:sp>
        <p:nvSpPr>
          <p:cNvPr id="6" name="Text 4"/>
          <p:cNvSpPr/>
          <p:nvPr/>
        </p:nvSpPr>
        <p:spPr>
          <a:xfrm>
            <a:off x="667512" y="987552"/>
            <a:ext cx="10424160" cy="256032"/>
          </a:xfrm>
          <a:prstGeom prst="rect">
            <a:avLst/>
          </a:prstGeom>
          <a:noFill/>
          <a:ln/>
        </p:spPr>
        <p:txBody>
          <a:bodyPr wrap="square" lIns="0" tIns="0" rIns="0" bIns="0" rtlCol="0" anchor="ctr"/>
          <a:lstStyle/>
          <a:p>
            <a:pPr marL="0" indent="0">
              <a:buNone/>
            </a:pPr>
            <a:r>
              <a:rPr lang="en-US" sz="950" dirty="0">
                <a:solidFill>
                  <a:srgbClr val="5B6472"/>
                </a:solidFill>
              </a:rPr>
              <a:t>Different paths, same rule: build proof</a:t>
            </a:r>
            <a:endParaRPr lang="en-US" sz="950" dirty="0"/>
          </a:p>
        </p:txBody>
      </p:sp>
      <p:sp>
        <p:nvSpPr>
          <p:cNvPr id="7" name="Shape 5"/>
          <p:cNvSpPr/>
          <p:nvPr/>
        </p:nvSpPr>
        <p:spPr>
          <a:xfrm>
            <a:off x="640080" y="1325880"/>
            <a:ext cx="10881360" cy="0"/>
          </a:xfrm>
          <a:prstGeom prst="line">
            <a:avLst/>
          </a:prstGeom>
          <a:noFill/>
          <a:ln w="12700">
            <a:solidFill>
              <a:srgbClr val="D6D3D1"/>
            </a:solidFill>
            <a:prstDash val="solid"/>
          </a:ln>
        </p:spPr>
      </p:sp>
      <p:sp>
        <p:nvSpPr>
          <p:cNvPr id="8" name="Shape 6"/>
          <p:cNvSpPr/>
          <p:nvPr/>
        </p:nvSpPr>
        <p:spPr>
          <a:xfrm>
            <a:off x="640080" y="1600200"/>
            <a:ext cx="2697480" cy="3977640"/>
          </a:xfrm>
          <a:prstGeom prst="roundRect">
            <a:avLst>
              <a:gd name="adj" fmla="val 2712"/>
            </a:avLst>
          </a:prstGeom>
          <a:solidFill>
            <a:srgbClr val="FFFFFF"/>
          </a:solidFill>
          <a:ln w="12700">
            <a:solidFill>
              <a:srgbClr val="E8E2DE"/>
            </a:solidFill>
            <a:prstDash val="solid"/>
          </a:ln>
        </p:spPr>
      </p:sp>
      <p:sp>
        <p:nvSpPr>
          <p:cNvPr id="9" name="Text 7"/>
          <p:cNvSpPr/>
          <p:nvPr/>
        </p:nvSpPr>
        <p:spPr>
          <a:xfrm>
            <a:off x="868680" y="1828800"/>
            <a:ext cx="2194560" cy="228600"/>
          </a:xfrm>
          <a:prstGeom prst="rect">
            <a:avLst/>
          </a:prstGeom>
          <a:noFill/>
          <a:ln/>
        </p:spPr>
        <p:txBody>
          <a:bodyPr wrap="square" lIns="0" tIns="0" rIns="0" bIns="0" rtlCol="0" anchor="ctr"/>
          <a:lstStyle/>
          <a:p>
            <a:pPr marL="0" indent="0" algn="ctr">
              <a:buNone/>
            </a:pPr>
            <a:r>
              <a:rPr lang="en-US" sz="1300" b="1" dirty="0">
                <a:solidFill>
                  <a:srgbClr val="2563EB"/>
                </a:solidFill>
              </a:rPr>
              <a:t>FRONTEND</a:t>
            </a:r>
            <a:endParaRPr lang="en-US" sz="1300" dirty="0"/>
          </a:p>
        </p:txBody>
      </p:sp>
      <p:sp>
        <p:nvSpPr>
          <p:cNvPr id="10" name="Text 8"/>
          <p:cNvSpPr/>
          <p:nvPr/>
        </p:nvSpPr>
        <p:spPr>
          <a:xfrm>
            <a:off x="987552" y="2331720"/>
            <a:ext cx="1920240" cy="164592"/>
          </a:xfrm>
          <a:prstGeom prst="rect">
            <a:avLst/>
          </a:prstGeom>
          <a:noFill/>
          <a:ln/>
        </p:spPr>
        <p:txBody>
          <a:bodyPr wrap="square" lIns="0" tIns="0" rIns="0" bIns="0" rtlCol="0" anchor="ctr">
            <a:normAutofit/>
          </a:bodyPr>
          <a:lstStyle/>
          <a:p>
            <a:pPr marL="0" indent="0" algn="ctr">
              <a:buNone/>
            </a:pPr>
            <a:r>
              <a:rPr lang="en-US" sz="860" dirty="0">
                <a:solidFill>
                  <a:srgbClr val="111827"/>
                </a:solidFill>
              </a:rPr>
              <a:t>HTML</a:t>
            </a:r>
            <a:endParaRPr lang="en-US" sz="860" dirty="0"/>
          </a:p>
        </p:txBody>
      </p:sp>
      <p:sp>
        <p:nvSpPr>
          <p:cNvPr id="11" name="Text 9"/>
          <p:cNvSpPr/>
          <p:nvPr/>
        </p:nvSpPr>
        <p:spPr>
          <a:xfrm>
            <a:off x="1883664" y="2542032"/>
            <a:ext cx="182880" cy="128016"/>
          </a:xfrm>
          <a:prstGeom prst="rect">
            <a:avLst/>
          </a:prstGeom>
          <a:noFill/>
          <a:ln/>
        </p:spPr>
        <p:txBody>
          <a:bodyPr wrap="square" lIns="0" tIns="0" rIns="0" bIns="0" rtlCol="0" anchor="ctr"/>
          <a:lstStyle/>
          <a:p>
            <a:pPr marL="0" indent="0">
              <a:buNone/>
            </a:pPr>
            <a:r>
              <a:rPr lang="en-US" sz="700" dirty="0">
                <a:solidFill>
                  <a:srgbClr val="5B6472"/>
                </a:solidFill>
              </a:rPr>
              <a:t>↓</a:t>
            </a:r>
            <a:endParaRPr lang="en-US" sz="700" dirty="0"/>
          </a:p>
        </p:txBody>
      </p:sp>
      <p:sp>
        <p:nvSpPr>
          <p:cNvPr id="12" name="Text 10"/>
          <p:cNvSpPr/>
          <p:nvPr/>
        </p:nvSpPr>
        <p:spPr>
          <a:xfrm>
            <a:off x="987552" y="2660904"/>
            <a:ext cx="1920240" cy="164592"/>
          </a:xfrm>
          <a:prstGeom prst="rect">
            <a:avLst/>
          </a:prstGeom>
          <a:noFill/>
          <a:ln/>
        </p:spPr>
        <p:txBody>
          <a:bodyPr wrap="square" lIns="0" tIns="0" rIns="0" bIns="0" rtlCol="0" anchor="ctr">
            <a:normAutofit/>
          </a:bodyPr>
          <a:lstStyle/>
          <a:p>
            <a:pPr marL="0" indent="0" algn="ctr">
              <a:buNone/>
            </a:pPr>
            <a:r>
              <a:rPr lang="en-US" sz="860" dirty="0">
                <a:solidFill>
                  <a:srgbClr val="111827"/>
                </a:solidFill>
              </a:rPr>
              <a:t>CSS</a:t>
            </a:r>
            <a:endParaRPr lang="en-US" sz="860" dirty="0"/>
          </a:p>
        </p:txBody>
      </p:sp>
      <p:sp>
        <p:nvSpPr>
          <p:cNvPr id="13" name="Text 11"/>
          <p:cNvSpPr/>
          <p:nvPr/>
        </p:nvSpPr>
        <p:spPr>
          <a:xfrm>
            <a:off x="1883664" y="2871216"/>
            <a:ext cx="182880" cy="128016"/>
          </a:xfrm>
          <a:prstGeom prst="rect">
            <a:avLst/>
          </a:prstGeom>
          <a:noFill/>
          <a:ln/>
        </p:spPr>
        <p:txBody>
          <a:bodyPr wrap="square" lIns="0" tIns="0" rIns="0" bIns="0" rtlCol="0" anchor="ctr"/>
          <a:lstStyle/>
          <a:p>
            <a:pPr marL="0" indent="0">
              <a:buNone/>
            </a:pPr>
            <a:r>
              <a:rPr lang="en-US" sz="700" dirty="0">
                <a:solidFill>
                  <a:srgbClr val="5B6472"/>
                </a:solidFill>
              </a:rPr>
              <a:t>↓</a:t>
            </a:r>
            <a:endParaRPr lang="en-US" sz="700" dirty="0"/>
          </a:p>
        </p:txBody>
      </p:sp>
      <p:sp>
        <p:nvSpPr>
          <p:cNvPr id="14" name="Text 12"/>
          <p:cNvSpPr/>
          <p:nvPr/>
        </p:nvSpPr>
        <p:spPr>
          <a:xfrm>
            <a:off x="987552" y="2990088"/>
            <a:ext cx="1920240" cy="164592"/>
          </a:xfrm>
          <a:prstGeom prst="rect">
            <a:avLst/>
          </a:prstGeom>
          <a:noFill/>
          <a:ln/>
        </p:spPr>
        <p:txBody>
          <a:bodyPr wrap="square" lIns="0" tIns="0" rIns="0" bIns="0" rtlCol="0" anchor="ctr">
            <a:normAutofit/>
          </a:bodyPr>
          <a:lstStyle/>
          <a:p>
            <a:pPr marL="0" indent="0" algn="ctr">
              <a:buNone/>
            </a:pPr>
            <a:r>
              <a:rPr lang="en-US" sz="860" dirty="0">
                <a:solidFill>
                  <a:srgbClr val="111827"/>
                </a:solidFill>
              </a:rPr>
              <a:t>JavaScript</a:t>
            </a:r>
            <a:endParaRPr lang="en-US" sz="860" dirty="0"/>
          </a:p>
        </p:txBody>
      </p:sp>
      <p:sp>
        <p:nvSpPr>
          <p:cNvPr id="15" name="Text 13"/>
          <p:cNvSpPr/>
          <p:nvPr/>
        </p:nvSpPr>
        <p:spPr>
          <a:xfrm>
            <a:off x="1883664" y="3200400"/>
            <a:ext cx="182880" cy="128016"/>
          </a:xfrm>
          <a:prstGeom prst="rect">
            <a:avLst/>
          </a:prstGeom>
          <a:noFill/>
          <a:ln/>
        </p:spPr>
        <p:txBody>
          <a:bodyPr wrap="square" lIns="0" tIns="0" rIns="0" bIns="0" rtlCol="0" anchor="ctr"/>
          <a:lstStyle/>
          <a:p>
            <a:pPr marL="0" indent="0">
              <a:buNone/>
            </a:pPr>
            <a:r>
              <a:rPr lang="en-US" sz="700" dirty="0">
                <a:solidFill>
                  <a:srgbClr val="5B6472"/>
                </a:solidFill>
              </a:rPr>
              <a:t>↓</a:t>
            </a:r>
            <a:endParaRPr lang="en-US" sz="700" dirty="0"/>
          </a:p>
        </p:txBody>
      </p:sp>
      <p:sp>
        <p:nvSpPr>
          <p:cNvPr id="16" name="Text 14"/>
          <p:cNvSpPr/>
          <p:nvPr/>
        </p:nvSpPr>
        <p:spPr>
          <a:xfrm>
            <a:off x="987552" y="3319272"/>
            <a:ext cx="1920240" cy="164592"/>
          </a:xfrm>
          <a:prstGeom prst="rect">
            <a:avLst/>
          </a:prstGeom>
          <a:noFill/>
          <a:ln/>
        </p:spPr>
        <p:txBody>
          <a:bodyPr wrap="square" lIns="0" tIns="0" rIns="0" bIns="0" rtlCol="0" anchor="ctr">
            <a:normAutofit/>
          </a:bodyPr>
          <a:lstStyle/>
          <a:p>
            <a:pPr marL="0" indent="0" algn="ctr">
              <a:buNone/>
            </a:pPr>
            <a:r>
              <a:rPr lang="en-US" sz="860" dirty="0">
                <a:solidFill>
                  <a:srgbClr val="111827"/>
                </a:solidFill>
              </a:rPr>
              <a:t>React</a:t>
            </a:r>
            <a:endParaRPr lang="en-US" sz="860" dirty="0"/>
          </a:p>
        </p:txBody>
      </p:sp>
      <p:sp>
        <p:nvSpPr>
          <p:cNvPr id="17" name="Text 15"/>
          <p:cNvSpPr/>
          <p:nvPr/>
        </p:nvSpPr>
        <p:spPr>
          <a:xfrm>
            <a:off x="1883664" y="3529584"/>
            <a:ext cx="182880" cy="128016"/>
          </a:xfrm>
          <a:prstGeom prst="rect">
            <a:avLst/>
          </a:prstGeom>
          <a:noFill/>
          <a:ln/>
        </p:spPr>
        <p:txBody>
          <a:bodyPr wrap="square" lIns="0" tIns="0" rIns="0" bIns="0" rtlCol="0" anchor="ctr"/>
          <a:lstStyle/>
          <a:p>
            <a:pPr marL="0" indent="0">
              <a:buNone/>
            </a:pPr>
            <a:r>
              <a:rPr lang="en-US" sz="700" dirty="0">
                <a:solidFill>
                  <a:srgbClr val="5B6472"/>
                </a:solidFill>
              </a:rPr>
              <a:t>↓</a:t>
            </a:r>
            <a:endParaRPr lang="en-US" sz="700" dirty="0"/>
          </a:p>
        </p:txBody>
      </p:sp>
      <p:sp>
        <p:nvSpPr>
          <p:cNvPr id="18" name="Text 16"/>
          <p:cNvSpPr/>
          <p:nvPr/>
        </p:nvSpPr>
        <p:spPr>
          <a:xfrm>
            <a:off x="987552" y="3648456"/>
            <a:ext cx="1920240" cy="164592"/>
          </a:xfrm>
          <a:prstGeom prst="rect">
            <a:avLst/>
          </a:prstGeom>
          <a:noFill/>
          <a:ln/>
        </p:spPr>
        <p:txBody>
          <a:bodyPr wrap="square" lIns="0" tIns="0" rIns="0" bIns="0" rtlCol="0" anchor="ctr">
            <a:normAutofit/>
          </a:bodyPr>
          <a:lstStyle/>
          <a:p>
            <a:pPr marL="0" indent="0" algn="ctr">
              <a:buNone/>
            </a:pPr>
            <a:r>
              <a:rPr lang="en-US" sz="860" dirty="0">
                <a:solidFill>
                  <a:srgbClr val="111827"/>
                </a:solidFill>
              </a:rPr>
              <a:t>Next.js</a:t>
            </a:r>
            <a:endParaRPr lang="en-US" sz="860" dirty="0"/>
          </a:p>
        </p:txBody>
      </p:sp>
      <p:sp>
        <p:nvSpPr>
          <p:cNvPr id="19" name="Text 17"/>
          <p:cNvSpPr/>
          <p:nvPr/>
        </p:nvSpPr>
        <p:spPr>
          <a:xfrm>
            <a:off x="1883664" y="3858768"/>
            <a:ext cx="182880" cy="128016"/>
          </a:xfrm>
          <a:prstGeom prst="rect">
            <a:avLst/>
          </a:prstGeom>
          <a:noFill/>
          <a:ln/>
        </p:spPr>
        <p:txBody>
          <a:bodyPr wrap="square" lIns="0" tIns="0" rIns="0" bIns="0" rtlCol="0" anchor="ctr"/>
          <a:lstStyle/>
          <a:p>
            <a:pPr marL="0" indent="0">
              <a:buNone/>
            </a:pPr>
            <a:r>
              <a:rPr lang="en-US" sz="700" dirty="0">
                <a:solidFill>
                  <a:srgbClr val="5B6472"/>
                </a:solidFill>
              </a:rPr>
              <a:t>↓</a:t>
            </a:r>
            <a:endParaRPr lang="en-US" sz="700" dirty="0"/>
          </a:p>
        </p:txBody>
      </p:sp>
      <p:sp>
        <p:nvSpPr>
          <p:cNvPr id="20" name="Text 18"/>
          <p:cNvSpPr/>
          <p:nvPr/>
        </p:nvSpPr>
        <p:spPr>
          <a:xfrm>
            <a:off x="987552" y="3977640"/>
            <a:ext cx="1920240" cy="164592"/>
          </a:xfrm>
          <a:prstGeom prst="rect">
            <a:avLst/>
          </a:prstGeom>
          <a:noFill/>
          <a:ln/>
        </p:spPr>
        <p:txBody>
          <a:bodyPr wrap="square" lIns="0" tIns="0" rIns="0" bIns="0" rtlCol="0" anchor="ctr">
            <a:normAutofit/>
          </a:bodyPr>
          <a:lstStyle/>
          <a:p>
            <a:pPr marL="0" indent="0" algn="ctr">
              <a:buNone/>
            </a:pPr>
            <a:r>
              <a:rPr lang="en-US" sz="860" dirty="0">
                <a:solidFill>
                  <a:srgbClr val="111827"/>
                </a:solidFill>
              </a:rPr>
              <a:t>TypeScript</a:t>
            </a:r>
            <a:endParaRPr lang="en-US" sz="860" dirty="0"/>
          </a:p>
        </p:txBody>
      </p:sp>
      <p:sp>
        <p:nvSpPr>
          <p:cNvPr id="21" name="Text 19"/>
          <p:cNvSpPr/>
          <p:nvPr/>
        </p:nvSpPr>
        <p:spPr>
          <a:xfrm>
            <a:off x="1883664" y="4187952"/>
            <a:ext cx="182880" cy="128016"/>
          </a:xfrm>
          <a:prstGeom prst="rect">
            <a:avLst/>
          </a:prstGeom>
          <a:noFill/>
          <a:ln/>
        </p:spPr>
        <p:txBody>
          <a:bodyPr wrap="square" lIns="0" tIns="0" rIns="0" bIns="0" rtlCol="0" anchor="ctr"/>
          <a:lstStyle/>
          <a:p>
            <a:pPr marL="0" indent="0">
              <a:buNone/>
            </a:pPr>
            <a:r>
              <a:rPr lang="en-US" sz="700" dirty="0">
                <a:solidFill>
                  <a:srgbClr val="5B6472"/>
                </a:solidFill>
              </a:rPr>
              <a:t>↓</a:t>
            </a:r>
            <a:endParaRPr lang="en-US" sz="700" dirty="0"/>
          </a:p>
        </p:txBody>
      </p:sp>
      <p:sp>
        <p:nvSpPr>
          <p:cNvPr id="22" name="Text 20"/>
          <p:cNvSpPr/>
          <p:nvPr/>
        </p:nvSpPr>
        <p:spPr>
          <a:xfrm>
            <a:off x="987552" y="4306824"/>
            <a:ext cx="1920240" cy="164592"/>
          </a:xfrm>
          <a:prstGeom prst="rect">
            <a:avLst/>
          </a:prstGeom>
          <a:noFill/>
          <a:ln/>
        </p:spPr>
        <p:txBody>
          <a:bodyPr wrap="square" lIns="0" tIns="0" rIns="0" bIns="0" rtlCol="0" anchor="ctr">
            <a:normAutofit/>
          </a:bodyPr>
          <a:lstStyle/>
          <a:p>
            <a:pPr marL="0" indent="0" algn="ctr">
              <a:buNone/>
            </a:pPr>
            <a:r>
              <a:rPr lang="en-US" sz="860" dirty="0">
                <a:solidFill>
                  <a:srgbClr val="111827"/>
                </a:solidFill>
              </a:rPr>
              <a:t>Projects</a:t>
            </a:r>
            <a:endParaRPr lang="en-US" sz="860" dirty="0"/>
          </a:p>
        </p:txBody>
      </p:sp>
      <p:sp>
        <p:nvSpPr>
          <p:cNvPr id="23" name="Shape 21"/>
          <p:cNvSpPr/>
          <p:nvPr/>
        </p:nvSpPr>
        <p:spPr>
          <a:xfrm>
            <a:off x="3520440" y="1600200"/>
            <a:ext cx="2697480" cy="3977640"/>
          </a:xfrm>
          <a:prstGeom prst="roundRect">
            <a:avLst>
              <a:gd name="adj" fmla="val 2712"/>
            </a:avLst>
          </a:prstGeom>
          <a:solidFill>
            <a:srgbClr val="FFFFFF"/>
          </a:solidFill>
          <a:ln w="12700">
            <a:solidFill>
              <a:srgbClr val="E8E2DE"/>
            </a:solidFill>
            <a:prstDash val="solid"/>
          </a:ln>
        </p:spPr>
      </p:sp>
      <p:sp>
        <p:nvSpPr>
          <p:cNvPr id="24" name="Text 22"/>
          <p:cNvSpPr/>
          <p:nvPr/>
        </p:nvSpPr>
        <p:spPr>
          <a:xfrm>
            <a:off x="3749040" y="1828800"/>
            <a:ext cx="2194560" cy="228600"/>
          </a:xfrm>
          <a:prstGeom prst="rect">
            <a:avLst/>
          </a:prstGeom>
          <a:noFill/>
          <a:ln/>
        </p:spPr>
        <p:txBody>
          <a:bodyPr wrap="square" lIns="0" tIns="0" rIns="0" bIns="0" rtlCol="0" anchor="ctr"/>
          <a:lstStyle/>
          <a:p>
            <a:pPr marL="0" indent="0" algn="ctr">
              <a:buNone/>
            </a:pPr>
            <a:r>
              <a:rPr lang="en-US" sz="1300" b="1" dirty="0">
                <a:solidFill>
                  <a:srgbClr val="10B981"/>
                </a:solidFill>
              </a:rPr>
              <a:t>BACKEND</a:t>
            </a:r>
            <a:endParaRPr lang="en-US" sz="1300" dirty="0"/>
          </a:p>
        </p:txBody>
      </p:sp>
      <p:sp>
        <p:nvSpPr>
          <p:cNvPr id="25" name="Text 23"/>
          <p:cNvSpPr/>
          <p:nvPr/>
        </p:nvSpPr>
        <p:spPr>
          <a:xfrm>
            <a:off x="3867912" y="2331720"/>
            <a:ext cx="1920240" cy="164592"/>
          </a:xfrm>
          <a:prstGeom prst="rect">
            <a:avLst/>
          </a:prstGeom>
          <a:noFill/>
          <a:ln/>
        </p:spPr>
        <p:txBody>
          <a:bodyPr wrap="square" lIns="0" tIns="0" rIns="0" bIns="0" rtlCol="0" anchor="ctr">
            <a:normAutofit/>
          </a:bodyPr>
          <a:lstStyle/>
          <a:p>
            <a:pPr marL="0" indent="0" algn="ctr">
              <a:buNone/>
            </a:pPr>
            <a:r>
              <a:rPr lang="en-US" sz="860" dirty="0">
                <a:solidFill>
                  <a:srgbClr val="111827"/>
                </a:solidFill>
              </a:rPr>
              <a:t>Java</a:t>
            </a:r>
            <a:endParaRPr lang="en-US" sz="860" dirty="0"/>
          </a:p>
        </p:txBody>
      </p:sp>
      <p:sp>
        <p:nvSpPr>
          <p:cNvPr id="26" name="Text 24"/>
          <p:cNvSpPr/>
          <p:nvPr/>
        </p:nvSpPr>
        <p:spPr>
          <a:xfrm>
            <a:off x="4764024" y="2542032"/>
            <a:ext cx="182880" cy="128016"/>
          </a:xfrm>
          <a:prstGeom prst="rect">
            <a:avLst/>
          </a:prstGeom>
          <a:noFill/>
          <a:ln/>
        </p:spPr>
        <p:txBody>
          <a:bodyPr wrap="square" lIns="0" tIns="0" rIns="0" bIns="0" rtlCol="0" anchor="ctr"/>
          <a:lstStyle/>
          <a:p>
            <a:pPr marL="0" indent="0">
              <a:buNone/>
            </a:pPr>
            <a:r>
              <a:rPr lang="en-US" sz="700" dirty="0">
                <a:solidFill>
                  <a:srgbClr val="5B6472"/>
                </a:solidFill>
              </a:rPr>
              <a:t>↓</a:t>
            </a:r>
            <a:endParaRPr lang="en-US" sz="700" dirty="0"/>
          </a:p>
        </p:txBody>
      </p:sp>
      <p:sp>
        <p:nvSpPr>
          <p:cNvPr id="27" name="Text 25"/>
          <p:cNvSpPr/>
          <p:nvPr/>
        </p:nvSpPr>
        <p:spPr>
          <a:xfrm>
            <a:off x="3867912" y="2660904"/>
            <a:ext cx="1920240" cy="164592"/>
          </a:xfrm>
          <a:prstGeom prst="rect">
            <a:avLst/>
          </a:prstGeom>
          <a:noFill/>
          <a:ln/>
        </p:spPr>
        <p:txBody>
          <a:bodyPr wrap="square" lIns="0" tIns="0" rIns="0" bIns="0" rtlCol="0" anchor="ctr">
            <a:normAutofit/>
          </a:bodyPr>
          <a:lstStyle/>
          <a:p>
            <a:pPr marL="0" indent="0" algn="ctr">
              <a:buNone/>
            </a:pPr>
            <a:r>
              <a:rPr lang="en-US" sz="860" dirty="0">
                <a:solidFill>
                  <a:srgbClr val="111827"/>
                </a:solidFill>
              </a:rPr>
              <a:t>Spring</a:t>
            </a:r>
            <a:endParaRPr lang="en-US" sz="860" dirty="0"/>
          </a:p>
        </p:txBody>
      </p:sp>
      <p:sp>
        <p:nvSpPr>
          <p:cNvPr id="28" name="Text 26"/>
          <p:cNvSpPr/>
          <p:nvPr/>
        </p:nvSpPr>
        <p:spPr>
          <a:xfrm>
            <a:off x="4764024" y="2871216"/>
            <a:ext cx="182880" cy="128016"/>
          </a:xfrm>
          <a:prstGeom prst="rect">
            <a:avLst/>
          </a:prstGeom>
          <a:noFill/>
          <a:ln/>
        </p:spPr>
        <p:txBody>
          <a:bodyPr wrap="square" lIns="0" tIns="0" rIns="0" bIns="0" rtlCol="0" anchor="ctr"/>
          <a:lstStyle/>
          <a:p>
            <a:pPr marL="0" indent="0">
              <a:buNone/>
            </a:pPr>
            <a:r>
              <a:rPr lang="en-US" sz="700" dirty="0">
                <a:solidFill>
                  <a:srgbClr val="5B6472"/>
                </a:solidFill>
              </a:rPr>
              <a:t>↓</a:t>
            </a:r>
            <a:endParaRPr lang="en-US" sz="700" dirty="0"/>
          </a:p>
        </p:txBody>
      </p:sp>
      <p:sp>
        <p:nvSpPr>
          <p:cNvPr id="29" name="Text 27"/>
          <p:cNvSpPr/>
          <p:nvPr/>
        </p:nvSpPr>
        <p:spPr>
          <a:xfrm>
            <a:off x="3867912" y="2990088"/>
            <a:ext cx="1920240" cy="164592"/>
          </a:xfrm>
          <a:prstGeom prst="rect">
            <a:avLst/>
          </a:prstGeom>
          <a:noFill/>
          <a:ln/>
        </p:spPr>
        <p:txBody>
          <a:bodyPr wrap="square" lIns="0" tIns="0" rIns="0" bIns="0" rtlCol="0" anchor="ctr">
            <a:normAutofit/>
          </a:bodyPr>
          <a:lstStyle/>
          <a:p>
            <a:pPr marL="0" indent="0" algn="ctr">
              <a:buNone/>
            </a:pPr>
            <a:r>
              <a:rPr lang="en-US" sz="860" dirty="0">
                <a:solidFill>
                  <a:srgbClr val="111827"/>
                </a:solidFill>
              </a:rPr>
              <a:t>REST APIs</a:t>
            </a:r>
            <a:endParaRPr lang="en-US" sz="860" dirty="0"/>
          </a:p>
        </p:txBody>
      </p:sp>
      <p:sp>
        <p:nvSpPr>
          <p:cNvPr id="30" name="Text 28"/>
          <p:cNvSpPr/>
          <p:nvPr/>
        </p:nvSpPr>
        <p:spPr>
          <a:xfrm>
            <a:off x="4764024" y="3200400"/>
            <a:ext cx="182880" cy="128016"/>
          </a:xfrm>
          <a:prstGeom prst="rect">
            <a:avLst/>
          </a:prstGeom>
          <a:noFill/>
          <a:ln/>
        </p:spPr>
        <p:txBody>
          <a:bodyPr wrap="square" lIns="0" tIns="0" rIns="0" bIns="0" rtlCol="0" anchor="ctr"/>
          <a:lstStyle/>
          <a:p>
            <a:pPr marL="0" indent="0">
              <a:buNone/>
            </a:pPr>
            <a:r>
              <a:rPr lang="en-US" sz="700" dirty="0">
                <a:solidFill>
                  <a:srgbClr val="5B6472"/>
                </a:solidFill>
              </a:rPr>
              <a:t>↓</a:t>
            </a:r>
            <a:endParaRPr lang="en-US" sz="700" dirty="0"/>
          </a:p>
        </p:txBody>
      </p:sp>
      <p:sp>
        <p:nvSpPr>
          <p:cNvPr id="31" name="Text 29"/>
          <p:cNvSpPr/>
          <p:nvPr/>
        </p:nvSpPr>
        <p:spPr>
          <a:xfrm>
            <a:off x="3867912" y="3319272"/>
            <a:ext cx="1920240" cy="164592"/>
          </a:xfrm>
          <a:prstGeom prst="rect">
            <a:avLst/>
          </a:prstGeom>
          <a:noFill/>
          <a:ln/>
        </p:spPr>
        <p:txBody>
          <a:bodyPr wrap="square" lIns="0" tIns="0" rIns="0" bIns="0" rtlCol="0" anchor="ctr">
            <a:normAutofit/>
          </a:bodyPr>
          <a:lstStyle/>
          <a:p>
            <a:pPr marL="0" indent="0" algn="ctr">
              <a:buNone/>
            </a:pPr>
            <a:r>
              <a:rPr lang="en-US" sz="860" dirty="0">
                <a:solidFill>
                  <a:srgbClr val="111827"/>
                </a:solidFill>
              </a:rPr>
              <a:t>SQL</a:t>
            </a:r>
            <a:endParaRPr lang="en-US" sz="860" dirty="0"/>
          </a:p>
        </p:txBody>
      </p:sp>
      <p:sp>
        <p:nvSpPr>
          <p:cNvPr id="32" name="Text 30"/>
          <p:cNvSpPr/>
          <p:nvPr/>
        </p:nvSpPr>
        <p:spPr>
          <a:xfrm>
            <a:off x="4764024" y="3529584"/>
            <a:ext cx="182880" cy="128016"/>
          </a:xfrm>
          <a:prstGeom prst="rect">
            <a:avLst/>
          </a:prstGeom>
          <a:noFill/>
          <a:ln/>
        </p:spPr>
        <p:txBody>
          <a:bodyPr wrap="square" lIns="0" tIns="0" rIns="0" bIns="0" rtlCol="0" anchor="ctr"/>
          <a:lstStyle/>
          <a:p>
            <a:pPr marL="0" indent="0">
              <a:buNone/>
            </a:pPr>
            <a:r>
              <a:rPr lang="en-US" sz="700" dirty="0">
                <a:solidFill>
                  <a:srgbClr val="5B6472"/>
                </a:solidFill>
              </a:rPr>
              <a:t>↓</a:t>
            </a:r>
            <a:endParaRPr lang="en-US" sz="700" dirty="0"/>
          </a:p>
        </p:txBody>
      </p:sp>
      <p:sp>
        <p:nvSpPr>
          <p:cNvPr id="33" name="Text 31"/>
          <p:cNvSpPr/>
          <p:nvPr/>
        </p:nvSpPr>
        <p:spPr>
          <a:xfrm>
            <a:off x="3867912" y="3648456"/>
            <a:ext cx="1920240" cy="164592"/>
          </a:xfrm>
          <a:prstGeom prst="rect">
            <a:avLst/>
          </a:prstGeom>
          <a:noFill/>
          <a:ln/>
        </p:spPr>
        <p:txBody>
          <a:bodyPr wrap="square" lIns="0" tIns="0" rIns="0" bIns="0" rtlCol="0" anchor="ctr">
            <a:normAutofit/>
          </a:bodyPr>
          <a:lstStyle/>
          <a:p>
            <a:pPr marL="0" indent="0" algn="ctr">
              <a:buNone/>
            </a:pPr>
            <a:r>
              <a:rPr lang="en-US" sz="860" dirty="0">
                <a:solidFill>
                  <a:srgbClr val="111827"/>
                </a:solidFill>
              </a:rPr>
              <a:t>Docker</a:t>
            </a:r>
            <a:endParaRPr lang="en-US" sz="860" dirty="0"/>
          </a:p>
        </p:txBody>
      </p:sp>
      <p:sp>
        <p:nvSpPr>
          <p:cNvPr id="34" name="Text 32"/>
          <p:cNvSpPr/>
          <p:nvPr/>
        </p:nvSpPr>
        <p:spPr>
          <a:xfrm>
            <a:off x="4764024" y="3858768"/>
            <a:ext cx="182880" cy="128016"/>
          </a:xfrm>
          <a:prstGeom prst="rect">
            <a:avLst/>
          </a:prstGeom>
          <a:noFill/>
          <a:ln/>
        </p:spPr>
        <p:txBody>
          <a:bodyPr wrap="square" lIns="0" tIns="0" rIns="0" bIns="0" rtlCol="0" anchor="ctr"/>
          <a:lstStyle/>
          <a:p>
            <a:pPr marL="0" indent="0">
              <a:buNone/>
            </a:pPr>
            <a:r>
              <a:rPr lang="en-US" sz="700" dirty="0">
                <a:solidFill>
                  <a:srgbClr val="5B6472"/>
                </a:solidFill>
              </a:rPr>
              <a:t>↓</a:t>
            </a:r>
            <a:endParaRPr lang="en-US" sz="700" dirty="0"/>
          </a:p>
        </p:txBody>
      </p:sp>
      <p:sp>
        <p:nvSpPr>
          <p:cNvPr id="35" name="Text 33"/>
          <p:cNvSpPr/>
          <p:nvPr/>
        </p:nvSpPr>
        <p:spPr>
          <a:xfrm>
            <a:off x="3867912" y="3977640"/>
            <a:ext cx="1920240" cy="164592"/>
          </a:xfrm>
          <a:prstGeom prst="rect">
            <a:avLst/>
          </a:prstGeom>
          <a:noFill/>
          <a:ln/>
        </p:spPr>
        <p:txBody>
          <a:bodyPr wrap="square" lIns="0" tIns="0" rIns="0" bIns="0" rtlCol="0" anchor="ctr">
            <a:normAutofit/>
          </a:bodyPr>
          <a:lstStyle/>
          <a:p>
            <a:pPr marL="0" indent="0" algn="ctr">
              <a:buNone/>
            </a:pPr>
            <a:r>
              <a:rPr lang="en-US" sz="860" dirty="0">
                <a:solidFill>
                  <a:srgbClr val="111827"/>
                </a:solidFill>
              </a:rPr>
              <a:t>AWS</a:t>
            </a:r>
            <a:endParaRPr lang="en-US" sz="860" dirty="0"/>
          </a:p>
        </p:txBody>
      </p:sp>
      <p:sp>
        <p:nvSpPr>
          <p:cNvPr id="36" name="Text 34"/>
          <p:cNvSpPr/>
          <p:nvPr/>
        </p:nvSpPr>
        <p:spPr>
          <a:xfrm>
            <a:off x="4764024" y="4187952"/>
            <a:ext cx="182880" cy="128016"/>
          </a:xfrm>
          <a:prstGeom prst="rect">
            <a:avLst/>
          </a:prstGeom>
          <a:noFill/>
          <a:ln/>
        </p:spPr>
        <p:txBody>
          <a:bodyPr wrap="square" lIns="0" tIns="0" rIns="0" bIns="0" rtlCol="0" anchor="ctr"/>
          <a:lstStyle/>
          <a:p>
            <a:pPr marL="0" indent="0">
              <a:buNone/>
            </a:pPr>
            <a:r>
              <a:rPr lang="en-US" sz="700" dirty="0">
                <a:solidFill>
                  <a:srgbClr val="5B6472"/>
                </a:solidFill>
              </a:rPr>
              <a:t>↓</a:t>
            </a:r>
            <a:endParaRPr lang="en-US" sz="700" dirty="0"/>
          </a:p>
        </p:txBody>
      </p:sp>
      <p:sp>
        <p:nvSpPr>
          <p:cNvPr id="37" name="Text 35"/>
          <p:cNvSpPr/>
          <p:nvPr/>
        </p:nvSpPr>
        <p:spPr>
          <a:xfrm>
            <a:off x="3867912" y="4306824"/>
            <a:ext cx="1920240" cy="164592"/>
          </a:xfrm>
          <a:prstGeom prst="rect">
            <a:avLst/>
          </a:prstGeom>
          <a:noFill/>
          <a:ln/>
        </p:spPr>
        <p:txBody>
          <a:bodyPr wrap="square" lIns="0" tIns="0" rIns="0" bIns="0" rtlCol="0" anchor="ctr">
            <a:normAutofit/>
          </a:bodyPr>
          <a:lstStyle/>
          <a:p>
            <a:pPr marL="0" indent="0" algn="ctr">
              <a:buNone/>
            </a:pPr>
            <a:r>
              <a:rPr lang="en-US" sz="860" dirty="0">
                <a:solidFill>
                  <a:srgbClr val="111827"/>
                </a:solidFill>
              </a:rPr>
              <a:t>Projects</a:t>
            </a:r>
            <a:endParaRPr lang="en-US" sz="860" dirty="0"/>
          </a:p>
        </p:txBody>
      </p:sp>
      <p:sp>
        <p:nvSpPr>
          <p:cNvPr id="38" name="Shape 36"/>
          <p:cNvSpPr/>
          <p:nvPr/>
        </p:nvSpPr>
        <p:spPr>
          <a:xfrm>
            <a:off x="6400800" y="1600200"/>
            <a:ext cx="2697480" cy="3977640"/>
          </a:xfrm>
          <a:prstGeom prst="roundRect">
            <a:avLst>
              <a:gd name="adj" fmla="val 2712"/>
            </a:avLst>
          </a:prstGeom>
          <a:solidFill>
            <a:srgbClr val="FFFFFF"/>
          </a:solidFill>
          <a:ln w="12700">
            <a:solidFill>
              <a:srgbClr val="E8E2DE"/>
            </a:solidFill>
            <a:prstDash val="solid"/>
          </a:ln>
        </p:spPr>
      </p:sp>
      <p:sp>
        <p:nvSpPr>
          <p:cNvPr id="39" name="Text 37"/>
          <p:cNvSpPr/>
          <p:nvPr/>
        </p:nvSpPr>
        <p:spPr>
          <a:xfrm>
            <a:off x="6629400" y="1828800"/>
            <a:ext cx="2194560" cy="228600"/>
          </a:xfrm>
          <a:prstGeom prst="rect">
            <a:avLst/>
          </a:prstGeom>
          <a:noFill/>
          <a:ln/>
        </p:spPr>
        <p:txBody>
          <a:bodyPr wrap="square" lIns="0" tIns="0" rIns="0" bIns="0" rtlCol="0" anchor="ctr"/>
          <a:lstStyle/>
          <a:p>
            <a:pPr marL="0" indent="0" algn="ctr">
              <a:buNone/>
            </a:pPr>
            <a:r>
              <a:rPr lang="en-US" sz="1300" b="1" dirty="0">
                <a:solidFill>
                  <a:srgbClr val="7C3AED"/>
                </a:solidFill>
              </a:rPr>
              <a:t>AI / FDE</a:t>
            </a:r>
            <a:endParaRPr lang="en-US" sz="1300" dirty="0"/>
          </a:p>
        </p:txBody>
      </p:sp>
      <p:sp>
        <p:nvSpPr>
          <p:cNvPr id="40" name="Text 38"/>
          <p:cNvSpPr/>
          <p:nvPr/>
        </p:nvSpPr>
        <p:spPr>
          <a:xfrm>
            <a:off x="6748272" y="2331720"/>
            <a:ext cx="1920240" cy="164592"/>
          </a:xfrm>
          <a:prstGeom prst="rect">
            <a:avLst/>
          </a:prstGeom>
          <a:noFill/>
          <a:ln/>
        </p:spPr>
        <p:txBody>
          <a:bodyPr wrap="square" lIns="0" tIns="0" rIns="0" bIns="0" rtlCol="0" anchor="ctr">
            <a:normAutofit/>
          </a:bodyPr>
          <a:lstStyle/>
          <a:p>
            <a:pPr marL="0" indent="0" algn="ctr">
              <a:buNone/>
            </a:pPr>
            <a:r>
              <a:rPr lang="en-US" sz="860" dirty="0">
                <a:solidFill>
                  <a:srgbClr val="111827"/>
                </a:solidFill>
              </a:rPr>
              <a:t>Python</a:t>
            </a:r>
            <a:endParaRPr lang="en-US" sz="860" dirty="0"/>
          </a:p>
        </p:txBody>
      </p:sp>
      <p:sp>
        <p:nvSpPr>
          <p:cNvPr id="41" name="Text 39"/>
          <p:cNvSpPr/>
          <p:nvPr/>
        </p:nvSpPr>
        <p:spPr>
          <a:xfrm>
            <a:off x="7644384" y="2542032"/>
            <a:ext cx="182880" cy="128016"/>
          </a:xfrm>
          <a:prstGeom prst="rect">
            <a:avLst/>
          </a:prstGeom>
          <a:noFill/>
          <a:ln/>
        </p:spPr>
        <p:txBody>
          <a:bodyPr wrap="square" lIns="0" tIns="0" rIns="0" bIns="0" rtlCol="0" anchor="ctr"/>
          <a:lstStyle/>
          <a:p>
            <a:pPr marL="0" indent="0">
              <a:buNone/>
            </a:pPr>
            <a:r>
              <a:rPr lang="en-US" sz="700" dirty="0">
                <a:solidFill>
                  <a:srgbClr val="5B6472"/>
                </a:solidFill>
              </a:rPr>
              <a:t>↓</a:t>
            </a:r>
            <a:endParaRPr lang="en-US" sz="700" dirty="0"/>
          </a:p>
        </p:txBody>
      </p:sp>
      <p:sp>
        <p:nvSpPr>
          <p:cNvPr id="42" name="Text 40"/>
          <p:cNvSpPr/>
          <p:nvPr/>
        </p:nvSpPr>
        <p:spPr>
          <a:xfrm>
            <a:off x="6748272" y="2660904"/>
            <a:ext cx="1920240" cy="164592"/>
          </a:xfrm>
          <a:prstGeom prst="rect">
            <a:avLst/>
          </a:prstGeom>
          <a:noFill/>
          <a:ln/>
        </p:spPr>
        <p:txBody>
          <a:bodyPr wrap="square" lIns="0" tIns="0" rIns="0" bIns="0" rtlCol="0" anchor="ctr">
            <a:normAutofit/>
          </a:bodyPr>
          <a:lstStyle/>
          <a:p>
            <a:pPr marL="0" indent="0" algn="ctr">
              <a:buNone/>
            </a:pPr>
            <a:r>
              <a:rPr lang="en-US" sz="860" dirty="0">
                <a:solidFill>
                  <a:srgbClr val="111827"/>
                </a:solidFill>
              </a:rPr>
              <a:t>LLMs</a:t>
            </a:r>
            <a:endParaRPr lang="en-US" sz="860" dirty="0"/>
          </a:p>
        </p:txBody>
      </p:sp>
      <p:sp>
        <p:nvSpPr>
          <p:cNvPr id="43" name="Text 41"/>
          <p:cNvSpPr/>
          <p:nvPr/>
        </p:nvSpPr>
        <p:spPr>
          <a:xfrm>
            <a:off x="7644384" y="2871216"/>
            <a:ext cx="182880" cy="128016"/>
          </a:xfrm>
          <a:prstGeom prst="rect">
            <a:avLst/>
          </a:prstGeom>
          <a:noFill/>
          <a:ln/>
        </p:spPr>
        <p:txBody>
          <a:bodyPr wrap="square" lIns="0" tIns="0" rIns="0" bIns="0" rtlCol="0" anchor="ctr"/>
          <a:lstStyle/>
          <a:p>
            <a:pPr marL="0" indent="0">
              <a:buNone/>
            </a:pPr>
            <a:r>
              <a:rPr lang="en-US" sz="700" dirty="0">
                <a:solidFill>
                  <a:srgbClr val="5B6472"/>
                </a:solidFill>
              </a:rPr>
              <a:t>↓</a:t>
            </a:r>
            <a:endParaRPr lang="en-US" sz="700" dirty="0"/>
          </a:p>
        </p:txBody>
      </p:sp>
      <p:sp>
        <p:nvSpPr>
          <p:cNvPr id="44" name="Text 42"/>
          <p:cNvSpPr/>
          <p:nvPr/>
        </p:nvSpPr>
        <p:spPr>
          <a:xfrm>
            <a:off x="6748272" y="2990088"/>
            <a:ext cx="1920240" cy="164592"/>
          </a:xfrm>
          <a:prstGeom prst="rect">
            <a:avLst/>
          </a:prstGeom>
          <a:noFill/>
          <a:ln/>
        </p:spPr>
        <p:txBody>
          <a:bodyPr wrap="square" lIns="0" tIns="0" rIns="0" bIns="0" rtlCol="0" anchor="ctr">
            <a:normAutofit/>
          </a:bodyPr>
          <a:lstStyle/>
          <a:p>
            <a:pPr marL="0" indent="0" algn="ctr">
              <a:buNone/>
            </a:pPr>
            <a:r>
              <a:rPr lang="en-US" sz="860" dirty="0">
                <a:solidFill>
                  <a:srgbClr val="111827"/>
                </a:solidFill>
              </a:rPr>
              <a:t>RAG</a:t>
            </a:r>
            <a:endParaRPr lang="en-US" sz="860" dirty="0"/>
          </a:p>
        </p:txBody>
      </p:sp>
      <p:sp>
        <p:nvSpPr>
          <p:cNvPr id="45" name="Text 43"/>
          <p:cNvSpPr/>
          <p:nvPr/>
        </p:nvSpPr>
        <p:spPr>
          <a:xfrm>
            <a:off x="7644384" y="3200400"/>
            <a:ext cx="182880" cy="128016"/>
          </a:xfrm>
          <a:prstGeom prst="rect">
            <a:avLst/>
          </a:prstGeom>
          <a:noFill/>
          <a:ln/>
        </p:spPr>
        <p:txBody>
          <a:bodyPr wrap="square" lIns="0" tIns="0" rIns="0" bIns="0" rtlCol="0" anchor="ctr"/>
          <a:lstStyle/>
          <a:p>
            <a:pPr marL="0" indent="0">
              <a:buNone/>
            </a:pPr>
            <a:r>
              <a:rPr lang="en-US" sz="700" dirty="0">
                <a:solidFill>
                  <a:srgbClr val="5B6472"/>
                </a:solidFill>
              </a:rPr>
              <a:t>↓</a:t>
            </a:r>
            <a:endParaRPr lang="en-US" sz="700" dirty="0"/>
          </a:p>
        </p:txBody>
      </p:sp>
      <p:sp>
        <p:nvSpPr>
          <p:cNvPr id="46" name="Text 44"/>
          <p:cNvSpPr/>
          <p:nvPr/>
        </p:nvSpPr>
        <p:spPr>
          <a:xfrm>
            <a:off x="6748272" y="3319272"/>
            <a:ext cx="1920240" cy="164592"/>
          </a:xfrm>
          <a:prstGeom prst="rect">
            <a:avLst/>
          </a:prstGeom>
          <a:noFill/>
          <a:ln/>
        </p:spPr>
        <p:txBody>
          <a:bodyPr wrap="square" lIns="0" tIns="0" rIns="0" bIns="0" rtlCol="0" anchor="ctr">
            <a:normAutofit/>
          </a:bodyPr>
          <a:lstStyle/>
          <a:p>
            <a:pPr marL="0" indent="0" algn="ctr">
              <a:buNone/>
            </a:pPr>
            <a:r>
              <a:rPr lang="en-US" sz="860" dirty="0">
                <a:solidFill>
                  <a:srgbClr val="111827"/>
                </a:solidFill>
              </a:rPr>
              <a:t>LangChain</a:t>
            </a:r>
            <a:endParaRPr lang="en-US" sz="860" dirty="0"/>
          </a:p>
        </p:txBody>
      </p:sp>
      <p:sp>
        <p:nvSpPr>
          <p:cNvPr id="47" name="Text 45"/>
          <p:cNvSpPr/>
          <p:nvPr/>
        </p:nvSpPr>
        <p:spPr>
          <a:xfrm>
            <a:off x="7644384" y="3529584"/>
            <a:ext cx="182880" cy="128016"/>
          </a:xfrm>
          <a:prstGeom prst="rect">
            <a:avLst/>
          </a:prstGeom>
          <a:noFill/>
          <a:ln/>
        </p:spPr>
        <p:txBody>
          <a:bodyPr wrap="square" lIns="0" tIns="0" rIns="0" bIns="0" rtlCol="0" anchor="ctr"/>
          <a:lstStyle/>
          <a:p>
            <a:pPr marL="0" indent="0">
              <a:buNone/>
            </a:pPr>
            <a:r>
              <a:rPr lang="en-US" sz="700" dirty="0">
                <a:solidFill>
                  <a:srgbClr val="5B6472"/>
                </a:solidFill>
              </a:rPr>
              <a:t>↓</a:t>
            </a:r>
            <a:endParaRPr lang="en-US" sz="700" dirty="0"/>
          </a:p>
        </p:txBody>
      </p:sp>
      <p:sp>
        <p:nvSpPr>
          <p:cNvPr id="48" name="Text 46"/>
          <p:cNvSpPr/>
          <p:nvPr/>
        </p:nvSpPr>
        <p:spPr>
          <a:xfrm>
            <a:off x="6748272" y="3648456"/>
            <a:ext cx="1920240" cy="164592"/>
          </a:xfrm>
          <a:prstGeom prst="rect">
            <a:avLst/>
          </a:prstGeom>
          <a:noFill/>
          <a:ln/>
        </p:spPr>
        <p:txBody>
          <a:bodyPr wrap="square" lIns="0" tIns="0" rIns="0" bIns="0" rtlCol="0" anchor="ctr">
            <a:normAutofit/>
          </a:bodyPr>
          <a:lstStyle/>
          <a:p>
            <a:pPr marL="0" indent="0" algn="ctr">
              <a:buNone/>
            </a:pPr>
            <a:r>
              <a:rPr lang="en-US" sz="860" dirty="0">
                <a:solidFill>
                  <a:srgbClr val="111827"/>
                </a:solidFill>
              </a:rPr>
              <a:t>Business Problems</a:t>
            </a:r>
            <a:endParaRPr lang="en-US" sz="860" dirty="0"/>
          </a:p>
        </p:txBody>
      </p:sp>
      <p:sp>
        <p:nvSpPr>
          <p:cNvPr id="49" name="Text 47"/>
          <p:cNvSpPr/>
          <p:nvPr/>
        </p:nvSpPr>
        <p:spPr>
          <a:xfrm>
            <a:off x="7644384" y="3858768"/>
            <a:ext cx="182880" cy="128016"/>
          </a:xfrm>
          <a:prstGeom prst="rect">
            <a:avLst/>
          </a:prstGeom>
          <a:noFill/>
          <a:ln/>
        </p:spPr>
        <p:txBody>
          <a:bodyPr wrap="square" lIns="0" tIns="0" rIns="0" bIns="0" rtlCol="0" anchor="ctr"/>
          <a:lstStyle/>
          <a:p>
            <a:pPr marL="0" indent="0">
              <a:buNone/>
            </a:pPr>
            <a:r>
              <a:rPr lang="en-US" sz="700" dirty="0">
                <a:solidFill>
                  <a:srgbClr val="5B6472"/>
                </a:solidFill>
              </a:rPr>
              <a:t>↓</a:t>
            </a:r>
            <a:endParaRPr lang="en-US" sz="700" dirty="0"/>
          </a:p>
        </p:txBody>
      </p:sp>
      <p:sp>
        <p:nvSpPr>
          <p:cNvPr id="50" name="Text 48"/>
          <p:cNvSpPr/>
          <p:nvPr/>
        </p:nvSpPr>
        <p:spPr>
          <a:xfrm>
            <a:off x="6748272" y="3977640"/>
            <a:ext cx="1920240" cy="164592"/>
          </a:xfrm>
          <a:prstGeom prst="rect">
            <a:avLst/>
          </a:prstGeom>
          <a:noFill/>
          <a:ln/>
        </p:spPr>
        <p:txBody>
          <a:bodyPr wrap="square" lIns="0" tIns="0" rIns="0" bIns="0" rtlCol="0" anchor="ctr">
            <a:normAutofit/>
          </a:bodyPr>
          <a:lstStyle/>
          <a:p>
            <a:pPr marL="0" indent="0" algn="ctr">
              <a:buNone/>
            </a:pPr>
            <a:r>
              <a:rPr lang="en-US" sz="860" dirty="0">
                <a:solidFill>
                  <a:srgbClr val="111827"/>
                </a:solidFill>
              </a:rPr>
              <a:t>AI Workflows</a:t>
            </a:r>
            <a:endParaRPr lang="en-US" sz="860" dirty="0"/>
          </a:p>
        </p:txBody>
      </p:sp>
      <p:sp>
        <p:nvSpPr>
          <p:cNvPr id="51" name="Text 49"/>
          <p:cNvSpPr/>
          <p:nvPr/>
        </p:nvSpPr>
        <p:spPr>
          <a:xfrm>
            <a:off x="7644384" y="4187952"/>
            <a:ext cx="182880" cy="128016"/>
          </a:xfrm>
          <a:prstGeom prst="rect">
            <a:avLst/>
          </a:prstGeom>
          <a:noFill/>
          <a:ln/>
        </p:spPr>
        <p:txBody>
          <a:bodyPr wrap="square" lIns="0" tIns="0" rIns="0" bIns="0" rtlCol="0" anchor="ctr"/>
          <a:lstStyle/>
          <a:p>
            <a:pPr marL="0" indent="0">
              <a:buNone/>
            </a:pPr>
            <a:r>
              <a:rPr lang="en-US" sz="700" dirty="0">
                <a:solidFill>
                  <a:srgbClr val="5B6472"/>
                </a:solidFill>
              </a:rPr>
              <a:t>↓</a:t>
            </a:r>
            <a:endParaRPr lang="en-US" sz="700" dirty="0"/>
          </a:p>
        </p:txBody>
      </p:sp>
      <p:sp>
        <p:nvSpPr>
          <p:cNvPr id="52" name="Text 50"/>
          <p:cNvSpPr/>
          <p:nvPr/>
        </p:nvSpPr>
        <p:spPr>
          <a:xfrm>
            <a:off x="6748272" y="4306824"/>
            <a:ext cx="1920240" cy="164592"/>
          </a:xfrm>
          <a:prstGeom prst="rect">
            <a:avLst/>
          </a:prstGeom>
          <a:noFill/>
          <a:ln/>
        </p:spPr>
        <p:txBody>
          <a:bodyPr wrap="square" lIns="0" tIns="0" rIns="0" bIns="0" rtlCol="0" anchor="ctr">
            <a:normAutofit/>
          </a:bodyPr>
          <a:lstStyle/>
          <a:p>
            <a:pPr marL="0" indent="0" algn="ctr">
              <a:buNone/>
            </a:pPr>
            <a:r>
              <a:rPr lang="en-US" sz="860" dirty="0">
                <a:solidFill>
                  <a:srgbClr val="111827"/>
                </a:solidFill>
              </a:rPr>
              <a:t>Projects</a:t>
            </a:r>
            <a:endParaRPr lang="en-US" sz="860" dirty="0"/>
          </a:p>
        </p:txBody>
      </p:sp>
      <p:sp>
        <p:nvSpPr>
          <p:cNvPr id="53" name="Shape 51"/>
          <p:cNvSpPr/>
          <p:nvPr/>
        </p:nvSpPr>
        <p:spPr>
          <a:xfrm>
            <a:off x="9281160" y="1600200"/>
            <a:ext cx="2697480" cy="3977640"/>
          </a:xfrm>
          <a:prstGeom prst="roundRect">
            <a:avLst>
              <a:gd name="adj" fmla="val 2712"/>
            </a:avLst>
          </a:prstGeom>
          <a:solidFill>
            <a:srgbClr val="FFFFFF"/>
          </a:solidFill>
          <a:ln w="12700">
            <a:solidFill>
              <a:srgbClr val="E8E2DE"/>
            </a:solidFill>
            <a:prstDash val="solid"/>
          </a:ln>
        </p:spPr>
      </p:sp>
      <p:sp>
        <p:nvSpPr>
          <p:cNvPr id="54" name="Text 52"/>
          <p:cNvSpPr/>
          <p:nvPr/>
        </p:nvSpPr>
        <p:spPr>
          <a:xfrm>
            <a:off x="9509760" y="1828800"/>
            <a:ext cx="2194560" cy="228600"/>
          </a:xfrm>
          <a:prstGeom prst="rect">
            <a:avLst/>
          </a:prstGeom>
          <a:noFill/>
          <a:ln/>
        </p:spPr>
        <p:txBody>
          <a:bodyPr wrap="square" lIns="0" tIns="0" rIns="0" bIns="0" rtlCol="0" anchor="ctr"/>
          <a:lstStyle/>
          <a:p>
            <a:pPr marL="0" indent="0" algn="ctr">
              <a:buNone/>
            </a:pPr>
            <a:r>
              <a:rPr lang="en-US" sz="1300" b="1" dirty="0">
                <a:solidFill>
                  <a:srgbClr val="FF6B4A"/>
                </a:solidFill>
              </a:rPr>
              <a:t>CYBERSECURITY</a:t>
            </a:r>
            <a:endParaRPr lang="en-US" sz="1300" dirty="0"/>
          </a:p>
        </p:txBody>
      </p:sp>
      <p:sp>
        <p:nvSpPr>
          <p:cNvPr id="55" name="Text 53"/>
          <p:cNvSpPr/>
          <p:nvPr/>
        </p:nvSpPr>
        <p:spPr>
          <a:xfrm>
            <a:off x="9628632" y="2331720"/>
            <a:ext cx="1920240" cy="164592"/>
          </a:xfrm>
          <a:prstGeom prst="rect">
            <a:avLst/>
          </a:prstGeom>
          <a:noFill/>
          <a:ln/>
        </p:spPr>
        <p:txBody>
          <a:bodyPr wrap="square" lIns="0" tIns="0" rIns="0" bIns="0" rtlCol="0" anchor="ctr">
            <a:normAutofit/>
          </a:bodyPr>
          <a:lstStyle/>
          <a:p>
            <a:pPr marL="0" indent="0" algn="ctr">
              <a:buNone/>
            </a:pPr>
            <a:r>
              <a:rPr lang="en-US" sz="860" dirty="0">
                <a:solidFill>
                  <a:srgbClr val="111827"/>
                </a:solidFill>
              </a:rPr>
              <a:t>Networking</a:t>
            </a:r>
            <a:endParaRPr lang="en-US" sz="860" dirty="0"/>
          </a:p>
        </p:txBody>
      </p:sp>
      <p:sp>
        <p:nvSpPr>
          <p:cNvPr id="56" name="Text 54"/>
          <p:cNvSpPr/>
          <p:nvPr/>
        </p:nvSpPr>
        <p:spPr>
          <a:xfrm>
            <a:off x="10524744" y="2542032"/>
            <a:ext cx="182880" cy="128016"/>
          </a:xfrm>
          <a:prstGeom prst="rect">
            <a:avLst/>
          </a:prstGeom>
          <a:noFill/>
          <a:ln/>
        </p:spPr>
        <p:txBody>
          <a:bodyPr wrap="square" lIns="0" tIns="0" rIns="0" bIns="0" rtlCol="0" anchor="ctr"/>
          <a:lstStyle/>
          <a:p>
            <a:pPr marL="0" indent="0">
              <a:buNone/>
            </a:pPr>
            <a:r>
              <a:rPr lang="en-US" sz="700" dirty="0">
                <a:solidFill>
                  <a:srgbClr val="5B6472"/>
                </a:solidFill>
              </a:rPr>
              <a:t>↓</a:t>
            </a:r>
            <a:endParaRPr lang="en-US" sz="700" dirty="0"/>
          </a:p>
        </p:txBody>
      </p:sp>
      <p:sp>
        <p:nvSpPr>
          <p:cNvPr id="57" name="Text 55"/>
          <p:cNvSpPr/>
          <p:nvPr/>
        </p:nvSpPr>
        <p:spPr>
          <a:xfrm>
            <a:off x="9628632" y="2660904"/>
            <a:ext cx="1920240" cy="164592"/>
          </a:xfrm>
          <a:prstGeom prst="rect">
            <a:avLst/>
          </a:prstGeom>
          <a:noFill/>
          <a:ln/>
        </p:spPr>
        <p:txBody>
          <a:bodyPr wrap="square" lIns="0" tIns="0" rIns="0" bIns="0" rtlCol="0" anchor="ctr">
            <a:normAutofit/>
          </a:bodyPr>
          <a:lstStyle/>
          <a:p>
            <a:pPr marL="0" indent="0" algn="ctr">
              <a:buNone/>
            </a:pPr>
            <a:r>
              <a:rPr lang="en-US" sz="860" dirty="0">
                <a:solidFill>
                  <a:srgbClr val="111827"/>
                </a:solidFill>
              </a:rPr>
              <a:t>Linux</a:t>
            </a:r>
            <a:endParaRPr lang="en-US" sz="860" dirty="0"/>
          </a:p>
        </p:txBody>
      </p:sp>
      <p:sp>
        <p:nvSpPr>
          <p:cNvPr id="58" name="Text 56"/>
          <p:cNvSpPr/>
          <p:nvPr/>
        </p:nvSpPr>
        <p:spPr>
          <a:xfrm>
            <a:off x="10524744" y="2871216"/>
            <a:ext cx="182880" cy="128016"/>
          </a:xfrm>
          <a:prstGeom prst="rect">
            <a:avLst/>
          </a:prstGeom>
          <a:noFill/>
          <a:ln/>
        </p:spPr>
        <p:txBody>
          <a:bodyPr wrap="square" lIns="0" tIns="0" rIns="0" bIns="0" rtlCol="0" anchor="ctr"/>
          <a:lstStyle/>
          <a:p>
            <a:pPr marL="0" indent="0">
              <a:buNone/>
            </a:pPr>
            <a:r>
              <a:rPr lang="en-US" sz="700" dirty="0">
                <a:solidFill>
                  <a:srgbClr val="5B6472"/>
                </a:solidFill>
              </a:rPr>
              <a:t>↓</a:t>
            </a:r>
            <a:endParaRPr lang="en-US" sz="700" dirty="0"/>
          </a:p>
        </p:txBody>
      </p:sp>
      <p:sp>
        <p:nvSpPr>
          <p:cNvPr id="59" name="Text 57"/>
          <p:cNvSpPr/>
          <p:nvPr/>
        </p:nvSpPr>
        <p:spPr>
          <a:xfrm>
            <a:off x="9628632" y="2990088"/>
            <a:ext cx="1920240" cy="164592"/>
          </a:xfrm>
          <a:prstGeom prst="rect">
            <a:avLst/>
          </a:prstGeom>
          <a:noFill/>
          <a:ln/>
        </p:spPr>
        <p:txBody>
          <a:bodyPr wrap="square" lIns="0" tIns="0" rIns="0" bIns="0" rtlCol="0" anchor="ctr">
            <a:normAutofit/>
          </a:bodyPr>
          <a:lstStyle/>
          <a:p>
            <a:pPr marL="0" indent="0" algn="ctr">
              <a:buNone/>
            </a:pPr>
            <a:r>
              <a:rPr lang="en-US" sz="860" dirty="0">
                <a:solidFill>
                  <a:srgbClr val="111827"/>
                </a:solidFill>
              </a:rPr>
              <a:t>SIEM</a:t>
            </a:r>
            <a:endParaRPr lang="en-US" sz="860" dirty="0"/>
          </a:p>
        </p:txBody>
      </p:sp>
      <p:sp>
        <p:nvSpPr>
          <p:cNvPr id="60" name="Text 58"/>
          <p:cNvSpPr/>
          <p:nvPr/>
        </p:nvSpPr>
        <p:spPr>
          <a:xfrm>
            <a:off x="10524744" y="3200400"/>
            <a:ext cx="182880" cy="128016"/>
          </a:xfrm>
          <a:prstGeom prst="rect">
            <a:avLst/>
          </a:prstGeom>
          <a:noFill/>
          <a:ln/>
        </p:spPr>
        <p:txBody>
          <a:bodyPr wrap="square" lIns="0" tIns="0" rIns="0" bIns="0" rtlCol="0" anchor="ctr"/>
          <a:lstStyle/>
          <a:p>
            <a:pPr marL="0" indent="0">
              <a:buNone/>
            </a:pPr>
            <a:r>
              <a:rPr lang="en-US" sz="700" dirty="0">
                <a:solidFill>
                  <a:srgbClr val="5B6472"/>
                </a:solidFill>
              </a:rPr>
              <a:t>↓</a:t>
            </a:r>
            <a:endParaRPr lang="en-US" sz="700" dirty="0"/>
          </a:p>
        </p:txBody>
      </p:sp>
      <p:sp>
        <p:nvSpPr>
          <p:cNvPr id="61" name="Text 59"/>
          <p:cNvSpPr/>
          <p:nvPr/>
        </p:nvSpPr>
        <p:spPr>
          <a:xfrm>
            <a:off x="9628632" y="3319272"/>
            <a:ext cx="1920240" cy="164592"/>
          </a:xfrm>
          <a:prstGeom prst="rect">
            <a:avLst/>
          </a:prstGeom>
          <a:noFill/>
          <a:ln/>
        </p:spPr>
        <p:txBody>
          <a:bodyPr wrap="square" lIns="0" tIns="0" rIns="0" bIns="0" rtlCol="0" anchor="ctr">
            <a:normAutofit/>
          </a:bodyPr>
          <a:lstStyle/>
          <a:p>
            <a:pPr marL="0" indent="0" algn="ctr">
              <a:buNone/>
            </a:pPr>
            <a:r>
              <a:rPr lang="en-US" sz="860" dirty="0">
                <a:solidFill>
                  <a:srgbClr val="111827"/>
                </a:solidFill>
              </a:rPr>
              <a:t>Threats</a:t>
            </a:r>
            <a:endParaRPr lang="en-US" sz="860" dirty="0"/>
          </a:p>
        </p:txBody>
      </p:sp>
      <p:sp>
        <p:nvSpPr>
          <p:cNvPr id="62" name="Text 60"/>
          <p:cNvSpPr/>
          <p:nvPr/>
        </p:nvSpPr>
        <p:spPr>
          <a:xfrm>
            <a:off x="10524744" y="3529584"/>
            <a:ext cx="182880" cy="128016"/>
          </a:xfrm>
          <a:prstGeom prst="rect">
            <a:avLst/>
          </a:prstGeom>
          <a:noFill/>
          <a:ln/>
        </p:spPr>
        <p:txBody>
          <a:bodyPr wrap="square" lIns="0" tIns="0" rIns="0" bIns="0" rtlCol="0" anchor="ctr"/>
          <a:lstStyle/>
          <a:p>
            <a:pPr marL="0" indent="0">
              <a:buNone/>
            </a:pPr>
            <a:r>
              <a:rPr lang="en-US" sz="700" dirty="0">
                <a:solidFill>
                  <a:srgbClr val="5B6472"/>
                </a:solidFill>
              </a:rPr>
              <a:t>↓</a:t>
            </a:r>
            <a:endParaRPr lang="en-US" sz="700" dirty="0"/>
          </a:p>
        </p:txBody>
      </p:sp>
      <p:sp>
        <p:nvSpPr>
          <p:cNvPr id="63" name="Text 61"/>
          <p:cNvSpPr/>
          <p:nvPr/>
        </p:nvSpPr>
        <p:spPr>
          <a:xfrm>
            <a:off x="9628632" y="3648456"/>
            <a:ext cx="1920240" cy="164592"/>
          </a:xfrm>
          <a:prstGeom prst="rect">
            <a:avLst/>
          </a:prstGeom>
          <a:noFill/>
          <a:ln/>
        </p:spPr>
        <p:txBody>
          <a:bodyPr wrap="square" lIns="0" tIns="0" rIns="0" bIns="0" rtlCol="0" anchor="ctr">
            <a:normAutofit/>
          </a:bodyPr>
          <a:lstStyle/>
          <a:p>
            <a:pPr marL="0" indent="0" algn="ctr">
              <a:buNone/>
            </a:pPr>
            <a:r>
              <a:rPr lang="en-US" sz="860" dirty="0">
                <a:solidFill>
                  <a:srgbClr val="111827"/>
                </a:solidFill>
              </a:rPr>
              <a:t>Labs</a:t>
            </a:r>
            <a:endParaRPr lang="en-US" sz="860" dirty="0"/>
          </a:p>
        </p:txBody>
      </p:sp>
      <p:sp>
        <p:nvSpPr>
          <p:cNvPr id="64" name="Text 62"/>
          <p:cNvSpPr/>
          <p:nvPr/>
        </p:nvSpPr>
        <p:spPr>
          <a:xfrm>
            <a:off x="10524744" y="3858768"/>
            <a:ext cx="182880" cy="128016"/>
          </a:xfrm>
          <a:prstGeom prst="rect">
            <a:avLst/>
          </a:prstGeom>
          <a:noFill/>
          <a:ln/>
        </p:spPr>
        <p:txBody>
          <a:bodyPr wrap="square" lIns="0" tIns="0" rIns="0" bIns="0" rtlCol="0" anchor="ctr"/>
          <a:lstStyle/>
          <a:p>
            <a:pPr marL="0" indent="0">
              <a:buNone/>
            </a:pPr>
            <a:r>
              <a:rPr lang="en-US" sz="700" dirty="0">
                <a:solidFill>
                  <a:srgbClr val="5B6472"/>
                </a:solidFill>
              </a:rPr>
              <a:t>↓</a:t>
            </a:r>
            <a:endParaRPr lang="en-US" sz="700" dirty="0"/>
          </a:p>
        </p:txBody>
      </p:sp>
      <p:sp>
        <p:nvSpPr>
          <p:cNvPr id="65" name="Text 63"/>
          <p:cNvSpPr/>
          <p:nvPr/>
        </p:nvSpPr>
        <p:spPr>
          <a:xfrm>
            <a:off x="9628632" y="3977640"/>
            <a:ext cx="1920240" cy="164592"/>
          </a:xfrm>
          <a:prstGeom prst="rect">
            <a:avLst/>
          </a:prstGeom>
          <a:noFill/>
          <a:ln/>
        </p:spPr>
        <p:txBody>
          <a:bodyPr wrap="square" lIns="0" tIns="0" rIns="0" bIns="0" rtlCol="0" anchor="ctr">
            <a:normAutofit/>
          </a:bodyPr>
          <a:lstStyle/>
          <a:p>
            <a:pPr marL="0" indent="0" algn="ctr">
              <a:buNone/>
            </a:pPr>
            <a:r>
              <a:rPr lang="en-US" sz="860" dirty="0">
                <a:solidFill>
                  <a:srgbClr val="111827"/>
                </a:solidFill>
              </a:rPr>
              <a:t>CTFs</a:t>
            </a:r>
            <a:endParaRPr lang="en-US" sz="860" dirty="0"/>
          </a:p>
        </p:txBody>
      </p:sp>
      <p:sp>
        <p:nvSpPr>
          <p:cNvPr id="66" name="Text 64"/>
          <p:cNvSpPr/>
          <p:nvPr/>
        </p:nvSpPr>
        <p:spPr>
          <a:xfrm>
            <a:off x="10524744" y="4187952"/>
            <a:ext cx="182880" cy="128016"/>
          </a:xfrm>
          <a:prstGeom prst="rect">
            <a:avLst/>
          </a:prstGeom>
          <a:noFill/>
          <a:ln/>
        </p:spPr>
        <p:txBody>
          <a:bodyPr wrap="square" lIns="0" tIns="0" rIns="0" bIns="0" rtlCol="0" anchor="ctr"/>
          <a:lstStyle/>
          <a:p>
            <a:pPr marL="0" indent="0">
              <a:buNone/>
            </a:pPr>
            <a:r>
              <a:rPr lang="en-US" sz="700" dirty="0">
                <a:solidFill>
                  <a:srgbClr val="5B6472"/>
                </a:solidFill>
              </a:rPr>
              <a:t>↓</a:t>
            </a:r>
            <a:endParaRPr lang="en-US" sz="700" dirty="0"/>
          </a:p>
        </p:txBody>
      </p:sp>
      <p:sp>
        <p:nvSpPr>
          <p:cNvPr id="67" name="Text 65"/>
          <p:cNvSpPr/>
          <p:nvPr/>
        </p:nvSpPr>
        <p:spPr>
          <a:xfrm>
            <a:off x="9628632" y="4306824"/>
            <a:ext cx="1920240" cy="164592"/>
          </a:xfrm>
          <a:prstGeom prst="rect">
            <a:avLst/>
          </a:prstGeom>
          <a:noFill/>
          <a:ln/>
        </p:spPr>
        <p:txBody>
          <a:bodyPr wrap="square" lIns="0" tIns="0" rIns="0" bIns="0" rtlCol="0" anchor="ctr">
            <a:normAutofit/>
          </a:bodyPr>
          <a:lstStyle/>
          <a:p>
            <a:pPr marL="0" indent="0" algn="ctr">
              <a:buNone/>
            </a:pPr>
            <a:r>
              <a:rPr lang="en-US" sz="860" dirty="0">
                <a:solidFill>
                  <a:srgbClr val="111827"/>
                </a:solidFill>
              </a:rPr>
              <a:t>Projects</a:t>
            </a:r>
            <a:endParaRPr lang="en-US" sz="860" dirty="0"/>
          </a:p>
        </p:txBody>
      </p:sp>
      <p:sp>
        <p:nvSpPr>
          <p:cNvPr id="69" name="Text 66"/>
          <p:cNvSpPr/>
          <p:nvPr/>
        </p:nvSpPr>
        <p:spPr>
          <a:xfrm>
            <a:off x="411480" y="6510528"/>
            <a:ext cx="6400800" cy="164592"/>
          </a:xfrm>
          <a:prstGeom prst="rect">
            <a:avLst/>
          </a:prstGeom>
          <a:noFill/>
          <a:ln/>
        </p:spPr>
        <p:txBody>
          <a:bodyPr wrap="square" lIns="0" tIns="0" rIns="0" bIns="0" rtlCol="0" anchor="ctr"/>
          <a:lstStyle/>
          <a:p>
            <a:pPr marL="0" indent="0">
              <a:buNone/>
            </a:pPr>
            <a:r>
              <a:rPr lang="en-US" sz="600" dirty="0">
                <a:solidFill>
                  <a:srgbClr val="7C7C7C"/>
                </a:solidFill>
                <a:latin typeface="Aptos" pitchFamily="34" charset="0"/>
                <a:ea typeface="Aptos" pitchFamily="34" charset="-122"/>
                <a:cs typeface="Aptos" pitchFamily="34" charset="-120"/>
              </a:rPr>
              <a:t>What's Next After Graduation?  |  Farah Kerbaj</a:t>
            </a:r>
            <a:endParaRPr lang="en-US" sz="600" dirty="0"/>
          </a:p>
        </p:txBody>
      </p:sp>
      <p:sp>
        <p:nvSpPr>
          <p:cNvPr id="70" name="Text 67"/>
          <p:cNvSpPr/>
          <p:nvPr/>
        </p:nvSpPr>
        <p:spPr>
          <a:xfrm>
            <a:off x="11430000" y="6473952"/>
            <a:ext cx="320040" cy="182880"/>
          </a:xfrm>
          <a:prstGeom prst="rect">
            <a:avLst/>
          </a:prstGeom>
          <a:noFill/>
          <a:ln/>
        </p:spPr>
        <p:txBody>
          <a:bodyPr wrap="square" lIns="0" tIns="0" rIns="0" bIns="0" rtlCol="0" anchor="ctr"/>
          <a:lstStyle/>
          <a:p>
            <a:pPr marL="0" indent="0" algn="r">
              <a:buNone/>
            </a:pPr>
            <a:r>
              <a:rPr lang="en-US" sz="700" dirty="0">
                <a:solidFill>
                  <a:srgbClr val="7C7C7C"/>
                </a:solidFill>
              </a:rPr>
              <a:t>10</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F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F2"/>
          </a:solidFill>
          <a:ln w="12700">
            <a:solidFill>
              <a:srgbClr val="F7F4F2">
                <a:alpha val="0"/>
              </a:srgbClr>
            </a:solidFill>
            <a:prstDash val="solid"/>
          </a:ln>
        </p:spPr>
      </p:sp>
      <p:sp>
        <p:nvSpPr>
          <p:cNvPr id="3" name="Shape 1"/>
          <p:cNvSpPr/>
          <p:nvPr/>
        </p:nvSpPr>
        <p:spPr>
          <a:xfrm>
            <a:off x="0" y="0"/>
            <a:ext cx="12191695" cy="73152"/>
          </a:xfrm>
          <a:prstGeom prst="rect">
            <a:avLst/>
          </a:prstGeom>
          <a:solidFill>
            <a:srgbClr val="152238"/>
          </a:solidFill>
          <a:ln w="12700">
            <a:solidFill>
              <a:srgbClr val="152238"/>
            </a:solidFill>
            <a:prstDash val="solid"/>
          </a:ln>
        </p:spPr>
      </p:sp>
      <p:sp>
        <p:nvSpPr>
          <p:cNvPr id="4" name="Text 2"/>
          <p:cNvSpPr/>
          <p:nvPr/>
        </p:nvSpPr>
        <p:spPr>
          <a:xfrm>
            <a:off x="667512" y="274320"/>
            <a:ext cx="7315200" cy="201168"/>
          </a:xfrm>
          <a:prstGeom prst="rect">
            <a:avLst/>
          </a:prstGeom>
          <a:noFill/>
          <a:ln/>
        </p:spPr>
        <p:txBody>
          <a:bodyPr wrap="square" lIns="0" tIns="0" rIns="0" bIns="0" rtlCol="0" anchor="ctr"/>
          <a:lstStyle/>
          <a:p>
            <a:pPr marL="0" indent="0">
              <a:buNone/>
            </a:pPr>
            <a:r>
              <a:rPr lang="en-US" sz="750" b="1" dirty="0">
                <a:solidFill>
                  <a:srgbClr val="00A8CC"/>
                </a:solidFill>
              </a:rPr>
              <a:t>HOW HIRING WORKS</a:t>
            </a:r>
            <a:endParaRPr lang="en-US" sz="750" dirty="0"/>
          </a:p>
        </p:txBody>
      </p:sp>
      <p:sp>
        <p:nvSpPr>
          <p:cNvPr id="5" name="Text 3"/>
          <p:cNvSpPr/>
          <p:nvPr/>
        </p:nvSpPr>
        <p:spPr>
          <a:xfrm>
            <a:off x="640080" y="502920"/>
            <a:ext cx="10881360" cy="438912"/>
          </a:xfrm>
          <a:prstGeom prst="rect">
            <a:avLst/>
          </a:prstGeom>
          <a:noFill/>
          <a:ln/>
        </p:spPr>
        <p:txBody>
          <a:bodyPr wrap="square" lIns="0" tIns="0" rIns="0" bIns="0" rtlCol="0" anchor="ctr">
            <a:normAutofit/>
          </a:bodyPr>
          <a:lstStyle/>
          <a:p>
            <a:pPr marL="0" indent="0">
              <a:buNone/>
            </a:pPr>
            <a:r>
              <a:rPr lang="en-US" sz="2500" b="1" dirty="0">
                <a:solidFill>
                  <a:srgbClr val="FFFFFF"/>
                </a:solidFill>
                <a:latin typeface="Aptos Display" pitchFamily="34" charset="0"/>
                <a:ea typeface="Aptos Display" pitchFamily="34" charset="-122"/>
                <a:cs typeface="Aptos Display" pitchFamily="34" charset="-120"/>
              </a:rPr>
              <a:t>The Hidden Funnel</a:t>
            </a:r>
            <a:endParaRPr lang="en-US" sz="2500" dirty="0"/>
          </a:p>
        </p:txBody>
      </p:sp>
      <p:sp>
        <p:nvSpPr>
          <p:cNvPr id="6" name="Text 4"/>
          <p:cNvSpPr/>
          <p:nvPr/>
        </p:nvSpPr>
        <p:spPr>
          <a:xfrm>
            <a:off x="667512" y="987552"/>
            <a:ext cx="10424160" cy="256032"/>
          </a:xfrm>
          <a:prstGeom prst="rect">
            <a:avLst/>
          </a:prstGeom>
          <a:noFill/>
          <a:ln/>
        </p:spPr>
        <p:txBody>
          <a:bodyPr wrap="square" lIns="0" tIns="0" rIns="0" bIns="0" rtlCol="0" anchor="ctr"/>
          <a:lstStyle/>
          <a:p>
            <a:pPr marL="0" indent="0">
              <a:buNone/>
            </a:pPr>
            <a:r>
              <a:rPr lang="en-US" sz="950" dirty="0">
                <a:solidFill>
                  <a:srgbClr val="C7D2FE"/>
                </a:solidFill>
              </a:rPr>
              <a:t>Every application has to survive multiple filters</a:t>
            </a:r>
            <a:endParaRPr lang="en-US" sz="950" dirty="0"/>
          </a:p>
        </p:txBody>
      </p:sp>
      <p:sp>
        <p:nvSpPr>
          <p:cNvPr id="7" name="Shape 5"/>
          <p:cNvSpPr/>
          <p:nvPr/>
        </p:nvSpPr>
        <p:spPr>
          <a:xfrm>
            <a:off x="640080" y="1325880"/>
            <a:ext cx="10881360" cy="0"/>
          </a:xfrm>
          <a:prstGeom prst="line">
            <a:avLst/>
          </a:prstGeom>
          <a:noFill/>
          <a:ln w="12700">
            <a:solidFill>
              <a:srgbClr val="D6D3D1"/>
            </a:solidFill>
            <a:prstDash val="solid"/>
          </a:ln>
        </p:spPr>
      </p:sp>
      <p:sp>
        <p:nvSpPr>
          <p:cNvPr id="8" name="Shape 6"/>
          <p:cNvSpPr/>
          <p:nvPr/>
        </p:nvSpPr>
        <p:spPr>
          <a:xfrm>
            <a:off x="640080" y="1920240"/>
            <a:ext cx="1691640" cy="1508760"/>
          </a:xfrm>
          <a:prstGeom prst="roundRect">
            <a:avLst>
              <a:gd name="adj" fmla="val 4848"/>
            </a:avLst>
          </a:prstGeom>
          <a:solidFill>
            <a:srgbClr val="FFFFFF"/>
          </a:solidFill>
          <a:ln w="12700">
            <a:solidFill>
              <a:srgbClr val="FFFFFF"/>
            </a:solidFill>
            <a:prstDash val="solid"/>
          </a:ln>
        </p:spPr>
      </p:sp>
      <p:sp>
        <p:nvSpPr>
          <p:cNvPr id="9" name="Text 7"/>
          <p:cNvSpPr/>
          <p:nvPr/>
        </p:nvSpPr>
        <p:spPr>
          <a:xfrm>
            <a:off x="777240" y="2240280"/>
            <a:ext cx="1417320" cy="256032"/>
          </a:xfrm>
          <a:prstGeom prst="rect">
            <a:avLst/>
          </a:prstGeom>
          <a:noFill/>
          <a:ln/>
        </p:spPr>
        <p:txBody>
          <a:bodyPr wrap="square" lIns="0" tIns="0" rIns="0" bIns="0" rtlCol="0" anchor="ctr">
            <a:normAutofit/>
          </a:bodyPr>
          <a:lstStyle/>
          <a:p>
            <a:pPr marL="0" indent="0" algn="ctr">
              <a:buNone/>
            </a:pPr>
            <a:r>
              <a:rPr lang="en-US" sz="2100" b="1" dirty="0">
                <a:solidFill>
                  <a:srgbClr val="152238"/>
                </a:solidFill>
              </a:rPr>
              <a:t>1,000</a:t>
            </a:r>
            <a:endParaRPr lang="en-US" sz="2100" dirty="0"/>
          </a:p>
        </p:txBody>
      </p:sp>
      <p:sp>
        <p:nvSpPr>
          <p:cNvPr id="10" name="Text 8"/>
          <p:cNvSpPr/>
          <p:nvPr/>
        </p:nvSpPr>
        <p:spPr>
          <a:xfrm>
            <a:off x="777240" y="2651760"/>
            <a:ext cx="1417320" cy="201168"/>
          </a:xfrm>
          <a:prstGeom prst="rect">
            <a:avLst/>
          </a:prstGeom>
          <a:noFill/>
          <a:ln/>
        </p:spPr>
        <p:txBody>
          <a:bodyPr wrap="square" lIns="0" tIns="0" rIns="0" bIns="0" rtlCol="0" anchor="ctr"/>
          <a:lstStyle/>
          <a:p>
            <a:pPr marL="0" indent="0" algn="ctr">
              <a:buNone/>
            </a:pPr>
            <a:r>
              <a:rPr lang="en-US" sz="850" dirty="0">
                <a:solidFill>
                  <a:srgbClr val="5B6472"/>
                </a:solidFill>
              </a:rPr>
              <a:t>Applicants</a:t>
            </a:r>
            <a:endParaRPr lang="en-US" sz="850" dirty="0"/>
          </a:p>
        </p:txBody>
      </p:sp>
      <p:sp>
        <p:nvSpPr>
          <p:cNvPr id="11" name="Text 9"/>
          <p:cNvSpPr/>
          <p:nvPr/>
        </p:nvSpPr>
        <p:spPr>
          <a:xfrm>
            <a:off x="2450592" y="2450592"/>
            <a:ext cx="228600" cy="256032"/>
          </a:xfrm>
          <a:prstGeom prst="rect">
            <a:avLst/>
          </a:prstGeom>
          <a:noFill/>
          <a:ln/>
        </p:spPr>
        <p:txBody>
          <a:bodyPr wrap="square" lIns="0" tIns="0" rIns="0" bIns="0" rtlCol="0" anchor="ctr"/>
          <a:lstStyle/>
          <a:p>
            <a:pPr marL="0" indent="0">
              <a:buNone/>
            </a:pPr>
            <a:r>
              <a:rPr lang="en-US" sz="1800" b="1" dirty="0">
                <a:solidFill>
                  <a:srgbClr val="00A8CC"/>
                </a:solidFill>
              </a:rPr>
              <a:t>›</a:t>
            </a:r>
            <a:endParaRPr lang="en-US" sz="1800" dirty="0"/>
          </a:p>
        </p:txBody>
      </p:sp>
      <p:sp>
        <p:nvSpPr>
          <p:cNvPr id="12" name="Shape 10"/>
          <p:cNvSpPr/>
          <p:nvPr/>
        </p:nvSpPr>
        <p:spPr>
          <a:xfrm>
            <a:off x="2542032" y="1920240"/>
            <a:ext cx="1691640" cy="1508760"/>
          </a:xfrm>
          <a:prstGeom prst="roundRect">
            <a:avLst>
              <a:gd name="adj" fmla="val 4848"/>
            </a:avLst>
          </a:prstGeom>
          <a:solidFill>
            <a:srgbClr val="1F2937"/>
          </a:solidFill>
          <a:ln w="12700">
            <a:solidFill>
              <a:srgbClr val="334155"/>
            </a:solidFill>
            <a:prstDash val="solid"/>
          </a:ln>
        </p:spPr>
      </p:sp>
      <p:sp>
        <p:nvSpPr>
          <p:cNvPr id="13" name="Text 11"/>
          <p:cNvSpPr/>
          <p:nvPr/>
        </p:nvSpPr>
        <p:spPr>
          <a:xfrm>
            <a:off x="2679192" y="2240280"/>
            <a:ext cx="1417320" cy="256032"/>
          </a:xfrm>
          <a:prstGeom prst="rect">
            <a:avLst/>
          </a:prstGeom>
          <a:noFill/>
          <a:ln/>
        </p:spPr>
        <p:txBody>
          <a:bodyPr wrap="square" lIns="0" tIns="0" rIns="0" bIns="0" rtlCol="0" anchor="ctr">
            <a:normAutofit/>
          </a:bodyPr>
          <a:lstStyle/>
          <a:p>
            <a:pPr marL="0" indent="0" algn="ctr">
              <a:buNone/>
            </a:pPr>
            <a:r>
              <a:rPr lang="en-US" sz="1600" b="1" dirty="0">
                <a:solidFill>
                  <a:srgbClr val="FFFFFF"/>
                </a:solidFill>
              </a:rPr>
              <a:t>ATS</a:t>
            </a:r>
            <a:endParaRPr lang="en-US" sz="1600" dirty="0"/>
          </a:p>
        </p:txBody>
      </p:sp>
      <p:sp>
        <p:nvSpPr>
          <p:cNvPr id="14" name="Text 12"/>
          <p:cNvSpPr/>
          <p:nvPr/>
        </p:nvSpPr>
        <p:spPr>
          <a:xfrm>
            <a:off x="2679192" y="2651760"/>
            <a:ext cx="1417320" cy="201168"/>
          </a:xfrm>
          <a:prstGeom prst="rect">
            <a:avLst/>
          </a:prstGeom>
          <a:noFill/>
          <a:ln/>
        </p:spPr>
        <p:txBody>
          <a:bodyPr wrap="square" lIns="0" tIns="0" rIns="0" bIns="0" rtlCol="0" anchor="ctr"/>
          <a:lstStyle/>
          <a:p>
            <a:pPr marL="0" indent="0" algn="ctr">
              <a:buNone/>
            </a:pPr>
            <a:r>
              <a:rPr lang="en-US" sz="850" dirty="0">
                <a:solidFill>
                  <a:srgbClr val="CBD5E1"/>
                </a:solidFill>
              </a:rPr>
              <a:t>Filter</a:t>
            </a:r>
            <a:endParaRPr lang="en-US" sz="850" dirty="0"/>
          </a:p>
        </p:txBody>
      </p:sp>
      <p:sp>
        <p:nvSpPr>
          <p:cNvPr id="15" name="Text 13"/>
          <p:cNvSpPr/>
          <p:nvPr/>
        </p:nvSpPr>
        <p:spPr>
          <a:xfrm>
            <a:off x="4352544" y="2450592"/>
            <a:ext cx="228600" cy="256032"/>
          </a:xfrm>
          <a:prstGeom prst="rect">
            <a:avLst/>
          </a:prstGeom>
          <a:noFill/>
          <a:ln/>
        </p:spPr>
        <p:txBody>
          <a:bodyPr wrap="square" lIns="0" tIns="0" rIns="0" bIns="0" rtlCol="0" anchor="ctr"/>
          <a:lstStyle/>
          <a:p>
            <a:pPr marL="0" indent="0">
              <a:buNone/>
            </a:pPr>
            <a:r>
              <a:rPr lang="en-US" sz="1800" b="1" dirty="0">
                <a:solidFill>
                  <a:srgbClr val="00A8CC"/>
                </a:solidFill>
              </a:rPr>
              <a:t>›</a:t>
            </a:r>
            <a:endParaRPr lang="en-US" sz="1800" dirty="0"/>
          </a:p>
        </p:txBody>
      </p:sp>
      <p:sp>
        <p:nvSpPr>
          <p:cNvPr id="16" name="Shape 14"/>
          <p:cNvSpPr/>
          <p:nvPr/>
        </p:nvSpPr>
        <p:spPr>
          <a:xfrm>
            <a:off x="4443984" y="1920240"/>
            <a:ext cx="1691640" cy="1508760"/>
          </a:xfrm>
          <a:prstGeom prst="roundRect">
            <a:avLst>
              <a:gd name="adj" fmla="val 4848"/>
            </a:avLst>
          </a:prstGeom>
          <a:solidFill>
            <a:srgbClr val="FFFFFF"/>
          </a:solidFill>
          <a:ln w="12700">
            <a:solidFill>
              <a:srgbClr val="FFFFFF"/>
            </a:solidFill>
            <a:prstDash val="solid"/>
          </a:ln>
        </p:spPr>
      </p:sp>
      <p:sp>
        <p:nvSpPr>
          <p:cNvPr id="17" name="Text 15"/>
          <p:cNvSpPr/>
          <p:nvPr/>
        </p:nvSpPr>
        <p:spPr>
          <a:xfrm>
            <a:off x="4581144" y="2240280"/>
            <a:ext cx="1417320" cy="256032"/>
          </a:xfrm>
          <a:prstGeom prst="rect">
            <a:avLst/>
          </a:prstGeom>
          <a:noFill/>
          <a:ln/>
        </p:spPr>
        <p:txBody>
          <a:bodyPr wrap="square" lIns="0" tIns="0" rIns="0" bIns="0" rtlCol="0" anchor="ctr">
            <a:normAutofit/>
          </a:bodyPr>
          <a:lstStyle/>
          <a:p>
            <a:pPr marL="0" indent="0" algn="ctr">
              <a:buNone/>
            </a:pPr>
            <a:r>
              <a:rPr lang="en-US" sz="1600" b="1" dirty="0">
                <a:solidFill>
                  <a:srgbClr val="152238"/>
                </a:solidFill>
              </a:rPr>
              <a:t>Recruiter</a:t>
            </a:r>
            <a:endParaRPr lang="en-US" sz="1600" dirty="0"/>
          </a:p>
        </p:txBody>
      </p:sp>
      <p:sp>
        <p:nvSpPr>
          <p:cNvPr id="18" name="Text 16"/>
          <p:cNvSpPr/>
          <p:nvPr/>
        </p:nvSpPr>
        <p:spPr>
          <a:xfrm>
            <a:off x="4581144" y="2651760"/>
            <a:ext cx="1417320" cy="201168"/>
          </a:xfrm>
          <a:prstGeom prst="rect">
            <a:avLst/>
          </a:prstGeom>
          <a:noFill/>
          <a:ln/>
        </p:spPr>
        <p:txBody>
          <a:bodyPr wrap="square" lIns="0" tIns="0" rIns="0" bIns="0" rtlCol="0" anchor="ctr"/>
          <a:lstStyle/>
          <a:p>
            <a:pPr marL="0" indent="0" algn="ctr">
              <a:buNone/>
            </a:pPr>
            <a:r>
              <a:rPr lang="en-US" sz="850" dirty="0">
                <a:solidFill>
                  <a:srgbClr val="5B6472"/>
                </a:solidFill>
              </a:rPr>
              <a:t>Screen</a:t>
            </a:r>
            <a:endParaRPr lang="en-US" sz="850" dirty="0"/>
          </a:p>
        </p:txBody>
      </p:sp>
      <p:sp>
        <p:nvSpPr>
          <p:cNvPr id="19" name="Text 17"/>
          <p:cNvSpPr/>
          <p:nvPr/>
        </p:nvSpPr>
        <p:spPr>
          <a:xfrm>
            <a:off x="6254496" y="2450592"/>
            <a:ext cx="228600" cy="256032"/>
          </a:xfrm>
          <a:prstGeom prst="rect">
            <a:avLst/>
          </a:prstGeom>
          <a:noFill/>
          <a:ln/>
        </p:spPr>
        <p:txBody>
          <a:bodyPr wrap="square" lIns="0" tIns="0" rIns="0" bIns="0" rtlCol="0" anchor="ctr"/>
          <a:lstStyle/>
          <a:p>
            <a:pPr marL="0" indent="0">
              <a:buNone/>
            </a:pPr>
            <a:r>
              <a:rPr lang="en-US" sz="1800" b="1" dirty="0">
                <a:solidFill>
                  <a:srgbClr val="00A8CC"/>
                </a:solidFill>
              </a:rPr>
              <a:t>›</a:t>
            </a:r>
            <a:endParaRPr lang="en-US" sz="1800" dirty="0"/>
          </a:p>
        </p:txBody>
      </p:sp>
      <p:sp>
        <p:nvSpPr>
          <p:cNvPr id="20" name="Shape 18"/>
          <p:cNvSpPr/>
          <p:nvPr/>
        </p:nvSpPr>
        <p:spPr>
          <a:xfrm>
            <a:off x="6345936" y="1920240"/>
            <a:ext cx="1691640" cy="1508760"/>
          </a:xfrm>
          <a:prstGeom prst="roundRect">
            <a:avLst>
              <a:gd name="adj" fmla="val 4848"/>
            </a:avLst>
          </a:prstGeom>
          <a:solidFill>
            <a:srgbClr val="1F2937"/>
          </a:solidFill>
          <a:ln w="12700">
            <a:solidFill>
              <a:srgbClr val="334155"/>
            </a:solidFill>
            <a:prstDash val="solid"/>
          </a:ln>
        </p:spPr>
      </p:sp>
      <p:sp>
        <p:nvSpPr>
          <p:cNvPr id="21" name="Text 19"/>
          <p:cNvSpPr/>
          <p:nvPr/>
        </p:nvSpPr>
        <p:spPr>
          <a:xfrm>
            <a:off x="6483096" y="2240280"/>
            <a:ext cx="1417320" cy="256032"/>
          </a:xfrm>
          <a:prstGeom prst="rect">
            <a:avLst/>
          </a:prstGeom>
          <a:noFill/>
          <a:ln/>
        </p:spPr>
        <p:txBody>
          <a:bodyPr wrap="square" lIns="0" tIns="0" rIns="0" bIns="0" rtlCol="0" anchor="ctr">
            <a:normAutofit/>
          </a:bodyPr>
          <a:lstStyle/>
          <a:p>
            <a:pPr marL="0" indent="0" algn="ctr">
              <a:buNone/>
            </a:pPr>
            <a:r>
              <a:rPr lang="en-US" sz="1600" b="1" dirty="0">
                <a:solidFill>
                  <a:srgbClr val="FFFFFF"/>
                </a:solidFill>
              </a:rPr>
              <a:t>Hiring Manager</a:t>
            </a:r>
            <a:endParaRPr lang="en-US" sz="1600" dirty="0"/>
          </a:p>
        </p:txBody>
      </p:sp>
      <p:sp>
        <p:nvSpPr>
          <p:cNvPr id="22" name="Text 20"/>
          <p:cNvSpPr/>
          <p:nvPr/>
        </p:nvSpPr>
        <p:spPr>
          <a:xfrm>
            <a:off x="6483096" y="2651760"/>
            <a:ext cx="1417320" cy="201168"/>
          </a:xfrm>
          <a:prstGeom prst="rect">
            <a:avLst/>
          </a:prstGeom>
          <a:noFill/>
          <a:ln/>
        </p:spPr>
        <p:txBody>
          <a:bodyPr wrap="square" lIns="0" tIns="0" rIns="0" bIns="0" rtlCol="0" anchor="ctr"/>
          <a:lstStyle/>
          <a:p>
            <a:pPr marL="0" indent="0" algn="ctr">
              <a:buNone/>
            </a:pPr>
            <a:r>
              <a:rPr lang="en-US" sz="850" dirty="0">
                <a:solidFill>
                  <a:srgbClr val="CBD5E1"/>
                </a:solidFill>
              </a:rPr>
              <a:t>Review</a:t>
            </a:r>
            <a:endParaRPr lang="en-US" sz="850" dirty="0"/>
          </a:p>
        </p:txBody>
      </p:sp>
      <p:sp>
        <p:nvSpPr>
          <p:cNvPr id="23" name="Text 21"/>
          <p:cNvSpPr/>
          <p:nvPr/>
        </p:nvSpPr>
        <p:spPr>
          <a:xfrm>
            <a:off x="8156448" y="2450592"/>
            <a:ext cx="228600" cy="256032"/>
          </a:xfrm>
          <a:prstGeom prst="rect">
            <a:avLst/>
          </a:prstGeom>
          <a:noFill/>
          <a:ln/>
        </p:spPr>
        <p:txBody>
          <a:bodyPr wrap="square" lIns="0" tIns="0" rIns="0" bIns="0" rtlCol="0" anchor="ctr"/>
          <a:lstStyle/>
          <a:p>
            <a:pPr marL="0" indent="0">
              <a:buNone/>
            </a:pPr>
            <a:r>
              <a:rPr lang="en-US" sz="1800" b="1" dirty="0">
                <a:solidFill>
                  <a:srgbClr val="00A8CC"/>
                </a:solidFill>
              </a:rPr>
              <a:t>›</a:t>
            </a:r>
            <a:endParaRPr lang="en-US" sz="1800" dirty="0"/>
          </a:p>
        </p:txBody>
      </p:sp>
      <p:sp>
        <p:nvSpPr>
          <p:cNvPr id="24" name="Shape 22"/>
          <p:cNvSpPr/>
          <p:nvPr/>
        </p:nvSpPr>
        <p:spPr>
          <a:xfrm>
            <a:off x="8247888" y="1920240"/>
            <a:ext cx="1691640" cy="1508760"/>
          </a:xfrm>
          <a:prstGeom prst="roundRect">
            <a:avLst>
              <a:gd name="adj" fmla="val 4848"/>
            </a:avLst>
          </a:prstGeom>
          <a:solidFill>
            <a:srgbClr val="FFFFFF"/>
          </a:solidFill>
          <a:ln w="12700">
            <a:solidFill>
              <a:srgbClr val="FFFFFF"/>
            </a:solidFill>
            <a:prstDash val="solid"/>
          </a:ln>
        </p:spPr>
      </p:sp>
      <p:sp>
        <p:nvSpPr>
          <p:cNvPr id="25" name="Text 23"/>
          <p:cNvSpPr/>
          <p:nvPr/>
        </p:nvSpPr>
        <p:spPr>
          <a:xfrm>
            <a:off x="8385048" y="2240280"/>
            <a:ext cx="1417320" cy="256032"/>
          </a:xfrm>
          <a:prstGeom prst="rect">
            <a:avLst/>
          </a:prstGeom>
          <a:noFill/>
          <a:ln/>
        </p:spPr>
        <p:txBody>
          <a:bodyPr wrap="square" lIns="0" tIns="0" rIns="0" bIns="0" rtlCol="0" anchor="ctr">
            <a:normAutofit/>
          </a:bodyPr>
          <a:lstStyle/>
          <a:p>
            <a:pPr marL="0" indent="0" algn="ctr">
              <a:buNone/>
            </a:pPr>
            <a:r>
              <a:rPr lang="en-US" sz="1600" b="1" dirty="0">
                <a:solidFill>
                  <a:srgbClr val="152238"/>
                </a:solidFill>
              </a:rPr>
              <a:t>Interview</a:t>
            </a:r>
            <a:endParaRPr lang="en-US" sz="1600" dirty="0"/>
          </a:p>
        </p:txBody>
      </p:sp>
      <p:sp>
        <p:nvSpPr>
          <p:cNvPr id="26" name="Text 24"/>
          <p:cNvSpPr/>
          <p:nvPr/>
        </p:nvSpPr>
        <p:spPr>
          <a:xfrm>
            <a:off x="8385048" y="2651760"/>
            <a:ext cx="1417320" cy="201168"/>
          </a:xfrm>
          <a:prstGeom prst="rect">
            <a:avLst/>
          </a:prstGeom>
          <a:noFill/>
          <a:ln/>
        </p:spPr>
        <p:txBody>
          <a:bodyPr wrap="square" lIns="0" tIns="0" rIns="0" bIns="0" rtlCol="0" anchor="ctr"/>
          <a:lstStyle/>
          <a:p>
            <a:pPr marL="0" indent="0" algn="ctr">
              <a:buNone/>
            </a:pPr>
            <a:r>
              <a:rPr lang="en-US" sz="850" dirty="0">
                <a:solidFill>
                  <a:srgbClr val="5B6472"/>
                </a:solidFill>
              </a:rPr>
              <a:t>Stage</a:t>
            </a:r>
            <a:endParaRPr lang="en-US" sz="850" dirty="0"/>
          </a:p>
        </p:txBody>
      </p:sp>
      <p:sp>
        <p:nvSpPr>
          <p:cNvPr id="27" name="Text 25"/>
          <p:cNvSpPr/>
          <p:nvPr/>
        </p:nvSpPr>
        <p:spPr>
          <a:xfrm>
            <a:off x="10058400" y="2450592"/>
            <a:ext cx="228600" cy="256032"/>
          </a:xfrm>
          <a:prstGeom prst="rect">
            <a:avLst/>
          </a:prstGeom>
          <a:noFill/>
          <a:ln/>
        </p:spPr>
        <p:txBody>
          <a:bodyPr wrap="square" lIns="0" tIns="0" rIns="0" bIns="0" rtlCol="0" anchor="ctr"/>
          <a:lstStyle/>
          <a:p>
            <a:pPr marL="0" indent="0">
              <a:buNone/>
            </a:pPr>
            <a:r>
              <a:rPr lang="en-US" sz="1800" b="1" dirty="0">
                <a:solidFill>
                  <a:srgbClr val="00A8CC"/>
                </a:solidFill>
              </a:rPr>
              <a:t>›</a:t>
            </a:r>
            <a:endParaRPr lang="en-US" sz="1800" dirty="0"/>
          </a:p>
        </p:txBody>
      </p:sp>
      <p:sp>
        <p:nvSpPr>
          <p:cNvPr id="28" name="Shape 26"/>
          <p:cNvSpPr/>
          <p:nvPr/>
        </p:nvSpPr>
        <p:spPr>
          <a:xfrm>
            <a:off x="10149840" y="1920240"/>
            <a:ext cx="1691640" cy="1508760"/>
          </a:xfrm>
          <a:prstGeom prst="roundRect">
            <a:avLst>
              <a:gd name="adj" fmla="val 4848"/>
            </a:avLst>
          </a:prstGeom>
          <a:solidFill>
            <a:srgbClr val="1F2937"/>
          </a:solidFill>
          <a:ln w="12700">
            <a:solidFill>
              <a:srgbClr val="334155"/>
            </a:solidFill>
            <a:prstDash val="solid"/>
          </a:ln>
        </p:spPr>
      </p:sp>
      <p:sp>
        <p:nvSpPr>
          <p:cNvPr id="29" name="Text 27"/>
          <p:cNvSpPr/>
          <p:nvPr/>
        </p:nvSpPr>
        <p:spPr>
          <a:xfrm>
            <a:off x="10287000" y="2240280"/>
            <a:ext cx="1417320" cy="256032"/>
          </a:xfrm>
          <a:prstGeom prst="rect">
            <a:avLst/>
          </a:prstGeom>
          <a:noFill/>
          <a:ln/>
        </p:spPr>
        <p:txBody>
          <a:bodyPr wrap="square" lIns="0" tIns="0" rIns="0" bIns="0" rtlCol="0" anchor="ctr">
            <a:normAutofit/>
          </a:bodyPr>
          <a:lstStyle/>
          <a:p>
            <a:pPr marL="0" indent="0" algn="ctr">
              <a:buNone/>
            </a:pPr>
            <a:r>
              <a:rPr lang="en-US" sz="1600" b="1" dirty="0">
                <a:solidFill>
                  <a:srgbClr val="FFFFFF"/>
                </a:solidFill>
              </a:rPr>
              <a:t>Offer</a:t>
            </a:r>
            <a:endParaRPr lang="en-US" sz="1600" dirty="0"/>
          </a:p>
        </p:txBody>
      </p:sp>
      <p:sp>
        <p:nvSpPr>
          <p:cNvPr id="30" name="Text 28"/>
          <p:cNvSpPr/>
          <p:nvPr/>
        </p:nvSpPr>
        <p:spPr>
          <a:xfrm>
            <a:off x="10287000" y="2651760"/>
            <a:ext cx="1417320" cy="201168"/>
          </a:xfrm>
          <a:prstGeom prst="rect">
            <a:avLst/>
          </a:prstGeom>
          <a:noFill/>
          <a:ln/>
        </p:spPr>
        <p:txBody>
          <a:bodyPr wrap="square" lIns="0" tIns="0" rIns="0" bIns="0" rtlCol="0" anchor="ctr"/>
          <a:lstStyle/>
          <a:p>
            <a:pPr marL="0" indent="0" algn="ctr">
              <a:buNone/>
            </a:pPr>
            <a:r>
              <a:rPr lang="en-US" sz="850" dirty="0">
                <a:solidFill>
                  <a:srgbClr val="CBD5E1"/>
                </a:solidFill>
              </a:rPr>
              <a:t>1 person</a:t>
            </a:r>
            <a:endParaRPr lang="en-US" sz="850" dirty="0"/>
          </a:p>
        </p:txBody>
      </p:sp>
      <p:sp>
        <p:nvSpPr>
          <p:cNvPr id="31" name="Text 29"/>
          <p:cNvSpPr/>
          <p:nvPr/>
        </p:nvSpPr>
        <p:spPr>
          <a:xfrm>
            <a:off x="1005840" y="4800600"/>
            <a:ext cx="10149840" cy="320040"/>
          </a:xfrm>
          <a:prstGeom prst="rect">
            <a:avLst/>
          </a:prstGeom>
          <a:noFill/>
          <a:ln/>
        </p:spPr>
        <p:txBody>
          <a:bodyPr wrap="square" lIns="0" tIns="0" rIns="0" bIns="0" rtlCol="0" anchor="ctr">
            <a:normAutofit/>
          </a:bodyPr>
          <a:lstStyle/>
          <a:p>
            <a:pPr marL="0" indent="0" algn="ctr">
              <a:buNone/>
            </a:pPr>
            <a:r>
              <a:rPr lang="en-US" sz="1600" b="1" dirty="0">
                <a:solidFill>
                  <a:srgbClr val="A7F3D0"/>
                </a:solidFill>
              </a:rPr>
              <a:t>A generic CV can be rejected before a human ever understands your potential.</a:t>
            </a:r>
            <a:endParaRPr lang="en-US" sz="1600" dirty="0"/>
          </a:p>
        </p:txBody>
      </p:sp>
      <p:sp>
        <p:nvSpPr>
          <p:cNvPr id="33" name="Text 30"/>
          <p:cNvSpPr/>
          <p:nvPr/>
        </p:nvSpPr>
        <p:spPr>
          <a:xfrm>
            <a:off x="411480" y="6510528"/>
            <a:ext cx="6400800" cy="164592"/>
          </a:xfrm>
          <a:prstGeom prst="rect">
            <a:avLst/>
          </a:prstGeom>
          <a:noFill/>
          <a:ln/>
        </p:spPr>
        <p:txBody>
          <a:bodyPr wrap="square" lIns="0" tIns="0" rIns="0" bIns="0" rtlCol="0" anchor="ctr"/>
          <a:lstStyle/>
          <a:p>
            <a:pPr marL="0" indent="0">
              <a:buNone/>
            </a:pPr>
            <a:r>
              <a:rPr lang="en-US" sz="600" dirty="0">
                <a:solidFill>
                  <a:srgbClr val="7C7C7C"/>
                </a:solidFill>
                <a:latin typeface="Aptos" pitchFamily="34" charset="0"/>
                <a:ea typeface="Aptos" pitchFamily="34" charset="-122"/>
                <a:cs typeface="Aptos" pitchFamily="34" charset="-120"/>
              </a:rPr>
              <a:t>What's Next After Graduation?  |  Farah Kerbaj</a:t>
            </a:r>
            <a:endParaRPr lang="en-US" sz="600" dirty="0"/>
          </a:p>
        </p:txBody>
      </p:sp>
      <p:sp>
        <p:nvSpPr>
          <p:cNvPr id="34" name="Text 31"/>
          <p:cNvSpPr/>
          <p:nvPr/>
        </p:nvSpPr>
        <p:spPr>
          <a:xfrm>
            <a:off x="11430000" y="6473952"/>
            <a:ext cx="320040" cy="182880"/>
          </a:xfrm>
          <a:prstGeom prst="rect">
            <a:avLst/>
          </a:prstGeom>
          <a:noFill/>
          <a:ln/>
        </p:spPr>
        <p:txBody>
          <a:bodyPr wrap="square" lIns="0" tIns="0" rIns="0" bIns="0" rtlCol="0" anchor="ctr"/>
          <a:lstStyle/>
          <a:p>
            <a:pPr marL="0" indent="0" algn="r">
              <a:buNone/>
            </a:pPr>
            <a:r>
              <a:rPr lang="en-US" sz="700" dirty="0">
                <a:solidFill>
                  <a:srgbClr val="7C7C7C"/>
                </a:solidFill>
              </a:rPr>
              <a:t>11</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F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F2"/>
          </a:solidFill>
          <a:ln w="12700">
            <a:solidFill>
              <a:srgbClr val="F7F4F2">
                <a:alpha val="0"/>
              </a:srgbClr>
            </a:solidFill>
            <a:prstDash val="solid"/>
          </a:ln>
        </p:spPr>
      </p:sp>
      <p:sp>
        <p:nvSpPr>
          <p:cNvPr id="3" name="Shape 1"/>
          <p:cNvSpPr/>
          <p:nvPr/>
        </p:nvSpPr>
        <p:spPr>
          <a:xfrm>
            <a:off x="0" y="0"/>
            <a:ext cx="12191695" cy="73152"/>
          </a:xfrm>
          <a:prstGeom prst="rect">
            <a:avLst/>
          </a:prstGeom>
          <a:solidFill>
            <a:srgbClr val="F59E0B"/>
          </a:solidFill>
          <a:ln w="12700">
            <a:solidFill>
              <a:srgbClr val="F59E0B"/>
            </a:solidFill>
            <a:prstDash val="solid"/>
          </a:ln>
        </p:spPr>
      </p:sp>
      <p:sp>
        <p:nvSpPr>
          <p:cNvPr id="4" name="Text 2"/>
          <p:cNvSpPr/>
          <p:nvPr/>
        </p:nvSpPr>
        <p:spPr>
          <a:xfrm>
            <a:off x="667512" y="274320"/>
            <a:ext cx="7315200" cy="201168"/>
          </a:xfrm>
          <a:prstGeom prst="rect">
            <a:avLst/>
          </a:prstGeom>
          <a:noFill/>
          <a:ln/>
        </p:spPr>
        <p:txBody>
          <a:bodyPr wrap="square" lIns="0" tIns="0" rIns="0" bIns="0" rtlCol="0" anchor="ctr"/>
          <a:lstStyle/>
          <a:p>
            <a:pPr marL="0" indent="0">
              <a:buNone/>
            </a:pPr>
            <a:r>
              <a:rPr lang="en-US" sz="750" b="1" dirty="0">
                <a:solidFill>
                  <a:srgbClr val="F59E0B"/>
                </a:solidFill>
              </a:rPr>
              <a:t>CV MINDSET</a:t>
            </a:r>
            <a:endParaRPr lang="en-US" sz="750" dirty="0"/>
          </a:p>
        </p:txBody>
      </p:sp>
      <p:sp>
        <p:nvSpPr>
          <p:cNvPr id="5" name="Text 3"/>
          <p:cNvSpPr/>
          <p:nvPr/>
        </p:nvSpPr>
        <p:spPr>
          <a:xfrm>
            <a:off x="640080" y="502920"/>
            <a:ext cx="10881360" cy="438912"/>
          </a:xfrm>
          <a:prstGeom prst="rect">
            <a:avLst/>
          </a:prstGeom>
          <a:noFill/>
          <a:ln/>
        </p:spPr>
        <p:txBody>
          <a:bodyPr wrap="square" lIns="0" tIns="0" rIns="0" bIns="0" rtlCol="0" anchor="ctr">
            <a:normAutofit/>
          </a:bodyPr>
          <a:lstStyle/>
          <a:p>
            <a:pPr marL="0" indent="0">
              <a:buNone/>
            </a:pPr>
            <a:r>
              <a:rPr lang="en-US" sz="2500" b="1" dirty="0">
                <a:solidFill>
                  <a:srgbClr val="111827"/>
                </a:solidFill>
                <a:latin typeface="Aptos Display" pitchFamily="34" charset="0"/>
                <a:ea typeface="Aptos Display" pitchFamily="34" charset="-122"/>
                <a:cs typeface="Aptos Display" pitchFamily="34" charset="-120"/>
              </a:rPr>
              <a:t>Your CV Is an Argument</a:t>
            </a:r>
            <a:endParaRPr lang="en-US" sz="2500" dirty="0"/>
          </a:p>
        </p:txBody>
      </p:sp>
      <p:sp>
        <p:nvSpPr>
          <p:cNvPr id="6" name="Text 4"/>
          <p:cNvSpPr/>
          <p:nvPr/>
        </p:nvSpPr>
        <p:spPr>
          <a:xfrm>
            <a:off x="667512" y="987552"/>
            <a:ext cx="10424160" cy="256032"/>
          </a:xfrm>
          <a:prstGeom prst="rect">
            <a:avLst/>
          </a:prstGeom>
          <a:noFill/>
          <a:ln/>
        </p:spPr>
        <p:txBody>
          <a:bodyPr wrap="square" lIns="0" tIns="0" rIns="0" bIns="0" rtlCol="0" anchor="ctr"/>
          <a:lstStyle/>
          <a:p>
            <a:pPr marL="0" indent="0">
              <a:buNone/>
            </a:pPr>
            <a:r>
              <a:rPr lang="en-US" sz="950" dirty="0">
                <a:solidFill>
                  <a:srgbClr val="5B6472"/>
                </a:solidFill>
              </a:rPr>
              <a:t>Not a biography. Not a list of duties. A case for why you’re worth interviewing.</a:t>
            </a:r>
            <a:endParaRPr lang="en-US" sz="950" dirty="0"/>
          </a:p>
        </p:txBody>
      </p:sp>
      <p:sp>
        <p:nvSpPr>
          <p:cNvPr id="7" name="Shape 5"/>
          <p:cNvSpPr/>
          <p:nvPr/>
        </p:nvSpPr>
        <p:spPr>
          <a:xfrm>
            <a:off x="640080" y="1325880"/>
            <a:ext cx="10881360" cy="0"/>
          </a:xfrm>
          <a:prstGeom prst="line">
            <a:avLst/>
          </a:prstGeom>
          <a:noFill/>
          <a:ln w="12700">
            <a:solidFill>
              <a:srgbClr val="D6D3D1"/>
            </a:solidFill>
            <a:prstDash val="solid"/>
          </a:ln>
        </p:spPr>
      </p:sp>
      <p:sp>
        <p:nvSpPr>
          <p:cNvPr id="8" name="Shape 6"/>
          <p:cNvSpPr/>
          <p:nvPr/>
        </p:nvSpPr>
        <p:spPr>
          <a:xfrm>
            <a:off x="868680" y="1737360"/>
            <a:ext cx="3017520" cy="2468880"/>
          </a:xfrm>
          <a:prstGeom prst="roundRect">
            <a:avLst>
              <a:gd name="adj" fmla="val 2963"/>
            </a:avLst>
          </a:prstGeom>
          <a:solidFill>
            <a:srgbClr val="E0F2FE"/>
          </a:solidFill>
          <a:ln w="12700">
            <a:solidFill>
              <a:srgbClr val="E8E2DE"/>
            </a:solidFill>
            <a:prstDash val="solid"/>
          </a:ln>
        </p:spPr>
      </p:sp>
      <p:sp>
        <p:nvSpPr>
          <p:cNvPr id="9" name="Shape 7"/>
          <p:cNvSpPr/>
          <p:nvPr/>
        </p:nvSpPr>
        <p:spPr>
          <a:xfrm>
            <a:off x="4572000" y="1737360"/>
            <a:ext cx="3017520" cy="2468880"/>
          </a:xfrm>
          <a:prstGeom prst="roundRect">
            <a:avLst>
              <a:gd name="adj" fmla="val 2963"/>
            </a:avLst>
          </a:prstGeom>
          <a:solidFill>
            <a:srgbClr val="FEF3C7"/>
          </a:solidFill>
          <a:ln w="12700">
            <a:solidFill>
              <a:srgbClr val="E8E2DE"/>
            </a:solidFill>
            <a:prstDash val="solid"/>
          </a:ln>
        </p:spPr>
      </p:sp>
      <p:sp>
        <p:nvSpPr>
          <p:cNvPr id="10" name="Shape 8"/>
          <p:cNvSpPr/>
          <p:nvPr/>
        </p:nvSpPr>
        <p:spPr>
          <a:xfrm>
            <a:off x="8275320" y="1737360"/>
            <a:ext cx="3017520" cy="2468880"/>
          </a:xfrm>
          <a:prstGeom prst="roundRect">
            <a:avLst>
              <a:gd name="adj" fmla="val 2963"/>
            </a:avLst>
          </a:prstGeom>
          <a:solidFill>
            <a:srgbClr val="D1FAE5"/>
          </a:solidFill>
          <a:ln w="12700">
            <a:solidFill>
              <a:srgbClr val="E8E2DE"/>
            </a:solidFill>
            <a:prstDash val="solid"/>
          </a:ln>
        </p:spPr>
      </p:sp>
      <p:sp>
        <p:nvSpPr>
          <p:cNvPr id="11" name="Text 9"/>
          <p:cNvSpPr/>
          <p:nvPr/>
        </p:nvSpPr>
        <p:spPr>
          <a:xfrm>
            <a:off x="1143000" y="2057400"/>
            <a:ext cx="2468880" cy="210312"/>
          </a:xfrm>
          <a:prstGeom prst="rect">
            <a:avLst/>
          </a:prstGeom>
          <a:noFill/>
          <a:ln/>
        </p:spPr>
        <p:txBody>
          <a:bodyPr wrap="square" lIns="0" tIns="0" rIns="0" bIns="0" rtlCol="0" anchor="ctr"/>
          <a:lstStyle/>
          <a:p>
            <a:pPr marL="0" indent="0" algn="ctr">
              <a:buNone/>
            </a:pPr>
            <a:r>
              <a:rPr lang="en-US" sz="1600" b="1" dirty="0">
                <a:solidFill>
                  <a:srgbClr val="2563EB"/>
                </a:solidFill>
              </a:rPr>
              <a:t>YOU</a:t>
            </a:r>
            <a:endParaRPr lang="en-US" sz="1600" dirty="0"/>
          </a:p>
        </p:txBody>
      </p:sp>
      <p:sp>
        <p:nvSpPr>
          <p:cNvPr id="12" name="Text 10"/>
          <p:cNvSpPr/>
          <p:nvPr/>
        </p:nvSpPr>
        <p:spPr>
          <a:xfrm>
            <a:off x="1353312" y="2606040"/>
            <a:ext cx="2057400" cy="777240"/>
          </a:xfrm>
          <a:prstGeom prst="rect">
            <a:avLst/>
          </a:prstGeom>
          <a:noFill/>
          <a:ln/>
        </p:spPr>
        <p:txBody>
          <a:bodyPr wrap="square" lIns="0" tIns="0" rIns="0" bIns="0" rtlCol="0" anchor="ctr"/>
          <a:lstStyle/>
          <a:p>
            <a:pPr marL="0" indent="0" algn="ctr">
              <a:buNone/>
            </a:pPr>
            <a:r>
              <a:rPr lang="en-US" sz="1200" dirty="0">
                <a:solidFill>
                  <a:srgbClr val="111827"/>
                </a:solidFill>
              </a:rPr>
              <a:t>Education</a:t>
            </a:r>
            <a:endParaRPr lang="en-US" sz="1200" dirty="0"/>
          </a:p>
          <a:p>
            <a:pPr marL="0" indent="0" algn="ctr">
              <a:buNone/>
            </a:pPr>
            <a:r>
              <a:rPr lang="en-US" sz="1200" dirty="0">
                <a:solidFill>
                  <a:srgbClr val="111827"/>
                </a:solidFill>
              </a:rPr>
              <a:t>Skills</a:t>
            </a:r>
            <a:endParaRPr lang="en-US" sz="1200" dirty="0"/>
          </a:p>
          <a:p>
            <a:pPr marL="0" indent="0" algn="ctr">
              <a:buNone/>
            </a:pPr>
            <a:r>
              <a:rPr lang="en-US" sz="1200" dirty="0">
                <a:solidFill>
                  <a:srgbClr val="111827"/>
                </a:solidFill>
              </a:rPr>
              <a:t>Projects</a:t>
            </a:r>
            <a:endParaRPr lang="en-US" sz="1200" dirty="0"/>
          </a:p>
          <a:p>
            <a:pPr marL="0" indent="0" algn="ctr">
              <a:buNone/>
            </a:pPr>
            <a:r>
              <a:rPr lang="en-US" sz="1200" dirty="0">
                <a:solidFill>
                  <a:srgbClr val="111827"/>
                </a:solidFill>
              </a:rPr>
              <a:t>Personality</a:t>
            </a:r>
            <a:endParaRPr lang="en-US" sz="1200" dirty="0"/>
          </a:p>
          <a:p>
            <a:pPr marL="0" indent="0" algn="ctr">
              <a:buNone/>
            </a:pPr>
            <a:r>
              <a:rPr lang="en-US" sz="1200" dirty="0">
                <a:solidFill>
                  <a:srgbClr val="111827"/>
                </a:solidFill>
              </a:rPr>
              <a:t>Results</a:t>
            </a:r>
            <a:endParaRPr lang="en-US" sz="1200" dirty="0"/>
          </a:p>
        </p:txBody>
      </p:sp>
      <p:sp>
        <p:nvSpPr>
          <p:cNvPr id="13" name="Text 11"/>
          <p:cNvSpPr/>
          <p:nvPr/>
        </p:nvSpPr>
        <p:spPr>
          <a:xfrm>
            <a:off x="4846320" y="2057400"/>
            <a:ext cx="2468880" cy="210312"/>
          </a:xfrm>
          <a:prstGeom prst="rect">
            <a:avLst/>
          </a:prstGeom>
          <a:noFill/>
          <a:ln/>
        </p:spPr>
        <p:txBody>
          <a:bodyPr wrap="square" lIns="0" tIns="0" rIns="0" bIns="0" rtlCol="0" anchor="ctr"/>
          <a:lstStyle/>
          <a:p>
            <a:pPr marL="0" indent="0" algn="ctr">
              <a:buNone/>
            </a:pPr>
            <a:r>
              <a:rPr lang="en-US" sz="1600" b="1" dirty="0">
                <a:solidFill>
                  <a:srgbClr val="F59E0B"/>
                </a:solidFill>
              </a:rPr>
              <a:t>EMPLOYER</a:t>
            </a:r>
            <a:endParaRPr lang="en-US" sz="1600" dirty="0"/>
          </a:p>
        </p:txBody>
      </p:sp>
      <p:sp>
        <p:nvSpPr>
          <p:cNvPr id="14" name="Text 12"/>
          <p:cNvSpPr/>
          <p:nvPr/>
        </p:nvSpPr>
        <p:spPr>
          <a:xfrm>
            <a:off x="5047488" y="2606040"/>
            <a:ext cx="2057400" cy="777240"/>
          </a:xfrm>
          <a:prstGeom prst="rect">
            <a:avLst/>
          </a:prstGeom>
          <a:noFill/>
          <a:ln/>
        </p:spPr>
        <p:txBody>
          <a:bodyPr wrap="square" lIns="0" tIns="0" rIns="0" bIns="0" rtlCol="0" anchor="ctr"/>
          <a:lstStyle/>
          <a:p>
            <a:pPr marL="0" indent="0" algn="ctr">
              <a:buNone/>
            </a:pPr>
            <a:r>
              <a:rPr lang="en-US" sz="1200" dirty="0">
                <a:solidFill>
                  <a:srgbClr val="111827"/>
                </a:solidFill>
              </a:rPr>
              <a:t>Problems</a:t>
            </a:r>
            <a:endParaRPr lang="en-US" sz="1200" dirty="0"/>
          </a:p>
          <a:p>
            <a:pPr marL="0" indent="0" algn="ctr">
              <a:buNone/>
            </a:pPr>
            <a:r>
              <a:rPr lang="en-US" sz="1200" dirty="0">
                <a:solidFill>
                  <a:srgbClr val="111827"/>
                </a:solidFill>
              </a:rPr>
              <a:t>Deadlines</a:t>
            </a:r>
            <a:endParaRPr lang="en-US" sz="1200" dirty="0"/>
          </a:p>
          <a:p>
            <a:pPr marL="0" indent="0" algn="ctr">
              <a:buNone/>
            </a:pPr>
            <a:r>
              <a:rPr lang="en-US" sz="1200" dirty="0">
                <a:solidFill>
                  <a:srgbClr val="111827"/>
                </a:solidFill>
              </a:rPr>
              <a:t>Users</a:t>
            </a:r>
            <a:endParaRPr lang="en-US" sz="1200" dirty="0"/>
          </a:p>
          <a:p>
            <a:pPr marL="0" indent="0" algn="ctr">
              <a:buNone/>
            </a:pPr>
            <a:r>
              <a:rPr lang="en-US" sz="1200" dirty="0">
                <a:solidFill>
                  <a:srgbClr val="111827"/>
                </a:solidFill>
              </a:rPr>
              <a:t>Revenue</a:t>
            </a:r>
            <a:endParaRPr lang="en-US" sz="1200" dirty="0"/>
          </a:p>
          <a:p>
            <a:pPr marL="0" indent="0" algn="ctr">
              <a:buNone/>
            </a:pPr>
            <a:r>
              <a:rPr lang="en-US" sz="1200" dirty="0">
                <a:solidFill>
                  <a:srgbClr val="111827"/>
                </a:solidFill>
              </a:rPr>
              <a:t>Quality</a:t>
            </a:r>
            <a:endParaRPr lang="en-US" sz="1200" dirty="0"/>
          </a:p>
        </p:txBody>
      </p:sp>
      <p:sp>
        <p:nvSpPr>
          <p:cNvPr id="15" name="Text 13"/>
          <p:cNvSpPr/>
          <p:nvPr/>
        </p:nvSpPr>
        <p:spPr>
          <a:xfrm>
            <a:off x="8549640" y="2057400"/>
            <a:ext cx="2468880" cy="210312"/>
          </a:xfrm>
          <a:prstGeom prst="rect">
            <a:avLst/>
          </a:prstGeom>
          <a:noFill/>
          <a:ln/>
        </p:spPr>
        <p:txBody>
          <a:bodyPr wrap="square" lIns="0" tIns="0" rIns="0" bIns="0" rtlCol="0" anchor="ctr"/>
          <a:lstStyle/>
          <a:p>
            <a:pPr marL="0" indent="0" algn="ctr">
              <a:buNone/>
            </a:pPr>
            <a:r>
              <a:rPr lang="en-US" sz="1600" b="1" dirty="0">
                <a:solidFill>
                  <a:srgbClr val="10B981"/>
                </a:solidFill>
              </a:rPr>
              <a:t>VALUE</a:t>
            </a:r>
            <a:endParaRPr lang="en-US" sz="1600" dirty="0"/>
          </a:p>
        </p:txBody>
      </p:sp>
      <p:sp>
        <p:nvSpPr>
          <p:cNvPr id="16" name="Text 14"/>
          <p:cNvSpPr/>
          <p:nvPr/>
        </p:nvSpPr>
        <p:spPr>
          <a:xfrm>
            <a:off x="8796528" y="2743200"/>
            <a:ext cx="2011680" cy="502920"/>
          </a:xfrm>
          <a:prstGeom prst="rect">
            <a:avLst/>
          </a:prstGeom>
          <a:noFill/>
          <a:ln/>
        </p:spPr>
        <p:txBody>
          <a:bodyPr wrap="square" lIns="0" tIns="0" rIns="0" bIns="0" rtlCol="0" anchor="ctr">
            <a:normAutofit/>
          </a:bodyPr>
          <a:lstStyle/>
          <a:p>
            <a:pPr marL="0" indent="0" algn="ctr">
              <a:buNone/>
            </a:pPr>
            <a:r>
              <a:rPr lang="en-US" sz="1200" dirty="0">
                <a:solidFill>
                  <a:srgbClr val="111827"/>
                </a:solidFill>
              </a:rPr>
              <a:t>Proof that your skills solve their needs</a:t>
            </a:r>
            <a:endParaRPr lang="en-US" sz="1200" dirty="0"/>
          </a:p>
        </p:txBody>
      </p:sp>
      <p:sp>
        <p:nvSpPr>
          <p:cNvPr id="17" name="Text 15"/>
          <p:cNvSpPr/>
          <p:nvPr/>
        </p:nvSpPr>
        <p:spPr>
          <a:xfrm>
            <a:off x="1280160" y="4892040"/>
            <a:ext cx="9601200" cy="320040"/>
          </a:xfrm>
          <a:prstGeom prst="rect">
            <a:avLst/>
          </a:prstGeom>
          <a:noFill/>
          <a:ln/>
        </p:spPr>
        <p:txBody>
          <a:bodyPr wrap="square" lIns="0" tIns="0" rIns="0" bIns="0" rtlCol="0" anchor="ctr"/>
          <a:lstStyle/>
          <a:p>
            <a:pPr marL="0" indent="0" algn="ctr">
              <a:buNone/>
            </a:pPr>
            <a:r>
              <a:rPr lang="en-US" sz="1600" b="1" dirty="0">
                <a:solidFill>
                  <a:srgbClr val="152238"/>
                </a:solidFill>
              </a:rPr>
              <a:t>Formula: I help [who] by using [skills] to achieve [result].</a:t>
            </a:r>
            <a:endParaRPr lang="en-US" sz="1600" dirty="0"/>
          </a:p>
        </p:txBody>
      </p:sp>
      <p:sp>
        <p:nvSpPr>
          <p:cNvPr id="19" name="Text 16"/>
          <p:cNvSpPr/>
          <p:nvPr/>
        </p:nvSpPr>
        <p:spPr>
          <a:xfrm>
            <a:off x="411480" y="6510528"/>
            <a:ext cx="6400800" cy="164592"/>
          </a:xfrm>
          <a:prstGeom prst="rect">
            <a:avLst/>
          </a:prstGeom>
          <a:noFill/>
          <a:ln/>
        </p:spPr>
        <p:txBody>
          <a:bodyPr wrap="square" lIns="0" tIns="0" rIns="0" bIns="0" rtlCol="0" anchor="ctr"/>
          <a:lstStyle/>
          <a:p>
            <a:pPr marL="0" indent="0">
              <a:buNone/>
            </a:pPr>
            <a:r>
              <a:rPr lang="en-US" sz="600" dirty="0">
                <a:solidFill>
                  <a:srgbClr val="7C7C7C"/>
                </a:solidFill>
                <a:latin typeface="Aptos" pitchFamily="34" charset="0"/>
                <a:ea typeface="Aptos" pitchFamily="34" charset="-122"/>
                <a:cs typeface="Aptos" pitchFamily="34" charset="-120"/>
              </a:rPr>
              <a:t>What's Next After Graduation?  |  Farah Kerbaj</a:t>
            </a:r>
            <a:endParaRPr lang="en-US" sz="600" dirty="0"/>
          </a:p>
        </p:txBody>
      </p:sp>
      <p:sp>
        <p:nvSpPr>
          <p:cNvPr id="20" name="Text 17"/>
          <p:cNvSpPr/>
          <p:nvPr/>
        </p:nvSpPr>
        <p:spPr>
          <a:xfrm>
            <a:off x="11430000" y="6473952"/>
            <a:ext cx="320040" cy="182880"/>
          </a:xfrm>
          <a:prstGeom prst="rect">
            <a:avLst/>
          </a:prstGeom>
          <a:noFill/>
          <a:ln/>
        </p:spPr>
        <p:txBody>
          <a:bodyPr wrap="square" lIns="0" tIns="0" rIns="0" bIns="0" rtlCol="0" anchor="ctr"/>
          <a:lstStyle/>
          <a:p>
            <a:pPr marL="0" indent="0" algn="r">
              <a:buNone/>
            </a:pPr>
            <a:r>
              <a:rPr lang="en-US" sz="700" dirty="0">
                <a:solidFill>
                  <a:srgbClr val="7C7C7C"/>
                </a:solidFill>
              </a:rPr>
              <a:t>12</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F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F2"/>
          </a:solidFill>
          <a:ln w="12700">
            <a:solidFill>
              <a:srgbClr val="F7F4F2">
                <a:alpha val="0"/>
              </a:srgbClr>
            </a:solidFill>
            <a:prstDash val="solid"/>
          </a:ln>
        </p:spPr>
      </p:sp>
      <p:sp>
        <p:nvSpPr>
          <p:cNvPr id="3" name="Shape 1"/>
          <p:cNvSpPr/>
          <p:nvPr/>
        </p:nvSpPr>
        <p:spPr>
          <a:xfrm>
            <a:off x="0" y="0"/>
            <a:ext cx="12191695" cy="73152"/>
          </a:xfrm>
          <a:prstGeom prst="rect">
            <a:avLst/>
          </a:prstGeom>
          <a:solidFill>
            <a:srgbClr val="2563EB"/>
          </a:solidFill>
          <a:ln w="12700">
            <a:solidFill>
              <a:srgbClr val="2563EB"/>
            </a:solidFill>
            <a:prstDash val="solid"/>
          </a:ln>
        </p:spPr>
      </p:sp>
      <p:sp>
        <p:nvSpPr>
          <p:cNvPr id="4" name="Text 2"/>
          <p:cNvSpPr/>
          <p:nvPr/>
        </p:nvSpPr>
        <p:spPr>
          <a:xfrm>
            <a:off x="667512" y="274320"/>
            <a:ext cx="7315200" cy="201168"/>
          </a:xfrm>
          <a:prstGeom prst="rect">
            <a:avLst/>
          </a:prstGeom>
          <a:noFill/>
          <a:ln/>
        </p:spPr>
        <p:txBody>
          <a:bodyPr wrap="square" lIns="0" tIns="0" rIns="0" bIns="0" rtlCol="0" anchor="ctr"/>
          <a:lstStyle/>
          <a:p>
            <a:pPr marL="0" indent="0">
              <a:buNone/>
            </a:pPr>
            <a:r>
              <a:rPr lang="en-US" sz="750" b="1" dirty="0">
                <a:solidFill>
                  <a:srgbClr val="2563EB"/>
                </a:solidFill>
              </a:rPr>
              <a:t>CV STRUCTURE</a:t>
            </a:r>
            <a:endParaRPr lang="en-US" sz="750" dirty="0"/>
          </a:p>
        </p:txBody>
      </p:sp>
      <p:sp>
        <p:nvSpPr>
          <p:cNvPr id="5" name="Text 3"/>
          <p:cNvSpPr/>
          <p:nvPr/>
        </p:nvSpPr>
        <p:spPr>
          <a:xfrm>
            <a:off x="640080" y="502920"/>
            <a:ext cx="10881360" cy="438912"/>
          </a:xfrm>
          <a:prstGeom prst="rect">
            <a:avLst/>
          </a:prstGeom>
          <a:noFill/>
          <a:ln/>
        </p:spPr>
        <p:txBody>
          <a:bodyPr wrap="square" lIns="0" tIns="0" rIns="0" bIns="0" rtlCol="0" anchor="ctr">
            <a:normAutofit/>
          </a:bodyPr>
          <a:lstStyle/>
          <a:p>
            <a:pPr marL="0" indent="0">
              <a:buNone/>
            </a:pPr>
            <a:r>
              <a:rPr lang="en-US" sz="2500" b="1" dirty="0">
                <a:solidFill>
                  <a:srgbClr val="111827"/>
                </a:solidFill>
                <a:latin typeface="Aptos Display" pitchFamily="34" charset="0"/>
                <a:ea typeface="Aptos Display" pitchFamily="34" charset="-122"/>
                <a:cs typeface="Aptos Display" pitchFamily="34" charset="-120"/>
              </a:rPr>
              <a:t>The 1-Page Tech CV Architecture</a:t>
            </a:r>
            <a:endParaRPr lang="en-US" sz="2500" dirty="0"/>
          </a:p>
        </p:txBody>
      </p:sp>
      <p:sp>
        <p:nvSpPr>
          <p:cNvPr id="6" name="Text 4"/>
          <p:cNvSpPr/>
          <p:nvPr/>
        </p:nvSpPr>
        <p:spPr>
          <a:xfrm>
            <a:off x="667512" y="987552"/>
            <a:ext cx="10424160" cy="256032"/>
          </a:xfrm>
          <a:prstGeom prst="rect">
            <a:avLst/>
          </a:prstGeom>
          <a:noFill/>
          <a:ln/>
        </p:spPr>
        <p:txBody>
          <a:bodyPr wrap="square" lIns="0" tIns="0" rIns="0" bIns="0" rtlCol="0" anchor="ctr"/>
          <a:lstStyle/>
          <a:p>
            <a:pPr marL="0" indent="0">
              <a:buNone/>
            </a:pPr>
            <a:r>
              <a:rPr lang="en-US" sz="950" dirty="0">
                <a:solidFill>
                  <a:srgbClr val="5B6472"/>
                </a:solidFill>
              </a:rPr>
              <a:t>What recruiters should see in seconds</a:t>
            </a:r>
            <a:endParaRPr lang="en-US" sz="950" dirty="0"/>
          </a:p>
        </p:txBody>
      </p:sp>
      <p:sp>
        <p:nvSpPr>
          <p:cNvPr id="7" name="Shape 5"/>
          <p:cNvSpPr/>
          <p:nvPr/>
        </p:nvSpPr>
        <p:spPr>
          <a:xfrm>
            <a:off x="640080" y="1325880"/>
            <a:ext cx="10881360" cy="0"/>
          </a:xfrm>
          <a:prstGeom prst="line">
            <a:avLst/>
          </a:prstGeom>
          <a:noFill/>
          <a:ln w="12700">
            <a:solidFill>
              <a:srgbClr val="D6D3D1"/>
            </a:solidFill>
            <a:prstDash val="solid"/>
          </a:ln>
        </p:spPr>
      </p:sp>
      <p:sp>
        <p:nvSpPr>
          <p:cNvPr id="8" name="Shape 6"/>
          <p:cNvSpPr/>
          <p:nvPr/>
        </p:nvSpPr>
        <p:spPr>
          <a:xfrm>
            <a:off x="914400" y="1508760"/>
            <a:ext cx="10241280" cy="585216"/>
          </a:xfrm>
          <a:prstGeom prst="roundRect">
            <a:avLst>
              <a:gd name="adj" fmla="val 12500"/>
            </a:avLst>
          </a:prstGeom>
          <a:solidFill>
            <a:srgbClr val="E0F2FE"/>
          </a:solidFill>
          <a:ln w="12700">
            <a:solidFill>
              <a:srgbClr val="E8E2DE"/>
            </a:solidFill>
            <a:prstDash val="solid"/>
          </a:ln>
        </p:spPr>
      </p:sp>
      <p:sp>
        <p:nvSpPr>
          <p:cNvPr id="9" name="Text 7"/>
          <p:cNvSpPr/>
          <p:nvPr/>
        </p:nvSpPr>
        <p:spPr>
          <a:xfrm>
            <a:off x="1143000" y="1664208"/>
            <a:ext cx="1920240" cy="164592"/>
          </a:xfrm>
          <a:prstGeom prst="rect">
            <a:avLst/>
          </a:prstGeom>
          <a:noFill/>
          <a:ln/>
        </p:spPr>
        <p:txBody>
          <a:bodyPr wrap="square" lIns="0" tIns="0" rIns="0" bIns="0" rtlCol="0" anchor="ctr">
            <a:normAutofit/>
          </a:bodyPr>
          <a:lstStyle/>
          <a:p>
            <a:pPr marL="0" indent="0">
              <a:buNone/>
            </a:pPr>
            <a:r>
              <a:rPr lang="en-US" sz="1020" b="1" dirty="0">
                <a:solidFill>
                  <a:srgbClr val="2563EB"/>
                </a:solidFill>
              </a:rPr>
              <a:t>Header</a:t>
            </a:r>
            <a:endParaRPr lang="en-US" sz="1020" dirty="0"/>
          </a:p>
        </p:txBody>
      </p:sp>
      <p:sp>
        <p:nvSpPr>
          <p:cNvPr id="10" name="Text 8"/>
          <p:cNvSpPr/>
          <p:nvPr/>
        </p:nvSpPr>
        <p:spPr>
          <a:xfrm>
            <a:off x="3520440" y="1664208"/>
            <a:ext cx="6903720" cy="164592"/>
          </a:xfrm>
          <a:prstGeom prst="rect">
            <a:avLst/>
          </a:prstGeom>
          <a:noFill/>
          <a:ln/>
        </p:spPr>
        <p:txBody>
          <a:bodyPr wrap="square" lIns="0" tIns="0" rIns="0" bIns="0" rtlCol="0" anchor="ctr">
            <a:normAutofit/>
          </a:bodyPr>
          <a:lstStyle/>
          <a:p>
            <a:pPr marL="0" indent="0">
              <a:buNone/>
            </a:pPr>
            <a:r>
              <a:rPr lang="en-US" sz="900" dirty="0">
                <a:solidFill>
                  <a:srgbClr val="5B6472"/>
                </a:solidFill>
              </a:rPr>
              <a:t>Name • target title • phone • email • LinkedIn • GitHub • portfolio</a:t>
            </a:r>
            <a:endParaRPr lang="en-US" sz="900" dirty="0"/>
          </a:p>
        </p:txBody>
      </p:sp>
      <p:sp>
        <p:nvSpPr>
          <p:cNvPr id="11" name="Shape 9"/>
          <p:cNvSpPr/>
          <p:nvPr/>
        </p:nvSpPr>
        <p:spPr>
          <a:xfrm>
            <a:off x="914400" y="2194560"/>
            <a:ext cx="10241280" cy="585216"/>
          </a:xfrm>
          <a:prstGeom prst="roundRect">
            <a:avLst>
              <a:gd name="adj" fmla="val 12500"/>
            </a:avLst>
          </a:prstGeom>
          <a:solidFill>
            <a:srgbClr val="FFFFFF"/>
          </a:solidFill>
          <a:ln w="12700">
            <a:solidFill>
              <a:srgbClr val="E8E2DE"/>
            </a:solidFill>
            <a:prstDash val="solid"/>
          </a:ln>
        </p:spPr>
      </p:sp>
      <p:sp>
        <p:nvSpPr>
          <p:cNvPr id="12" name="Text 10"/>
          <p:cNvSpPr/>
          <p:nvPr/>
        </p:nvSpPr>
        <p:spPr>
          <a:xfrm>
            <a:off x="1143000" y="2350008"/>
            <a:ext cx="1920240" cy="164592"/>
          </a:xfrm>
          <a:prstGeom prst="rect">
            <a:avLst/>
          </a:prstGeom>
          <a:noFill/>
          <a:ln/>
        </p:spPr>
        <p:txBody>
          <a:bodyPr wrap="square" lIns="0" tIns="0" rIns="0" bIns="0" rtlCol="0" anchor="ctr">
            <a:normAutofit/>
          </a:bodyPr>
          <a:lstStyle/>
          <a:p>
            <a:pPr marL="0" indent="0">
              <a:buNone/>
            </a:pPr>
            <a:r>
              <a:rPr lang="en-US" sz="1020" b="1" dirty="0">
                <a:solidFill>
                  <a:srgbClr val="2563EB"/>
                </a:solidFill>
              </a:rPr>
              <a:t>Professional Summary</a:t>
            </a:r>
            <a:endParaRPr lang="en-US" sz="1020" dirty="0"/>
          </a:p>
        </p:txBody>
      </p:sp>
      <p:sp>
        <p:nvSpPr>
          <p:cNvPr id="13" name="Text 11"/>
          <p:cNvSpPr/>
          <p:nvPr/>
        </p:nvSpPr>
        <p:spPr>
          <a:xfrm>
            <a:off x="3520440" y="2350008"/>
            <a:ext cx="6903720" cy="164592"/>
          </a:xfrm>
          <a:prstGeom prst="rect">
            <a:avLst/>
          </a:prstGeom>
          <a:noFill/>
          <a:ln/>
        </p:spPr>
        <p:txBody>
          <a:bodyPr wrap="square" lIns="0" tIns="0" rIns="0" bIns="0" rtlCol="0" anchor="ctr">
            <a:normAutofit/>
          </a:bodyPr>
          <a:lstStyle/>
          <a:p>
            <a:pPr marL="0" indent="0">
              <a:buNone/>
            </a:pPr>
            <a:r>
              <a:rPr lang="en-US" sz="900" dirty="0">
                <a:solidFill>
                  <a:srgbClr val="5B6472"/>
                </a:solidFill>
              </a:rPr>
              <a:t>Role target + stack + proof + value</a:t>
            </a:r>
            <a:endParaRPr lang="en-US" sz="900" dirty="0"/>
          </a:p>
        </p:txBody>
      </p:sp>
      <p:sp>
        <p:nvSpPr>
          <p:cNvPr id="14" name="Shape 12"/>
          <p:cNvSpPr/>
          <p:nvPr/>
        </p:nvSpPr>
        <p:spPr>
          <a:xfrm>
            <a:off x="914400" y="2880360"/>
            <a:ext cx="10241280" cy="585216"/>
          </a:xfrm>
          <a:prstGeom prst="roundRect">
            <a:avLst>
              <a:gd name="adj" fmla="val 12500"/>
            </a:avLst>
          </a:prstGeom>
          <a:solidFill>
            <a:srgbClr val="E0F2FE"/>
          </a:solidFill>
          <a:ln w="12700">
            <a:solidFill>
              <a:srgbClr val="E8E2DE"/>
            </a:solidFill>
            <a:prstDash val="solid"/>
          </a:ln>
        </p:spPr>
      </p:sp>
      <p:sp>
        <p:nvSpPr>
          <p:cNvPr id="15" name="Text 13"/>
          <p:cNvSpPr/>
          <p:nvPr/>
        </p:nvSpPr>
        <p:spPr>
          <a:xfrm>
            <a:off x="1143000" y="3035808"/>
            <a:ext cx="1920240" cy="164592"/>
          </a:xfrm>
          <a:prstGeom prst="rect">
            <a:avLst/>
          </a:prstGeom>
          <a:noFill/>
          <a:ln/>
        </p:spPr>
        <p:txBody>
          <a:bodyPr wrap="square" lIns="0" tIns="0" rIns="0" bIns="0" rtlCol="0" anchor="ctr">
            <a:normAutofit/>
          </a:bodyPr>
          <a:lstStyle/>
          <a:p>
            <a:pPr marL="0" indent="0">
              <a:buNone/>
            </a:pPr>
            <a:r>
              <a:rPr lang="en-US" sz="1020" b="1" dirty="0">
                <a:solidFill>
                  <a:srgbClr val="2563EB"/>
                </a:solidFill>
              </a:rPr>
              <a:t>Skills</a:t>
            </a:r>
            <a:endParaRPr lang="en-US" sz="1020" dirty="0"/>
          </a:p>
        </p:txBody>
      </p:sp>
      <p:sp>
        <p:nvSpPr>
          <p:cNvPr id="16" name="Text 14"/>
          <p:cNvSpPr/>
          <p:nvPr/>
        </p:nvSpPr>
        <p:spPr>
          <a:xfrm>
            <a:off x="3520440" y="3035808"/>
            <a:ext cx="6903720" cy="164592"/>
          </a:xfrm>
          <a:prstGeom prst="rect">
            <a:avLst/>
          </a:prstGeom>
          <a:noFill/>
          <a:ln/>
        </p:spPr>
        <p:txBody>
          <a:bodyPr wrap="square" lIns="0" tIns="0" rIns="0" bIns="0" rtlCol="0" anchor="ctr">
            <a:normAutofit/>
          </a:bodyPr>
          <a:lstStyle/>
          <a:p>
            <a:pPr marL="0" indent="0">
              <a:buNone/>
            </a:pPr>
            <a:r>
              <a:rPr lang="en-US" sz="900" dirty="0">
                <a:solidFill>
                  <a:srgbClr val="5B6472"/>
                </a:solidFill>
              </a:rPr>
              <a:t>Grouped technical skills + supported soft skills</a:t>
            </a:r>
            <a:endParaRPr lang="en-US" sz="900" dirty="0"/>
          </a:p>
        </p:txBody>
      </p:sp>
      <p:sp>
        <p:nvSpPr>
          <p:cNvPr id="17" name="Shape 15"/>
          <p:cNvSpPr/>
          <p:nvPr/>
        </p:nvSpPr>
        <p:spPr>
          <a:xfrm>
            <a:off x="914400" y="3566160"/>
            <a:ext cx="10241280" cy="585216"/>
          </a:xfrm>
          <a:prstGeom prst="roundRect">
            <a:avLst>
              <a:gd name="adj" fmla="val 12500"/>
            </a:avLst>
          </a:prstGeom>
          <a:solidFill>
            <a:srgbClr val="FFFFFF"/>
          </a:solidFill>
          <a:ln w="12700">
            <a:solidFill>
              <a:srgbClr val="E8E2DE"/>
            </a:solidFill>
            <a:prstDash val="solid"/>
          </a:ln>
        </p:spPr>
      </p:sp>
      <p:sp>
        <p:nvSpPr>
          <p:cNvPr id="18" name="Text 16"/>
          <p:cNvSpPr/>
          <p:nvPr/>
        </p:nvSpPr>
        <p:spPr>
          <a:xfrm>
            <a:off x="1143000" y="3721608"/>
            <a:ext cx="1920240" cy="164592"/>
          </a:xfrm>
          <a:prstGeom prst="rect">
            <a:avLst/>
          </a:prstGeom>
          <a:noFill/>
          <a:ln/>
        </p:spPr>
        <p:txBody>
          <a:bodyPr wrap="square" lIns="0" tIns="0" rIns="0" bIns="0" rtlCol="0" anchor="ctr">
            <a:normAutofit/>
          </a:bodyPr>
          <a:lstStyle/>
          <a:p>
            <a:pPr marL="0" indent="0">
              <a:buNone/>
            </a:pPr>
            <a:r>
              <a:rPr lang="en-US" sz="1020" b="1" dirty="0">
                <a:solidFill>
                  <a:srgbClr val="2563EB"/>
                </a:solidFill>
              </a:rPr>
              <a:t>Experience</a:t>
            </a:r>
            <a:endParaRPr lang="en-US" sz="1020" dirty="0"/>
          </a:p>
        </p:txBody>
      </p:sp>
      <p:sp>
        <p:nvSpPr>
          <p:cNvPr id="19" name="Text 17"/>
          <p:cNvSpPr/>
          <p:nvPr/>
        </p:nvSpPr>
        <p:spPr>
          <a:xfrm>
            <a:off x="3520440" y="3721608"/>
            <a:ext cx="6903720" cy="164592"/>
          </a:xfrm>
          <a:prstGeom prst="rect">
            <a:avLst/>
          </a:prstGeom>
          <a:noFill/>
          <a:ln/>
        </p:spPr>
        <p:txBody>
          <a:bodyPr wrap="square" lIns="0" tIns="0" rIns="0" bIns="0" rtlCol="0" anchor="ctr">
            <a:normAutofit/>
          </a:bodyPr>
          <a:lstStyle/>
          <a:p>
            <a:pPr marL="0" indent="0">
              <a:buNone/>
            </a:pPr>
            <a:r>
              <a:rPr lang="en-US" sz="900" dirty="0">
                <a:solidFill>
                  <a:srgbClr val="5B6472"/>
                </a:solidFill>
              </a:rPr>
              <a:t>Internships, volunteering, club work, freelancing</a:t>
            </a:r>
            <a:endParaRPr lang="en-US" sz="900" dirty="0"/>
          </a:p>
        </p:txBody>
      </p:sp>
      <p:sp>
        <p:nvSpPr>
          <p:cNvPr id="20" name="Shape 18"/>
          <p:cNvSpPr/>
          <p:nvPr/>
        </p:nvSpPr>
        <p:spPr>
          <a:xfrm>
            <a:off x="914400" y="4251960"/>
            <a:ext cx="10241280" cy="585216"/>
          </a:xfrm>
          <a:prstGeom prst="roundRect">
            <a:avLst>
              <a:gd name="adj" fmla="val 12500"/>
            </a:avLst>
          </a:prstGeom>
          <a:solidFill>
            <a:srgbClr val="E0F2FE"/>
          </a:solidFill>
          <a:ln w="12700">
            <a:solidFill>
              <a:srgbClr val="E8E2DE"/>
            </a:solidFill>
            <a:prstDash val="solid"/>
          </a:ln>
        </p:spPr>
      </p:sp>
      <p:sp>
        <p:nvSpPr>
          <p:cNvPr id="21" name="Text 19"/>
          <p:cNvSpPr/>
          <p:nvPr/>
        </p:nvSpPr>
        <p:spPr>
          <a:xfrm>
            <a:off x="1143000" y="4407408"/>
            <a:ext cx="1920240" cy="164592"/>
          </a:xfrm>
          <a:prstGeom prst="rect">
            <a:avLst/>
          </a:prstGeom>
          <a:noFill/>
          <a:ln/>
        </p:spPr>
        <p:txBody>
          <a:bodyPr wrap="square" lIns="0" tIns="0" rIns="0" bIns="0" rtlCol="0" anchor="ctr">
            <a:normAutofit/>
          </a:bodyPr>
          <a:lstStyle/>
          <a:p>
            <a:pPr marL="0" indent="0">
              <a:buNone/>
            </a:pPr>
            <a:r>
              <a:rPr lang="en-US" sz="1020" b="1" dirty="0">
                <a:solidFill>
                  <a:srgbClr val="2563EB"/>
                </a:solidFill>
              </a:rPr>
              <a:t>Projects</a:t>
            </a:r>
            <a:endParaRPr lang="en-US" sz="1020" dirty="0"/>
          </a:p>
        </p:txBody>
      </p:sp>
      <p:sp>
        <p:nvSpPr>
          <p:cNvPr id="22" name="Text 20"/>
          <p:cNvSpPr/>
          <p:nvPr/>
        </p:nvSpPr>
        <p:spPr>
          <a:xfrm>
            <a:off x="3520440" y="4407408"/>
            <a:ext cx="6903720" cy="164592"/>
          </a:xfrm>
          <a:prstGeom prst="rect">
            <a:avLst/>
          </a:prstGeom>
          <a:noFill/>
          <a:ln/>
        </p:spPr>
        <p:txBody>
          <a:bodyPr wrap="square" lIns="0" tIns="0" rIns="0" bIns="0" rtlCol="0" anchor="ctr">
            <a:normAutofit/>
          </a:bodyPr>
          <a:lstStyle/>
          <a:p>
            <a:pPr marL="0" indent="0">
              <a:buNone/>
            </a:pPr>
            <a:r>
              <a:rPr lang="en-US" sz="900" dirty="0">
                <a:solidFill>
                  <a:srgbClr val="5B6472"/>
                </a:solidFill>
              </a:rPr>
              <a:t>2–4 strong projects with stack, links, and impact</a:t>
            </a:r>
            <a:endParaRPr lang="en-US" sz="900" dirty="0"/>
          </a:p>
        </p:txBody>
      </p:sp>
      <p:sp>
        <p:nvSpPr>
          <p:cNvPr id="23" name="Shape 21"/>
          <p:cNvSpPr/>
          <p:nvPr/>
        </p:nvSpPr>
        <p:spPr>
          <a:xfrm>
            <a:off x="914400" y="4937760"/>
            <a:ext cx="10241280" cy="585216"/>
          </a:xfrm>
          <a:prstGeom prst="roundRect">
            <a:avLst>
              <a:gd name="adj" fmla="val 12500"/>
            </a:avLst>
          </a:prstGeom>
          <a:solidFill>
            <a:srgbClr val="FFFFFF"/>
          </a:solidFill>
          <a:ln w="12700">
            <a:solidFill>
              <a:srgbClr val="E8E2DE"/>
            </a:solidFill>
            <a:prstDash val="solid"/>
          </a:ln>
        </p:spPr>
      </p:sp>
      <p:sp>
        <p:nvSpPr>
          <p:cNvPr id="24" name="Text 22"/>
          <p:cNvSpPr/>
          <p:nvPr/>
        </p:nvSpPr>
        <p:spPr>
          <a:xfrm>
            <a:off x="1143000" y="5093208"/>
            <a:ext cx="1920240" cy="164592"/>
          </a:xfrm>
          <a:prstGeom prst="rect">
            <a:avLst/>
          </a:prstGeom>
          <a:noFill/>
          <a:ln/>
        </p:spPr>
        <p:txBody>
          <a:bodyPr wrap="square" lIns="0" tIns="0" rIns="0" bIns="0" rtlCol="0" anchor="ctr">
            <a:normAutofit/>
          </a:bodyPr>
          <a:lstStyle/>
          <a:p>
            <a:pPr marL="0" indent="0">
              <a:buNone/>
            </a:pPr>
            <a:r>
              <a:rPr lang="en-US" sz="1020" b="1" dirty="0">
                <a:solidFill>
                  <a:srgbClr val="2563EB"/>
                </a:solidFill>
              </a:rPr>
              <a:t>Education &amp; Training</a:t>
            </a:r>
            <a:endParaRPr lang="en-US" sz="1020" dirty="0"/>
          </a:p>
        </p:txBody>
      </p:sp>
      <p:sp>
        <p:nvSpPr>
          <p:cNvPr id="25" name="Text 23"/>
          <p:cNvSpPr/>
          <p:nvPr/>
        </p:nvSpPr>
        <p:spPr>
          <a:xfrm>
            <a:off x="3520440" y="5093208"/>
            <a:ext cx="6903720" cy="164592"/>
          </a:xfrm>
          <a:prstGeom prst="rect">
            <a:avLst/>
          </a:prstGeom>
          <a:noFill/>
          <a:ln/>
        </p:spPr>
        <p:txBody>
          <a:bodyPr wrap="square" lIns="0" tIns="0" rIns="0" bIns="0" rtlCol="0" anchor="ctr">
            <a:normAutofit/>
          </a:bodyPr>
          <a:lstStyle/>
          <a:p>
            <a:pPr marL="0" indent="0">
              <a:buNone/>
            </a:pPr>
            <a:r>
              <a:rPr lang="en-US" sz="900" dirty="0">
                <a:solidFill>
                  <a:srgbClr val="5B6472"/>
                </a:solidFill>
              </a:rPr>
              <a:t>Degree, relevant coursework, certifications</a:t>
            </a:r>
            <a:endParaRPr lang="en-US" sz="900" dirty="0"/>
          </a:p>
        </p:txBody>
      </p:sp>
      <p:sp>
        <p:nvSpPr>
          <p:cNvPr id="27" name="Text 24"/>
          <p:cNvSpPr/>
          <p:nvPr/>
        </p:nvSpPr>
        <p:spPr>
          <a:xfrm>
            <a:off x="411480" y="6510528"/>
            <a:ext cx="6400800" cy="164592"/>
          </a:xfrm>
          <a:prstGeom prst="rect">
            <a:avLst/>
          </a:prstGeom>
          <a:noFill/>
          <a:ln/>
        </p:spPr>
        <p:txBody>
          <a:bodyPr wrap="square" lIns="0" tIns="0" rIns="0" bIns="0" rtlCol="0" anchor="ctr"/>
          <a:lstStyle/>
          <a:p>
            <a:pPr marL="0" indent="0">
              <a:buNone/>
            </a:pPr>
            <a:r>
              <a:rPr lang="en-US" sz="600" dirty="0">
                <a:solidFill>
                  <a:srgbClr val="7C7C7C"/>
                </a:solidFill>
                <a:latin typeface="Aptos" pitchFamily="34" charset="0"/>
                <a:ea typeface="Aptos" pitchFamily="34" charset="-122"/>
                <a:cs typeface="Aptos" pitchFamily="34" charset="-120"/>
              </a:rPr>
              <a:t>What's Next After Graduation?  |  Farah Kerbaj</a:t>
            </a:r>
            <a:endParaRPr lang="en-US" sz="600" dirty="0"/>
          </a:p>
        </p:txBody>
      </p:sp>
      <p:sp>
        <p:nvSpPr>
          <p:cNvPr id="28" name="Text 25"/>
          <p:cNvSpPr/>
          <p:nvPr/>
        </p:nvSpPr>
        <p:spPr>
          <a:xfrm>
            <a:off x="11430000" y="6473952"/>
            <a:ext cx="320040" cy="182880"/>
          </a:xfrm>
          <a:prstGeom prst="rect">
            <a:avLst/>
          </a:prstGeom>
          <a:noFill/>
          <a:ln/>
        </p:spPr>
        <p:txBody>
          <a:bodyPr wrap="square" lIns="0" tIns="0" rIns="0" bIns="0" rtlCol="0" anchor="ctr"/>
          <a:lstStyle/>
          <a:p>
            <a:pPr marL="0" indent="0" algn="r">
              <a:buNone/>
            </a:pPr>
            <a:r>
              <a:rPr lang="en-US" sz="700" dirty="0">
                <a:solidFill>
                  <a:srgbClr val="7C7C7C"/>
                </a:solidFill>
              </a:rPr>
              <a:t>13</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F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F2"/>
          </a:solidFill>
          <a:ln w="12700">
            <a:solidFill>
              <a:srgbClr val="F7F4F2">
                <a:alpha val="0"/>
              </a:srgbClr>
            </a:solidFill>
            <a:prstDash val="solid"/>
          </a:ln>
        </p:spPr>
      </p:sp>
      <p:sp>
        <p:nvSpPr>
          <p:cNvPr id="3" name="Shape 1"/>
          <p:cNvSpPr/>
          <p:nvPr/>
        </p:nvSpPr>
        <p:spPr>
          <a:xfrm>
            <a:off x="0" y="0"/>
            <a:ext cx="12191695" cy="73152"/>
          </a:xfrm>
          <a:prstGeom prst="rect">
            <a:avLst/>
          </a:prstGeom>
          <a:solidFill>
            <a:srgbClr val="00A8CC"/>
          </a:solidFill>
          <a:ln w="12700">
            <a:solidFill>
              <a:srgbClr val="00A8CC"/>
            </a:solidFill>
            <a:prstDash val="solid"/>
          </a:ln>
        </p:spPr>
      </p:sp>
      <p:sp>
        <p:nvSpPr>
          <p:cNvPr id="4" name="Text 2"/>
          <p:cNvSpPr/>
          <p:nvPr/>
        </p:nvSpPr>
        <p:spPr>
          <a:xfrm>
            <a:off x="667512" y="274320"/>
            <a:ext cx="7315200" cy="201168"/>
          </a:xfrm>
          <a:prstGeom prst="rect">
            <a:avLst/>
          </a:prstGeom>
          <a:noFill/>
          <a:ln/>
        </p:spPr>
        <p:txBody>
          <a:bodyPr wrap="square" lIns="0" tIns="0" rIns="0" bIns="0" rtlCol="0" anchor="ctr"/>
          <a:lstStyle/>
          <a:p>
            <a:pPr marL="0" indent="0">
              <a:buNone/>
            </a:pPr>
            <a:r>
              <a:rPr lang="en-US" sz="750" b="1" dirty="0">
                <a:solidFill>
                  <a:srgbClr val="00A8CC"/>
                </a:solidFill>
              </a:rPr>
              <a:t>CV TOP THIRD</a:t>
            </a:r>
            <a:endParaRPr lang="en-US" sz="750" dirty="0"/>
          </a:p>
        </p:txBody>
      </p:sp>
      <p:sp>
        <p:nvSpPr>
          <p:cNvPr id="5" name="Text 3"/>
          <p:cNvSpPr/>
          <p:nvPr/>
        </p:nvSpPr>
        <p:spPr>
          <a:xfrm>
            <a:off x="640080" y="502920"/>
            <a:ext cx="10881360" cy="438912"/>
          </a:xfrm>
          <a:prstGeom prst="rect">
            <a:avLst/>
          </a:prstGeom>
          <a:noFill/>
          <a:ln/>
        </p:spPr>
        <p:txBody>
          <a:bodyPr wrap="square" lIns="0" tIns="0" rIns="0" bIns="0" rtlCol="0" anchor="ctr">
            <a:normAutofit/>
          </a:bodyPr>
          <a:lstStyle/>
          <a:p>
            <a:pPr marL="0" indent="0">
              <a:buNone/>
            </a:pPr>
            <a:r>
              <a:rPr lang="en-US" sz="2500" b="1" dirty="0">
                <a:solidFill>
                  <a:srgbClr val="111827"/>
                </a:solidFill>
                <a:latin typeface="Aptos Display" pitchFamily="34" charset="0"/>
                <a:ea typeface="Aptos Display" pitchFamily="34" charset="-122"/>
                <a:cs typeface="Aptos Display" pitchFamily="34" charset="-120"/>
              </a:rPr>
              <a:t>The Top Third Decides the First Impression</a:t>
            </a:r>
            <a:endParaRPr lang="en-US" sz="2500" dirty="0"/>
          </a:p>
        </p:txBody>
      </p:sp>
      <p:sp>
        <p:nvSpPr>
          <p:cNvPr id="6" name="Text 4"/>
          <p:cNvSpPr/>
          <p:nvPr/>
        </p:nvSpPr>
        <p:spPr>
          <a:xfrm>
            <a:off x="667512" y="987552"/>
            <a:ext cx="10424160" cy="256032"/>
          </a:xfrm>
          <a:prstGeom prst="rect">
            <a:avLst/>
          </a:prstGeom>
          <a:noFill/>
          <a:ln/>
        </p:spPr>
        <p:txBody>
          <a:bodyPr wrap="square" lIns="0" tIns="0" rIns="0" bIns="0" rtlCol="0" anchor="ctr"/>
          <a:lstStyle/>
          <a:p>
            <a:pPr marL="0" indent="0">
              <a:buNone/>
            </a:pPr>
            <a:r>
              <a:rPr lang="en-US" sz="950" dirty="0">
                <a:solidFill>
                  <a:srgbClr val="5B6472"/>
                </a:solidFill>
              </a:rPr>
              <a:t>Header + headline + summary + skills should tell a clear story</a:t>
            </a:r>
            <a:endParaRPr lang="en-US" sz="950" dirty="0"/>
          </a:p>
        </p:txBody>
      </p:sp>
      <p:sp>
        <p:nvSpPr>
          <p:cNvPr id="7" name="Shape 5"/>
          <p:cNvSpPr/>
          <p:nvPr/>
        </p:nvSpPr>
        <p:spPr>
          <a:xfrm>
            <a:off x="640080" y="1325880"/>
            <a:ext cx="10881360" cy="0"/>
          </a:xfrm>
          <a:prstGeom prst="line">
            <a:avLst/>
          </a:prstGeom>
          <a:noFill/>
          <a:ln w="12700">
            <a:solidFill>
              <a:srgbClr val="D6D3D1"/>
            </a:solidFill>
            <a:prstDash val="solid"/>
          </a:ln>
        </p:spPr>
      </p:sp>
      <p:sp>
        <p:nvSpPr>
          <p:cNvPr id="8" name="Shape 6"/>
          <p:cNvSpPr/>
          <p:nvPr/>
        </p:nvSpPr>
        <p:spPr>
          <a:xfrm>
            <a:off x="914400" y="1615440"/>
            <a:ext cx="10287000" cy="3794760"/>
          </a:xfrm>
          <a:prstGeom prst="roundRect">
            <a:avLst>
              <a:gd name="adj" fmla="val 1928"/>
            </a:avLst>
          </a:prstGeom>
          <a:solidFill>
            <a:srgbClr val="FFFFFF"/>
          </a:solidFill>
          <a:ln w="12700">
            <a:solidFill>
              <a:srgbClr val="E8E2DE"/>
            </a:solidFill>
            <a:prstDash val="solid"/>
          </a:ln>
        </p:spPr>
      </p:sp>
      <p:sp>
        <p:nvSpPr>
          <p:cNvPr id="9" name="Text 7"/>
          <p:cNvSpPr/>
          <p:nvPr/>
        </p:nvSpPr>
        <p:spPr>
          <a:xfrm>
            <a:off x="1325880" y="1920240"/>
            <a:ext cx="3474720" cy="228600"/>
          </a:xfrm>
          <a:prstGeom prst="rect">
            <a:avLst/>
          </a:prstGeom>
          <a:noFill/>
          <a:ln/>
        </p:spPr>
        <p:txBody>
          <a:bodyPr wrap="square" lIns="0" tIns="0" rIns="0" bIns="0" rtlCol="0" anchor="ctr"/>
          <a:lstStyle/>
          <a:p>
            <a:pPr marL="0" indent="0">
              <a:buNone/>
            </a:pPr>
            <a:r>
              <a:rPr lang="en-US" sz="1900" b="1" dirty="0">
                <a:solidFill>
                  <a:srgbClr val="152238"/>
                </a:solidFill>
              </a:rPr>
              <a:t>LEA HADDAD</a:t>
            </a:r>
            <a:endParaRPr lang="en-US" sz="1900" dirty="0"/>
          </a:p>
        </p:txBody>
      </p:sp>
      <p:sp>
        <p:nvSpPr>
          <p:cNvPr id="10" name="Text 8"/>
          <p:cNvSpPr/>
          <p:nvPr/>
        </p:nvSpPr>
        <p:spPr>
          <a:xfrm>
            <a:off x="1325880" y="2249424"/>
            <a:ext cx="6583680" cy="201168"/>
          </a:xfrm>
          <a:prstGeom prst="rect">
            <a:avLst/>
          </a:prstGeom>
          <a:noFill/>
          <a:ln/>
        </p:spPr>
        <p:txBody>
          <a:bodyPr wrap="square" lIns="0" tIns="0" rIns="0" bIns="0" rtlCol="0" anchor="ctr">
            <a:normAutofit/>
          </a:bodyPr>
          <a:lstStyle/>
          <a:p>
            <a:pPr marL="0" indent="0">
              <a:buNone/>
            </a:pPr>
            <a:r>
              <a:rPr lang="en-US" sz="1050" b="1" dirty="0">
                <a:solidFill>
                  <a:srgbClr val="2563EB"/>
                </a:solidFill>
              </a:rPr>
              <a:t>Junior Full Stack Developer | React • Node.js • PostgreSQL • REST APIs</a:t>
            </a:r>
            <a:endParaRPr lang="en-US" sz="1050" dirty="0"/>
          </a:p>
        </p:txBody>
      </p:sp>
      <p:sp>
        <p:nvSpPr>
          <p:cNvPr id="11" name="Text 9"/>
          <p:cNvSpPr/>
          <p:nvPr/>
        </p:nvSpPr>
        <p:spPr>
          <a:xfrm>
            <a:off x="1325880" y="2542032"/>
            <a:ext cx="9052560" cy="146304"/>
          </a:xfrm>
          <a:prstGeom prst="rect">
            <a:avLst/>
          </a:prstGeom>
          <a:noFill/>
          <a:ln/>
        </p:spPr>
        <p:txBody>
          <a:bodyPr wrap="square" lIns="0" tIns="0" rIns="0" bIns="0" rtlCol="0" anchor="ctr">
            <a:normAutofit/>
          </a:bodyPr>
          <a:lstStyle/>
          <a:p>
            <a:pPr marL="0" indent="0">
              <a:buNone/>
            </a:pPr>
            <a:r>
              <a:rPr lang="en-US" sz="670" dirty="0">
                <a:solidFill>
                  <a:srgbClr val="5B6472"/>
                </a:solidFill>
              </a:rPr>
              <a:t>Beirut, Lebanon | +961 70 000 000 | lea.haddad@email.com | linkedin.com/in/leahaddad | github.com/leahaddad | portfolio.dev</a:t>
            </a:r>
            <a:endParaRPr lang="en-US" sz="670" dirty="0"/>
          </a:p>
        </p:txBody>
      </p:sp>
      <p:sp>
        <p:nvSpPr>
          <p:cNvPr id="12" name="Shape 10"/>
          <p:cNvSpPr/>
          <p:nvPr/>
        </p:nvSpPr>
        <p:spPr>
          <a:xfrm>
            <a:off x="1325880" y="2816352"/>
            <a:ext cx="8961120" cy="0"/>
          </a:xfrm>
          <a:prstGeom prst="line">
            <a:avLst/>
          </a:prstGeom>
          <a:noFill/>
          <a:ln w="12700">
            <a:solidFill>
              <a:srgbClr val="D6D3D1"/>
            </a:solidFill>
            <a:prstDash val="solid"/>
          </a:ln>
        </p:spPr>
      </p:sp>
      <p:sp>
        <p:nvSpPr>
          <p:cNvPr id="13" name="Text 11"/>
          <p:cNvSpPr/>
          <p:nvPr/>
        </p:nvSpPr>
        <p:spPr>
          <a:xfrm>
            <a:off x="1325880" y="3017520"/>
            <a:ext cx="1188720" cy="146304"/>
          </a:xfrm>
          <a:prstGeom prst="rect">
            <a:avLst/>
          </a:prstGeom>
          <a:noFill/>
          <a:ln/>
        </p:spPr>
        <p:txBody>
          <a:bodyPr wrap="square" lIns="0" tIns="0" rIns="0" bIns="0" rtlCol="0" anchor="ctr"/>
          <a:lstStyle/>
          <a:p>
            <a:pPr marL="0" indent="0">
              <a:buNone/>
            </a:pPr>
            <a:r>
              <a:rPr lang="en-US" sz="700" b="1" dirty="0">
                <a:solidFill>
                  <a:srgbClr val="00A8CC"/>
                </a:solidFill>
              </a:rPr>
              <a:t>SUMMARY</a:t>
            </a:r>
            <a:endParaRPr lang="en-US" sz="700" dirty="0"/>
          </a:p>
        </p:txBody>
      </p:sp>
      <p:sp>
        <p:nvSpPr>
          <p:cNvPr id="14" name="Text 12"/>
          <p:cNvSpPr/>
          <p:nvPr/>
        </p:nvSpPr>
        <p:spPr>
          <a:xfrm>
            <a:off x="1325880" y="3246120"/>
            <a:ext cx="8961120" cy="530352"/>
          </a:xfrm>
          <a:prstGeom prst="rect">
            <a:avLst/>
          </a:prstGeom>
          <a:noFill/>
          <a:ln/>
        </p:spPr>
        <p:txBody>
          <a:bodyPr wrap="square" lIns="0" tIns="0" rIns="0" bIns="0" rtlCol="0" anchor="ctr">
            <a:normAutofit/>
          </a:bodyPr>
          <a:lstStyle/>
          <a:p>
            <a:pPr marL="0" indent="0">
              <a:buNone/>
            </a:pPr>
            <a:r>
              <a:rPr lang="en-US" sz="890" dirty="0">
                <a:solidFill>
                  <a:srgbClr val="111827"/>
                </a:solidFill>
              </a:rPr>
              <a:t>Junior Full Stack Developer with hands-on experience building responsive web applications using React, Node.js, Express, and PostgreSQL. Skilled in REST API integration, Git workflows, and clean UI implementation. Seeking to contribute to an agile engineering team while continuing to build scalable production-ready applications.</a:t>
            </a:r>
            <a:endParaRPr lang="en-US" sz="890" dirty="0"/>
          </a:p>
        </p:txBody>
      </p:sp>
      <p:sp>
        <p:nvSpPr>
          <p:cNvPr id="15" name="Text 13"/>
          <p:cNvSpPr/>
          <p:nvPr/>
        </p:nvSpPr>
        <p:spPr>
          <a:xfrm>
            <a:off x="1325880" y="3977640"/>
            <a:ext cx="1188720" cy="146304"/>
          </a:xfrm>
          <a:prstGeom prst="rect">
            <a:avLst/>
          </a:prstGeom>
          <a:noFill/>
          <a:ln/>
        </p:spPr>
        <p:txBody>
          <a:bodyPr wrap="square" lIns="0" tIns="0" rIns="0" bIns="0" rtlCol="0" anchor="ctr"/>
          <a:lstStyle/>
          <a:p>
            <a:pPr marL="0" indent="0">
              <a:buNone/>
            </a:pPr>
            <a:r>
              <a:rPr lang="en-US" sz="700" b="1" dirty="0">
                <a:solidFill>
                  <a:srgbClr val="00A8CC"/>
                </a:solidFill>
              </a:rPr>
              <a:t>SKILLS</a:t>
            </a:r>
            <a:endParaRPr lang="en-US" sz="700" dirty="0"/>
          </a:p>
        </p:txBody>
      </p:sp>
      <p:sp>
        <p:nvSpPr>
          <p:cNvPr id="16" name="Text 14"/>
          <p:cNvSpPr/>
          <p:nvPr/>
        </p:nvSpPr>
        <p:spPr>
          <a:xfrm>
            <a:off x="1325880" y="4224528"/>
            <a:ext cx="8961120" cy="164592"/>
          </a:xfrm>
          <a:prstGeom prst="rect">
            <a:avLst/>
          </a:prstGeom>
          <a:noFill/>
          <a:ln/>
        </p:spPr>
        <p:txBody>
          <a:bodyPr wrap="square" lIns="0" tIns="0" rIns="0" bIns="0" rtlCol="0" anchor="ctr">
            <a:normAutofit/>
          </a:bodyPr>
          <a:lstStyle/>
          <a:p>
            <a:pPr marL="0" indent="0">
              <a:buNone/>
            </a:pPr>
            <a:r>
              <a:rPr lang="en-US" sz="840" dirty="0">
                <a:solidFill>
                  <a:srgbClr val="111827"/>
                </a:solidFill>
              </a:rPr>
              <a:t>JavaScript • TypeScript • React • Next.js • Node.js • Express • PostgreSQL • MongoDB • REST APIs • Git/GitHub • Tailwind CSS • Agile/Scrum</a:t>
            </a:r>
            <a:endParaRPr lang="en-US" sz="840" dirty="0"/>
          </a:p>
        </p:txBody>
      </p:sp>
      <p:sp>
        <p:nvSpPr>
          <p:cNvPr id="18" name="Text 15"/>
          <p:cNvSpPr/>
          <p:nvPr/>
        </p:nvSpPr>
        <p:spPr>
          <a:xfrm>
            <a:off x="411480" y="6510528"/>
            <a:ext cx="6400800" cy="164592"/>
          </a:xfrm>
          <a:prstGeom prst="rect">
            <a:avLst/>
          </a:prstGeom>
          <a:noFill/>
          <a:ln/>
        </p:spPr>
        <p:txBody>
          <a:bodyPr wrap="square" lIns="0" tIns="0" rIns="0" bIns="0" rtlCol="0" anchor="ctr"/>
          <a:lstStyle/>
          <a:p>
            <a:pPr marL="0" indent="0">
              <a:buNone/>
            </a:pPr>
            <a:r>
              <a:rPr lang="en-US" sz="600" dirty="0">
                <a:solidFill>
                  <a:srgbClr val="7C7C7C"/>
                </a:solidFill>
                <a:latin typeface="Aptos" pitchFamily="34" charset="0"/>
                <a:ea typeface="Aptos" pitchFamily="34" charset="-122"/>
                <a:cs typeface="Aptos" pitchFamily="34" charset="-120"/>
              </a:rPr>
              <a:t>What's Next After Graduation?  |  Farah Kerbaj</a:t>
            </a:r>
            <a:endParaRPr lang="en-US" sz="600" dirty="0"/>
          </a:p>
        </p:txBody>
      </p:sp>
      <p:sp>
        <p:nvSpPr>
          <p:cNvPr id="19" name="Text 16"/>
          <p:cNvSpPr/>
          <p:nvPr/>
        </p:nvSpPr>
        <p:spPr>
          <a:xfrm>
            <a:off x="11430000" y="6473952"/>
            <a:ext cx="320040" cy="182880"/>
          </a:xfrm>
          <a:prstGeom prst="rect">
            <a:avLst/>
          </a:prstGeom>
          <a:noFill/>
          <a:ln/>
        </p:spPr>
        <p:txBody>
          <a:bodyPr wrap="square" lIns="0" tIns="0" rIns="0" bIns="0" rtlCol="0" anchor="ctr"/>
          <a:lstStyle/>
          <a:p>
            <a:pPr marL="0" indent="0" algn="r">
              <a:buNone/>
            </a:pPr>
            <a:r>
              <a:rPr lang="en-US" sz="700" dirty="0">
                <a:solidFill>
                  <a:srgbClr val="7C7C7C"/>
                </a:solidFill>
              </a:rPr>
              <a:t>14</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4F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F2"/>
          </a:solidFill>
          <a:ln w="12700">
            <a:solidFill>
              <a:srgbClr val="F7F4F2">
                <a:alpha val="0"/>
              </a:srgbClr>
            </a:solidFill>
            <a:prstDash val="solid"/>
          </a:ln>
        </p:spPr>
      </p:sp>
      <p:sp>
        <p:nvSpPr>
          <p:cNvPr id="3" name="Shape 1"/>
          <p:cNvSpPr/>
          <p:nvPr/>
        </p:nvSpPr>
        <p:spPr>
          <a:xfrm>
            <a:off x="0" y="0"/>
            <a:ext cx="12191695" cy="73152"/>
          </a:xfrm>
          <a:prstGeom prst="rect">
            <a:avLst/>
          </a:prstGeom>
          <a:solidFill>
            <a:srgbClr val="FF6B4A"/>
          </a:solidFill>
          <a:ln w="12700">
            <a:solidFill>
              <a:srgbClr val="FF6B4A"/>
            </a:solidFill>
            <a:prstDash val="solid"/>
          </a:ln>
        </p:spPr>
      </p:sp>
      <p:sp>
        <p:nvSpPr>
          <p:cNvPr id="4" name="Text 2"/>
          <p:cNvSpPr/>
          <p:nvPr/>
        </p:nvSpPr>
        <p:spPr>
          <a:xfrm>
            <a:off x="667512" y="274320"/>
            <a:ext cx="7315200" cy="201168"/>
          </a:xfrm>
          <a:prstGeom prst="rect">
            <a:avLst/>
          </a:prstGeom>
          <a:noFill/>
          <a:ln/>
        </p:spPr>
        <p:txBody>
          <a:bodyPr wrap="square" lIns="0" tIns="0" rIns="0" bIns="0" rtlCol="0" anchor="ctr"/>
          <a:lstStyle/>
          <a:p>
            <a:pPr marL="0" indent="0">
              <a:buNone/>
            </a:pPr>
            <a:r>
              <a:rPr lang="en-US" sz="750" b="1" dirty="0">
                <a:solidFill>
                  <a:srgbClr val="FF6B4A"/>
                </a:solidFill>
              </a:rPr>
              <a:t>CV WRITING</a:t>
            </a:r>
            <a:endParaRPr lang="en-US" sz="750" dirty="0"/>
          </a:p>
        </p:txBody>
      </p:sp>
      <p:sp>
        <p:nvSpPr>
          <p:cNvPr id="5" name="Text 3"/>
          <p:cNvSpPr/>
          <p:nvPr/>
        </p:nvSpPr>
        <p:spPr>
          <a:xfrm>
            <a:off x="640080" y="502920"/>
            <a:ext cx="10881360" cy="438912"/>
          </a:xfrm>
          <a:prstGeom prst="rect">
            <a:avLst/>
          </a:prstGeom>
          <a:noFill/>
          <a:ln/>
        </p:spPr>
        <p:txBody>
          <a:bodyPr wrap="square" lIns="0" tIns="0" rIns="0" bIns="0" rtlCol="0" anchor="ctr">
            <a:normAutofit/>
          </a:bodyPr>
          <a:lstStyle/>
          <a:p>
            <a:pPr marL="0" indent="0">
              <a:buNone/>
            </a:pPr>
            <a:r>
              <a:rPr lang="en-US" sz="2500" b="1" dirty="0">
                <a:solidFill>
                  <a:srgbClr val="111827"/>
                </a:solidFill>
                <a:latin typeface="Aptos Display" pitchFamily="34" charset="0"/>
                <a:ea typeface="Aptos Display" pitchFamily="34" charset="-122"/>
                <a:cs typeface="Aptos Display" pitchFamily="34" charset="-120"/>
              </a:rPr>
              <a:t>Stop Writing “Looking for an Opportunity”</a:t>
            </a:r>
            <a:endParaRPr lang="en-US" sz="2500" dirty="0"/>
          </a:p>
        </p:txBody>
      </p:sp>
      <p:sp>
        <p:nvSpPr>
          <p:cNvPr id="6" name="Text 4"/>
          <p:cNvSpPr/>
          <p:nvPr/>
        </p:nvSpPr>
        <p:spPr>
          <a:xfrm>
            <a:off x="667512" y="987552"/>
            <a:ext cx="10424160" cy="256032"/>
          </a:xfrm>
          <a:prstGeom prst="rect">
            <a:avLst/>
          </a:prstGeom>
          <a:noFill/>
          <a:ln/>
        </p:spPr>
        <p:txBody>
          <a:bodyPr wrap="square" lIns="0" tIns="0" rIns="0" bIns="0" rtlCol="0" anchor="ctr"/>
          <a:lstStyle/>
          <a:p>
            <a:pPr marL="0" indent="0">
              <a:buNone/>
            </a:pPr>
            <a:r>
              <a:rPr lang="en-US" sz="950" dirty="0">
                <a:solidFill>
                  <a:srgbClr val="5B6472"/>
                </a:solidFill>
              </a:rPr>
              <a:t>Write a summary that sounds like a tech candidate</a:t>
            </a:r>
            <a:endParaRPr lang="en-US" sz="950" dirty="0"/>
          </a:p>
        </p:txBody>
      </p:sp>
      <p:sp>
        <p:nvSpPr>
          <p:cNvPr id="7" name="Shape 5"/>
          <p:cNvSpPr/>
          <p:nvPr/>
        </p:nvSpPr>
        <p:spPr>
          <a:xfrm>
            <a:off x="640080" y="1325880"/>
            <a:ext cx="10881360" cy="0"/>
          </a:xfrm>
          <a:prstGeom prst="line">
            <a:avLst/>
          </a:prstGeom>
          <a:noFill/>
          <a:ln w="12700">
            <a:solidFill>
              <a:srgbClr val="D6D3D1"/>
            </a:solidFill>
            <a:prstDash val="solid"/>
          </a:ln>
        </p:spPr>
      </p:sp>
      <p:sp>
        <p:nvSpPr>
          <p:cNvPr id="8" name="Shape 6"/>
          <p:cNvSpPr/>
          <p:nvPr/>
        </p:nvSpPr>
        <p:spPr>
          <a:xfrm>
            <a:off x="822960" y="1600200"/>
            <a:ext cx="5212080" cy="3611880"/>
          </a:xfrm>
          <a:prstGeom prst="roundRect">
            <a:avLst>
              <a:gd name="adj" fmla="val 2025"/>
            </a:avLst>
          </a:prstGeom>
          <a:solidFill>
            <a:srgbClr val="FEE2E2"/>
          </a:solidFill>
          <a:ln w="12700">
            <a:solidFill>
              <a:srgbClr val="E8E2DE"/>
            </a:solidFill>
            <a:prstDash val="solid"/>
          </a:ln>
        </p:spPr>
      </p:sp>
      <p:sp>
        <p:nvSpPr>
          <p:cNvPr id="9" name="Shape 7"/>
          <p:cNvSpPr/>
          <p:nvPr/>
        </p:nvSpPr>
        <p:spPr>
          <a:xfrm>
            <a:off x="6263640" y="1600200"/>
            <a:ext cx="5074920" cy="3611880"/>
          </a:xfrm>
          <a:prstGeom prst="roundRect">
            <a:avLst>
              <a:gd name="adj" fmla="val 2025"/>
            </a:avLst>
          </a:prstGeom>
          <a:solidFill>
            <a:srgbClr val="D1FAE5"/>
          </a:solidFill>
          <a:ln w="12700">
            <a:solidFill>
              <a:srgbClr val="E8E2DE"/>
            </a:solidFill>
            <a:prstDash val="solid"/>
          </a:ln>
        </p:spPr>
      </p:sp>
      <p:sp>
        <p:nvSpPr>
          <p:cNvPr id="10" name="Text 8"/>
          <p:cNvSpPr/>
          <p:nvPr/>
        </p:nvSpPr>
        <p:spPr>
          <a:xfrm>
            <a:off x="1051560" y="1828800"/>
            <a:ext cx="1005840" cy="182880"/>
          </a:xfrm>
          <a:prstGeom prst="rect">
            <a:avLst/>
          </a:prstGeom>
          <a:noFill/>
          <a:ln/>
        </p:spPr>
        <p:txBody>
          <a:bodyPr wrap="square" lIns="0" tIns="0" rIns="0" bIns="0" rtlCol="0" anchor="ctr"/>
          <a:lstStyle/>
          <a:p>
            <a:pPr marL="0" indent="0">
              <a:buNone/>
            </a:pPr>
            <a:r>
              <a:rPr lang="en-US" sz="1000" b="1" dirty="0">
                <a:solidFill>
                  <a:srgbClr val="FF6B4A"/>
                </a:solidFill>
              </a:rPr>
              <a:t>WEAK</a:t>
            </a:r>
            <a:endParaRPr lang="en-US" sz="1000" dirty="0"/>
          </a:p>
        </p:txBody>
      </p:sp>
      <p:sp>
        <p:nvSpPr>
          <p:cNvPr id="11" name="Text 9"/>
          <p:cNvSpPr/>
          <p:nvPr/>
        </p:nvSpPr>
        <p:spPr>
          <a:xfrm>
            <a:off x="1051560" y="2240280"/>
            <a:ext cx="4389120" cy="594360"/>
          </a:xfrm>
          <a:prstGeom prst="rect">
            <a:avLst/>
          </a:prstGeom>
          <a:noFill/>
          <a:ln/>
        </p:spPr>
        <p:txBody>
          <a:bodyPr wrap="square" lIns="0" tIns="0" rIns="0" bIns="0" rtlCol="0" anchor="ctr">
            <a:normAutofit/>
          </a:bodyPr>
          <a:lstStyle/>
          <a:p>
            <a:pPr marL="0" indent="0">
              <a:buNone/>
            </a:pPr>
            <a:r>
              <a:rPr lang="en-US" sz="1600" dirty="0">
                <a:solidFill>
                  <a:srgbClr val="111827"/>
                </a:solidFill>
              </a:rPr>
              <a:t>“Looking for an opportunity to grow and learn in a great company.”</a:t>
            </a:r>
            <a:endParaRPr lang="en-US" sz="1600" dirty="0"/>
          </a:p>
        </p:txBody>
      </p:sp>
      <p:sp>
        <p:nvSpPr>
          <p:cNvPr id="12" name="Text 10"/>
          <p:cNvSpPr/>
          <p:nvPr/>
        </p:nvSpPr>
        <p:spPr>
          <a:xfrm>
            <a:off x="1051560" y="4114800"/>
            <a:ext cx="4480560" cy="182880"/>
          </a:xfrm>
          <a:prstGeom prst="rect">
            <a:avLst/>
          </a:prstGeom>
          <a:noFill/>
          <a:ln/>
        </p:spPr>
        <p:txBody>
          <a:bodyPr wrap="square" lIns="0" tIns="0" rIns="0" bIns="0" rtlCol="0" anchor="ctr"/>
          <a:lstStyle/>
          <a:p>
            <a:pPr marL="0" indent="0">
              <a:buNone/>
            </a:pPr>
            <a:r>
              <a:rPr lang="en-US" sz="950" dirty="0">
                <a:solidFill>
                  <a:srgbClr val="5B6472"/>
                </a:solidFill>
              </a:rPr>
              <a:t>Why it fails: no role, no stack, no proof, no value.</a:t>
            </a:r>
            <a:endParaRPr lang="en-US" sz="950" dirty="0"/>
          </a:p>
        </p:txBody>
      </p:sp>
      <p:sp>
        <p:nvSpPr>
          <p:cNvPr id="13" name="Text 11"/>
          <p:cNvSpPr/>
          <p:nvPr/>
        </p:nvSpPr>
        <p:spPr>
          <a:xfrm>
            <a:off x="6492240" y="1828800"/>
            <a:ext cx="1188720" cy="182880"/>
          </a:xfrm>
          <a:prstGeom prst="rect">
            <a:avLst/>
          </a:prstGeom>
          <a:noFill/>
          <a:ln/>
        </p:spPr>
        <p:txBody>
          <a:bodyPr wrap="square" lIns="0" tIns="0" rIns="0" bIns="0" rtlCol="0" anchor="ctr"/>
          <a:lstStyle/>
          <a:p>
            <a:pPr marL="0" indent="0">
              <a:buNone/>
            </a:pPr>
            <a:r>
              <a:rPr lang="en-US" sz="1000" b="1" dirty="0">
                <a:solidFill>
                  <a:srgbClr val="10B981"/>
                </a:solidFill>
              </a:rPr>
              <a:t>STRONG</a:t>
            </a:r>
            <a:endParaRPr lang="en-US" sz="1000" dirty="0"/>
          </a:p>
        </p:txBody>
      </p:sp>
      <p:sp>
        <p:nvSpPr>
          <p:cNvPr id="14" name="Text 12"/>
          <p:cNvSpPr/>
          <p:nvPr/>
        </p:nvSpPr>
        <p:spPr>
          <a:xfrm>
            <a:off x="6492240" y="2240280"/>
            <a:ext cx="4251960" cy="777240"/>
          </a:xfrm>
          <a:prstGeom prst="rect">
            <a:avLst/>
          </a:prstGeom>
          <a:noFill/>
          <a:ln/>
        </p:spPr>
        <p:txBody>
          <a:bodyPr wrap="square" lIns="0" tIns="0" rIns="0" bIns="0" rtlCol="0" anchor="ctr">
            <a:normAutofit/>
          </a:bodyPr>
          <a:lstStyle/>
          <a:p>
            <a:pPr marL="0" indent="0">
              <a:buNone/>
            </a:pPr>
            <a:r>
              <a:rPr lang="en-US" sz="1330" dirty="0">
                <a:solidFill>
                  <a:srgbClr val="111827"/>
                </a:solidFill>
              </a:rPr>
              <a:t>“Junior Full Stack Developer with experience building responsive web apps using React, Node.js, PostgreSQL and REST APIs.”</a:t>
            </a:r>
            <a:endParaRPr lang="en-US" sz="1330" dirty="0"/>
          </a:p>
        </p:txBody>
      </p:sp>
      <p:sp>
        <p:nvSpPr>
          <p:cNvPr id="15" name="Text 13"/>
          <p:cNvSpPr/>
          <p:nvPr/>
        </p:nvSpPr>
        <p:spPr>
          <a:xfrm>
            <a:off x="6492240" y="4114800"/>
            <a:ext cx="4251960" cy="182880"/>
          </a:xfrm>
          <a:prstGeom prst="rect">
            <a:avLst/>
          </a:prstGeom>
          <a:noFill/>
          <a:ln/>
        </p:spPr>
        <p:txBody>
          <a:bodyPr wrap="square" lIns="0" tIns="0" rIns="0" bIns="0" rtlCol="0" anchor="ctr"/>
          <a:lstStyle/>
          <a:p>
            <a:pPr marL="0" indent="0">
              <a:buNone/>
            </a:pPr>
            <a:r>
              <a:rPr lang="en-US" sz="950" dirty="0">
                <a:solidFill>
                  <a:srgbClr val="5B6472"/>
                </a:solidFill>
              </a:rPr>
              <a:t>Why it works: role + stack + proof + direction.</a:t>
            </a:r>
            <a:endParaRPr lang="en-US" sz="950" dirty="0"/>
          </a:p>
        </p:txBody>
      </p:sp>
      <p:sp>
        <p:nvSpPr>
          <p:cNvPr id="17" name="Text 14"/>
          <p:cNvSpPr/>
          <p:nvPr/>
        </p:nvSpPr>
        <p:spPr>
          <a:xfrm>
            <a:off x="411480" y="6510528"/>
            <a:ext cx="6400800" cy="164592"/>
          </a:xfrm>
          <a:prstGeom prst="rect">
            <a:avLst/>
          </a:prstGeom>
          <a:noFill/>
          <a:ln/>
        </p:spPr>
        <p:txBody>
          <a:bodyPr wrap="square" lIns="0" tIns="0" rIns="0" bIns="0" rtlCol="0" anchor="ctr"/>
          <a:lstStyle/>
          <a:p>
            <a:pPr marL="0" indent="0">
              <a:buNone/>
            </a:pPr>
            <a:r>
              <a:rPr lang="en-US" sz="600" dirty="0">
                <a:solidFill>
                  <a:srgbClr val="7C7C7C"/>
                </a:solidFill>
                <a:latin typeface="Aptos" pitchFamily="34" charset="0"/>
                <a:ea typeface="Aptos" pitchFamily="34" charset="-122"/>
                <a:cs typeface="Aptos" pitchFamily="34" charset="-120"/>
              </a:rPr>
              <a:t>What's Next After Graduation?  |  Farah Kerbaj</a:t>
            </a:r>
            <a:endParaRPr lang="en-US" sz="600" dirty="0"/>
          </a:p>
        </p:txBody>
      </p:sp>
      <p:sp>
        <p:nvSpPr>
          <p:cNvPr id="18" name="Text 15"/>
          <p:cNvSpPr/>
          <p:nvPr/>
        </p:nvSpPr>
        <p:spPr>
          <a:xfrm>
            <a:off x="11430000" y="6473952"/>
            <a:ext cx="320040" cy="182880"/>
          </a:xfrm>
          <a:prstGeom prst="rect">
            <a:avLst/>
          </a:prstGeom>
          <a:noFill/>
          <a:ln/>
        </p:spPr>
        <p:txBody>
          <a:bodyPr wrap="square" lIns="0" tIns="0" rIns="0" bIns="0" rtlCol="0" anchor="ctr"/>
          <a:lstStyle/>
          <a:p>
            <a:pPr marL="0" indent="0" algn="r">
              <a:buNone/>
            </a:pPr>
            <a:r>
              <a:rPr lang="en-US" sz="700" dirty="0">
                <a:solidFill>
                  <a:srgbClr val="7C7C7C"/>
                </a:solidFill>
              </a:rPr>
              <a:t>15</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4F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F2"/>
          </a:solidFill>
          <a:ln w="12700">
            <a:solidFill>
              <a:srgbClr val="F7F4F2">
                <a:alpha val="0"/>
              </a:srgbClr>
            </a:solidFill>
            <a:prstDash val="solid"/>
          </a:ln>
        </p:spPr>
      </p:sp>
      <p:sp>
        <p:nvSpPr>
          <p:cNvPr id="3" name="Shape 1"/>
          <p:cNvSpPr/>
          <p:nvPr/>
        </p:nvSpPr>
        <p:spPr>
          <a:xfrm>
            <a:off x="0" y="0"/>
            <a:ext cx="12191695" cy="73152"/>
          </a:xfrm>
          <a:prstGeom prst="rect">
            <a:avLst/>
          </a:prstGeom>
          <a:solidFill>
            <a:srgbClr val="7C3AED"/>
          </a:solidFill>
          <a:ln w="12700">
            <a:solidFill>
              <a:srgbClr val="7C3AED"/>
            </a:solidFill>
            <a:prstDash val="solid"/>
          </a:ln>
        </p:spPr>
      </p:sp>
      <p:sp>
        <p:nvSpPr>
          <p:cNvPr id="4" name="Text 2"/>
          <p:cNvSpPr/>
          <p:nvPr/>
        </p:nvSpPr>
        <p:spPr>
          <a:xfrm>
            <a:off x="667512" y="274320"/>
            <a:ext cx="7315200" cy="201168"/>
          </a:xfrm>
          <a:prstGeom prst="rect">
            <a:avLst/>
          </a:prstGeom>
          <a:noFill/>
          <a:ln/>
        </p:spPr>
        <p:txBody>
          <a:bodyPr wrap="square" lIns="0" tIns="0" rIns="0" bIns="0" rtlCol="0" anchor="ctr"/>
          <a:lstStyle/>
          <a:p>
            <a:pPr marL="0" indent="0">
              <a:buNone/>
            </a:pPr>
            <a:r>
              <a:rPr lang="en-US" sz="750" b="1" dirty="0">
                <a:solidFill>
                  <a:srgbClr val="7C3AED"/>
                </a:solidFill>
              </a:rPr>
              <a:t>PROFILE EXAMPLES</a:t>
            </a:r>
            <a:endParaRPr lang="en-US" sz="750" dirty="0"/>
          </a:p>
        </p:txBody>
      </p:sp>
      <p:sp>
        <p:nvSpPr>
          <p:cNvPr id="5" name="Text 3"/>
          <p:cNvSpPr/>
          <p:nvPr/>
        </p:nvSpPr>
        <p:spPr>
          <a:xfrm>
            <a:off x="640080" y="502920"/>
            <a:ext cx="10881360" cy="438912"/>
          </a:xfrm>
          <a:prstGeom prst="rect">
            <a:avLst/>
          </a:prstGeom>
          <a:noFill/>
          <a:ln/>
        </p:spPr>
        <p:txBody>
          <a:bodyPr wrap="square" lIns="0" tIns="0" rIns="0" bIns="0" rtlCol="0" anchor="ctr">
            <a:normAutofit/>
          </a:bodyPr>
          <a:lstStyle/>
          <a:p>
            <a:pPr marL="0" indent="0">
              <a:buNone/>
            </a:pPr>
            <a:r>
              <a:rPr lang="en-US" sz="2500" b="1" dirty="0">
                <a:solidFill>
                  <a:srgbClr val="111827"/>
                </a:solidFill>
                <a:latin typeface="Aptos Display" pitchFamily="34" charset="0"/>
                <a:ea typeface="Aptos Display" pitchFamily="34" charset="-122"/>
                <a:cs typeface="Aptos Display" pitchFamily="34" charset="-120"/>
              </a:rPr>
              <a:t>Tech Profile Examples You Can Adapt</a:t>
            </a:r>
            <a:endParaRPr lang="en-US" sz="2500" dirty="0"/>
          </a:p>
        </p:txBody>
      </p:sp>
      <p:sp>
        <p:nvSpPr>
          <p:cNvPr id="6" name="Text 4"/>
          <p:cNvSpPr/>
          <p:nvPr/>
        </p:nvSpPr>
        <p:spPr>
          <a:xfrm>
            <a:off x="667512" y="987552"/>
            <a:ext cx="10424160" cy="256032"/>
          </a:xfrm>
          <a:prstGeom prst="rect">
            <a:avLst/>
          </a:prstGeom>
          <a:noFill/>
          <a:ln/>
        </p:spPr>
        <p:txBody>
          <a:bodyPr wrap="square" lIns="0" tIns="0" rIns="0" bIns="0" rtlCol="0" anchor="ctr"/>
          <a:lstStyle/>
          <a:p>
            <a:pPr marL="0" indent="0">
              <a:buNone/>
            </a:pPr>
            <a:r>
              <a:rPr lang="en-US" sz="950" dirty="0">
                <a:solidFill>
                  <a:srgbClr val="5B6472"/>
                </a:solidFill>
              </a:rPr>
              <a:t>Use role + stack + proof + direction</a:t>
            </a:r>
            <a:endParaRPr lang="en-US" sz="950" dirty="0"/>
          </a:p>
        </p:txBody>
      </p:sp>
      <p:sp>
        <p:nvSpPr>
          <p:cNvPr id="7" name="Shape 5"/>
          <p:cNvSpPr/>
          <p:nvPr/>
        </p:nvSpPr>
        <p:spPr>
          <a:xfrm>
            <a:off x="640080" y="1325880"/>
            <a:ext cx="10881360" cy="0"/>
          </a:xfrm>
          <a:prstGeom prst="line">
            <a:avLst/>
          </a:prstGeom>
          <a:noFill/>
          <a:ln w="12700">
            <a:solidFill>
              <a:srgbClr val="D6D3D1"/>
            </a:solidFill>
            <a:prstDash val="solid"/>
          </a:ln>
        </p:spPr>
      </p:sp>
      <p:sp>
        <p:nvSpPr>
          <p:cNvPr id="8" name="Shape 6"/>
          <p:cNvSpPr/>
          <p:nvPr/>
        </p:nvSpPr>
        <p:spPr>
          <a:xfrm>
            <a:off x="822960" y="1554480"/>
            <a:ext cx="10424160" cy="731520"/>
          </a:xfrm>
          <a:prstGeom prst="roundRect">
            <a:avLst>
              <a:gd name="adj" fmla="val 10000"/>
            </a:avLst>
          </a:prstGeom>
          <a:solidFill>
            <a:srgbClr val="EDE9FE"/>
          </a:solidFill>
          <a:ln w="12700">
            <a:solidFill>
              <a:srgbClr val="E8E2DE"/>
            </a:solidFill>
            <a:prstDash val="solid"/>
          </a:ln>
        </p:spPr>
      </p:sp>
      <p:sp>
        <p:nvSpPr>
          <p:cNvPr id="9" name="Text 7"/>
          <p:cNvSpPr/>
          <p:nvPr/>
        </p:nvSpPr>
        <p:spPr>
          <a:xfrm>
            <a:off x="1078992" y="1719072"/>
            <a:ext cx="2468880" cy="201168"/>
          </a:xfrm>
          <a:prstGeom prst="rect">
            <a:avLst/>
          </a:prstGeom>
          <a:noFill/>
          <a:ln/>
        </p:spPr>
        <p:txBody>
          <a:bodyPr wrap="square" lIns="0" tIns="0" rIns="0" bIns="0" rtlCol="0" anchor="ctr"/>
          <a:lstStyle/>
          <a:p>
            <a:pPr marL="0" indent="0">
              <a:buNone/>
            </a:pPr>
            <a:r>
              <a:rPr lang="en-US" sz="1180" b="1" dirty="0">
                <a:solidFill>
                  <a:srgbClr val="7C3AED"/>
                </a:solidFill>
              </a:rPr>
              <a:t>Frontend Developer</a:t>
            </a:r>
            <a:endParaRPr lang="en-US" sz="1180" dirty="0"/>
          </a:p>
        </p:txBody>
      </p:sp>
      <p:sp>
        <p:nvSpPr>
          <p:cNvPr id="10" name="Text 8"/>
          <p:cNvSpPr/>
          <p:nvPr/>
        </p:nvSpPr>
        <p:spPr>
          <a:xfrm>
            <a:off x="3657600" y="1700784"/>
            <a:ext cx="6903720" cy="246888"/>
          </a:xfrm>
          <a:prstGeom prst="rect">
            <a:avLst/>
          </a:prstGeom>
          <a:noFill/>
          <a:ln/>
        </p:spPr>
        <p:txBody>
          <a:bodyPr wrap="square" lIns="0" tIns="0" rIns="0" bIns="0" rtlCol="0" anchor="ctr">
            <a:normAutofit/>
          </a:bodyPr>
          <a:lstStyle/>
          <a:p>
            <a:pPr marL="0" indent="0">
              <a:buNone/>
            </a:pPr>
            <a:r>
              <a:rPr lang="en-US" sz="930" dirty="0">
                <a:solidFill>
                  <a:srgbClr val="111827"/>
                </a:solidFill>
              </a:rPr>
              <a:t>Frontend Developer skilled in React, Next.js, TypeScript, and Tailwind CSS, with experience building responsive dashboards and portfolio projects.</a:t>
            </a:r>
            <a:endParaRPr lang="en-US" sz="930" dirty="0"/>
          </a:p>
        </p:txBody>
      </p:sp>
      <p:sp>
        <p:nvSpPr>
          <p:cNvPr id="11" name="Shape 9"/>
          <p:cNvSpPr/>
          <p:nvPr/>
        </p:nvSpPr>
        <p:spPr>
          <a:xfrm>
            <a:off x="822960" y="2423160"/>
            <a:ext cx="10424160" cy="731520"/>
          </a:xfrm>
          <a:prstGeom prst="roundRect">
            <a:avLst>
              <a:gd name="adj" fmla="val 10000"/>
            </a:avLst>
          </a:prstGeom>
          <a:solidFill>
            <a:srgbClr val="FFFFFF"/>
          </a:solidFill>
          <a:ln w="12700">
            <a:solidFill>
              <a:srgbClr val="E8E2DE"/>
            </a:solidFill>
            <a:prstDash val="solid"/>
          </a:ln>
        </p:spPr>
      </p:sp>
      <p:sp>
        <p:nvSpPr>
          <p:cNvPr id="12" name="Text 10"/>
          <p:cNvSpPr/>
          <p:nvPr/>
        </p:nvSpPr>
        <p:spPr>
          <a:xfrm>
            <a:off x="1078992" y="2587752"/>
            <a:ext cx="2468880" cy="201168"/>
          </a:xfrm>
          <a:prstGeom prst="rect">
            <a:avLst/>
          </a:prstGeom>
          <a:noFill/>
          <a:ln/>
        </p:spPr>
        <p:txBody>
          <a:bodyPr wrap="square" lIns="0" tIns="0" rIns="0" bIns="0" rtlCol="0" anchor="ctr"/>
          <a:lstStyle/>
          <a:p>
            <a:pPr marL="0" indent="0">
              <a:buNone/>
            </a:pPr>
            <a:r>
              <a:rPr lang="en-US" sz="1180" b="1" dirty="0">
                <a:solidFill>
                  <a:srgbClr val="7C3AED"/>
                </a:solidFill>
              </a:rPr>
              <a:t>AI Engineer</a:t>
            </a:r>
            <a:endParaRPr lang="en-US" sz="1180" dirty="0"/>
          </a:p>
        </p:txBody>
      </p:sp>
      <p:sp>
        <p:nvSpPr>
          <p:cNvPr id="13" name="Text 11"/>
          <p:cNvSpPr/>
          <p:nvPr/>
        </p:nvSpPr>
        <p:spPr>
          <a:xfrm>
            <a:off x="3657600" y="2569464"/>
            <a:ext cx="6903720" cy="246888"/>
          </a:xfrm>
          <a:prstGeom prst="rect">
            <a:avLst/>
          </a:prstGeom>
          <a:noFill/>
          <a:ln/>
        </p:spPr>
        <p:txBody>
          <a:bodyPr wrap="square" lIns="0" tIns="0" rIns="0" bIns="0" rtlCol="0" anchor="ctr">
            <a:normAutofit/>
          </a:bodyPr>
          <a:lstStyle/>
          <a:p>
            <a:pPr marL="0" indent="0">
              <a:buNone/>
            </a:pPr>
            <a:r>
              <a:rPr lang="en-US" sz="930" dirty="0">
                <a:solidFill>
                  <a:srgbClr val="111827"/>
                </a:solidFill>
              </a:rPr>
              <a:t>AI-focused developer with experience using Python, LLM APIs, LangChain, and RAG workflows to build practical AI assistants and automation tools.</a:t>
            </a:r>
            <a:endParaRPr lang="en-US" sz="930" dirty="0"/>
          </a:p>
        </p:txBody>
      </p:sp>
      <p:sp>
        <p:nvSpPr>
          <p:cNvPr id="14" name="Shape 12"/>
          <p:cNvSpPr/>
          <p:nvPr/>
        </p:nvSpPr>
        <p:spPr>
          <a:xfrm>
            <a:off x="822960" y="3291840"/>
            <a:ext cx="10424160" cy="731520"/>
          </a:xfrm>
          <a:prstGeom prst="roundRect">
            <a:avLst>
              <a:gd name="adj" fmla="val 10000"/>
            </a:avLst>
          </a:prstGeom>
          <a:solidFill>
            <a:srgbClr val="EDE9FE"/>
          </a:solidFill>
          <a:ln w="12700">
            <a:solidFill>
              <a:srgbClr val="E8E2DE"/>
            </a:solidFill>
            <a:prstDash val="solid"/>
          </a:ln>
        </p:spPr>
      </p:sp>
      <p:sp>
        <p:nvSpPr>
          <p:cNvPr id="15" name="Text 13"/>
          <p:cNvSpPr/>
          <p:nvPr/>
        </p:nvSpPr>
        <p:spPr>
          <a:xfrm>
            <a:off x="1078992" y="3456432"/>
            <a:ext cx="2468880" cy="201168"/>
          </a:xfrm>
          <a:prstGeom prst="rect">
            <a:avLst/>
          </a:prstGeom>
          <a:noFill/>
          <a:ln/>
        </p:spPr>
        <p:txBody>
          <a:bodyPr wrap="square" lIns="0" tIns="0" rIns="0" bIns="0" rtlCol="0" anchor="ctr"/>
          <a:lstStyle/>
          <a:p>
            <a:pPr marL="0" indent="0">
              <a:buNone/>
            </a:pPr>
            <a:r>
              <a:rPr lang="en-US" sz="1180" b="1" dirty="0">
                <a:solidFill>
                  <a:srgbClr val="7C3AED"/>
                </a:solidFill>
              </a:rPr>
              <a:t>Forward Deployed Engineer</a:t>
            </a:r>
            <a:endParaRPr lang="en-US" sz="1180" dirty="0"/>
          </a:p>
        </p:txBody>
      </p:sp>
      <p:sp>
        <p:nvSpPr>
          <p:cNvPr id="16" name="Text 14"/>
          <p:cNvSpPr/>
          <p:nvPr/>
        </p:nvSpPr>
        <p:spPr>
          <a:xfrm>
            <a:off x="3657600" y="3438144"/>
            <a:ext cx="6903720" cy="246888"/>
          </a:xfrm>
          <a:prstGeom prst="rect">
            <a:avLst/>
          </a:prstGeom>
          <a:noFill/>
          <a:ln/>
        </p:spPr>
        <p:txBody>
          <a:bodyPr wrap="square" lIns="0" tIns="0" rIns="0" bIns="0" rtlCol="0" anchor="ctr">
            <a:normAutofit/>
          </a:bodyPr>
          <a:lstStyle/>
          <a:p>
            <a:pPr marL="0" indent="0">
              <a:buNone/>
            </a:pPr>
            <a:r>
              <a:rPr lang="en-US" sz="930" dirty="0">
                <a:solidFill>
                  <a:srgbClr val="111827"/>
                </a:solidFill>
              </a:rPr>
              <a:t>FDE-oriented engineer combining technical problem solving, client discovery, and AI workflow design to help teams turn business problems into deployable solutions.</a:t>
            </a:r>
            <a:endParaRPr lang="en-US" sz="930" dirty="0"/>
          </a:p>
        </p:txBody>
      </p:sp>
      <p:sp>
        <p:nvSpPr>
          <p:cNvPr id="17" name="Shape 15"/>
          <p:cNvSpPr/>
          <p:nvPr/>
        </p:nvSpPr>
        <p:spPr>
          <a:xfrm>
            <a:off x="822960" y="4160520"/>
            <a:ext cx="10424160" cy="731520"/>
          </a:xfrm>
          <a:prstGeom prst="roundRect">
            <a:avLst>
              <a:gd name="adj" fmla="val 10000"/>
            </a:avLst>
          </a:prstGeom>
          <a:solidFill>
            <a:srgbClr val="FFFFFF"/>
          </a:solidFill>
          <a:ln w="12700">
            <a:solidFill>
              <a:srgbClr val="E8E2DE"/>
            </a:solidFill>
            <a:prstDash val="solid"/>
          </a:ln>
        </p:spPr>
      </p:sp>
      <p:sp>
        <p:nvSpPr>
          <p:cNvPr id="18" name="Text 16"/>
          <p:cNvSpPr/>
          <p:nvPr/>
        </p:nvSpPr>
        <p:spPr>
          <a:xfrm>
            <a:off x="1078992" y="4325112"/>
            <a:ext cx="2468880" cy="201168"/>
          </a:xfrm>
          <a:prstGeom prst="rect">
            <a:avLst/>
          </a:prstGeom>
          <a:noFill/>
          <a:ln/>
        </p:spPr>
        <p:txBody>
          <a:bodyPr wrap="square" lIns="0" tIns="0" rIns="0" bIns="0" rtlCol="0" anchor="ctr"/>
          <a:lstStyle/>
          <a:p>
            <a:pPr marL="0" indent="0">
              <a:buNone/>
            </a:pPr>
            <a:r>
              <a:rPr lang="en-US" sz="1180" b="1" dirty="0">
                <a:solidFill>
                  <a:srgbClr val="7C3AED"/>
                </a:solidFill>
              </a:rPr>
              <a:t>Cybersecurity Analyst</a:t>
            </a:r>
            <a:endParaRPr lang="en-US" sz="1180" dirty="0"/>
          </a:p>
        </p:txBody>
      </p:sp>
      <p:sp>
        <p:nvSpPr>
          <p:cNvPr id="19" name="Text 17"/>
          <p:cNvSpPr/>
          <p:nvPr/>
        </p:nvSpPr>
        <p:spPr>
          <a:xfrm>
            <a:off x="3657600" y="4306824"/>
            <a:ext cx="6903720" cy="246888"/>
          </a:xfrm>
          <a:prstGeom prst="rect">
            <a:avLst/>
          </a:prstGeom>
          <a:noFill/>
          <a:ln/>
        </p:spPr>
        <p:txBody>
          <a:bodyPr wrap="square" lIns="0" tIns="0" rIns="0" bIns="0" rtlCol="0" anchor="ctr">
            <a:normAutofit/>
          </a:bodyPr>
          <a:lstStyle/>
          <a:p>
            <a:pPr marL="0" indent="0">
              <a:buNone/>
            </a:pPr>
            <a:r>
              <a:rPr lang="en-US" sz="930" dirty="0">
                <a:solidFill>
                  <a:srgbClr val="111827"/>
                </a:solidFill>
              </a:rPr>
              <a:t>Cybersecurity student with hands-on labs in Linux, networking, threat analysis, and SIEM tools, seeking a junior SOC or security internship role.</a:t>
            </a:r>
            <a:endParaRPr lang="en-US" sz="930" dirty="0"/>
          </a:p>
        </p:txBody>
      </p:sp>
      <p:sp>
        <p:nvSpPr>
          <p:cNvPr id="21" name="Text 18"/>
          <p:cNvSpPr/>
          <p:nvPr/>
        </p:nvSpPr>
        <p:spPr>
          <a:xfrm>
            <a:off x="411480" y="6510528"/>
            <a:ext cx="6400800" cy="164592"/>
          </a:xfrm>
          <a:prstGeom prst="rect">
            <a:avLst/>
          </a:prstGeom>
          <a:noFill/>
          <a:ln/>
        </p:spPr>
        <p:txBody>
          <a:bodyPr wrap="square" lIns="0" tIns="0" rIns="0" bIns="0" rtlCol="0" anchor="ctr"/>
          <a:lstStyle/>
          <a:p>
            <a:pPr marL="0" indent="0">
              <a:buNone/>
            </a:pPr>
            <a:r>
              <a:rPr lang="en-US" sz="600" dirty="0">
                <a:solidFill>
                  <a:srgbClr val="7C7C7C"/>
                </a:solidFill>
                <a:latin typeface="Aptos" pitchFamily="34" charset="0"/>
                <a:ea typeface="Aptos" pitchFamily="34" charset="-122"/>
                <a:cs typeface="Aptos" pitchFamily="34" charset="-120"/>
              </a:rPr>
              <a:t>What's Next After Graduation?  |  Farah Kerbaj</a:t>
            </a:r>
            <a:endParaRPr lang="en-US" sz="600" dirty="0"/>
          </a:p>
        </p:txBody>
      </p:sp>
      <p:sp>
        <p:nvSpPr>
          <p:cNvPr id="22" name="Text 19"/>
          <p:cNvSpPr/>
          <p:nvPr/>
        </p:nvSpPr>
        <p:spPr>
          <a:xfrm>
            <a:off x="11430000" y="6473952"/>
            <a:ext cx="320040" cy="182880"/>
          </a:xfrm>
          <a:prstGeom prst="rect">
            <a:avLst/>
          </a:prstGeom>
          <a:noFill/>
          <a:ln/>
        </p:spPr>
        <p:txBody>
          <a:bodyPr wrap="square" lIns="0" tIns="0" rIns="0" bIns="0" rtlCol="0" anchor="ctr"/>
          <a:lstStyle/>
          <a:p>
            <a:pPr marL="0" indent="0" algn="r">
              <a:buNone/>
            </a:pPr>
            <a:r>
              <a:rPr lang="en-US" sz="700" dirty="0">
                <a:solidFill>
                  <a:srgbClr val="7C7C7C"/>
                </a:solidFill>
              </a:rPr>
              <a:t>16</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4F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F2"/>
          </a:solidFill>
          <a:ln w="12700">
            <a:solidFill>
              <a:srgbClr val="F7F4F2">
                <a:alpha val="0"/>
              </a:srgbClr>
            </a:solidFill>
            <a:prstDash val="solid"/>
          </a:ln>
        </p:spPr>
      </p:sp>
      <p:sp>
        <p:nvSpPr>
          <p:cNvPr id="3" name="Shape 1"/>
          <p:cNvSpPr/>
          <p:nvPr/>
        </p:nvSpPr>
        <p:spPr>
          <a:xfrm>
            <a:off x="0" y="0"/>
            <a:ext cx="12191695" cy="73152"/>
          </a:xfrm>
          <a:prstGeom prst="rect">
            <a:avLst/>
          </a:prstGeom>
          <a:solidFill>
            <a:srgbClr val="10B981"/>
          </a:solidFill>
          <a:ln w="12700">
            <a:solidFill>
              <a:srgbClr val="10B981"/>
            </a:solidFill>
            <a:prstDash val="solid"/>
          </a:ln>
        </p:spPr>
      </p:sp>
      <p:sp>
        <p:nvSpPr>
          <p:cNvPr id="4" name="Text 2"/>
          <p:cNvSpPr/>
          <p:nvPr/>
        </p:nvSpPr>
        <p:spPr>
          <a:xfrm>
            <a:off x="667512" y="274320"/>
            <a:ext cx="7315200" cy="201168"/>
          </a:xfrm>
          <a:prstGeom prst="rect">
            <a:avLst/>
          </a:prstGeom>
          <a:noFill/>
          <a:ln/>
        </p:spPr>
        <p:txBody>
          <a:bodyPr wrap="square" lIns="0" tIns="0" rIns="0" bIns="0" rtlCol="0" anchor="ctr"/>
          <a:lstStyle/>
          <a:p>
            <a:pPr marL="0" indent="0">
              <a:buNone/>
            </a:pPr>
            <a:r>
              <a:rPr lang="en-US" sz="750" b="1" dirty="0">
                <a:solidFill>
                  <a:srgbClr val="10B981"/>
                </a:solidFill>
              </a:rPr>
              <a:t>CV SKILLS SECTION</a:t>
            </a:r>
            <a:endParaRPr lang="en-US" sz="750" dirty="0"/>
          </a:p>
        </p:txBody>
      </p:sp>
      <p:sp>
        <p:nvSpPr>
          <p:cNvPr id="5" name="Text 3"/>
          <p:cNvSpPr/>
          <p:nvPr/>
        </p:nvSpPr>
        <p:spPr>
          <a:xfrm>
            <a:off x="640080" y="502920"/>
            <a:ext cx="10881360" cy="438912"/>
          </a:xfrm>
          <a:prstGeom prst="rect">
            <a:avLst/>
          </a:prstGeom>
          <a:noFill/>
          <a:ln/>
        </p:spPr>
        <p:txBody>
          <a:bodyPr wrap="square" lIns="0" tIns="0" rIns="0" bIns="0" rtlCol="0" anchor="ctr">
            <a:normAutofit/>
          </a:bodyPr>
          <a:lstStyle/>
          <a:p>
            <a:pPr marL="0" indent="0">
              <a:buNone/>
            </a:pPr>
            <a:r>
              <a:rPr lang="en-US" sz="2500" b="1" dirty="0">
                <a:solidFill>
                  <a:srgbClr val="111827"/>
                </a:solidFill>
                <a:latin typeface="Aptos Display" pitchFamily="34" charset="0"/>
                <a:ea typeface="Aptos Display" pitchFamily="34" charset="-122"/>
                <a:cs typeface="Aptos Display" pitchFamily="34" charset="-120"/>
              </a:rPr>
              <a:t>Organize Skills the Way Recruiters Think</a:t>
            </a:r>
            <a:endParaRPr lang="en-US" sz="2500" dirty="0"/>
          </a:p>
        </p:txBody>
      </p:sp>
      <p:sp>
        <p:nvSpPr>
          <p:cNvPr id="6" name="Text 4"/>
          <p:cNvSpPr/>
          <p:nvPr/>
        </p:nvSpPr>
        <p:spPr>
          <a:xfrm>
            <a:off x="667512" y="987552"/>
            <a:ext cx="10424160" cy="256032"/>
          </a:xfrm>
          <a:prstGeom prst="rect">
            <a:avLst/>
          </a:prstGeom>
          <a:noFill/>
          <a:ln/>
        </p:spPr>
        <p:txBody>
          <a:bodyPr wrap="square" lIns="0" tIns="0" rIns="0" bIns="0" rtlCol="0" anchor="ctr"/>
          <a:lstStyle/>
          <a:p>
            <a:pPr marL="0" indent="0">
              <a:buNone/>
            </a:pPr>
            <a:r>
              <a:rPr lang="en-US" sz="950" dirty="0">
                <a:solidFill>
                  <a:srgbClr val="5B6472"/>
                </a:solidFill>
              </a:rPr>
              <a:t>Grouped, specific, and scannable — not a random list</a:t>
            </a:r>
            <a:endParaRPr lang="en-US" sz="950" dirty="0"/>
          </a:p>
        </p:txBody>
      </p:sp>
      <p:sp>
        <p:nvSpPr>
          <p:cNvPr id="7" name="Shape 5"/>
          <p:cNvSpPr/>
          <p:nvPr/>
        </p:nvSpPr>
        <p:spPr>
          <a:xfrm>
            <a:off x="640080" y="1325880"/>
            <a:ext cx="10881360" cy="0"/>
          </a:xfrm>
          <a:prstGeom prst="line">
            <a:avLst/>
          </a:prstGeom>
          <a:noFill/>
          <a:ln w="12700">
            <a:solidFill>
              <a:srgbClr val="D6D3D1"/>
            </a:solidFill>
            <a:prstDash val="solid"/>
          </a:ln>
        </p:spPr>
      </p:sp>
      <p:sp>
        <p:nvSpPr>
          <p:cNvPr id="8" name="Shape 6"/>
          <p:cNvSpPr/>
          <p:nvPr/>
        </p:nvSpPr>
        <p:spPr>
          <a:xfrm>
            <a:off x="777240" y="1554480"/>
            <a:ext cx="3520440" cy="960120"/>
          </a:xfrm>
          <a:prstGeom prst="roundRect">
            <a:avLst>
              <a:gd name="adj" fmla="val 7619"/>
            </a:avLst>
          </a:prstGeom>
          <a:solidFill>
            <a:srgbClr val="FFFFFF"/>
          </a:solidFill>
          <a:ln w="12700">
            <a:solidFill>
              <a:srgbClr val="E8E2DE"/>
            </a:solidFill>
            <a:prstDash val="solid"/>
          </a:ln>
        </p:spPr>
      </p:sp>
      <p:sp>
        <p:nvSpPr>
          <p:cNvPr id="9" name="Text 7"/>
          <p:cNvSpPr/>
          <p:nvPr/>
        </p:nvSpPr>
        <p:spPr>
          <a:xfrm>
            <a:off x="1005840" y="1737360"/>
            <a:ext cx="2926080" cy="182880"/>
          </a:xfrm>
          <a:prstGeom prst="rect">
            <a:avLst/>
          </a:prstGeom>
          <a:noFill/>
          <a:ln/>
        </p:spPr>
        <p:txBody>
          <a:bodyPr wrap="square" lIns="0" tIns="0" rIns="0" bIns="0" rtlCol="0" anchor="ctr"/>
          <a:lstStyle/>
          <a:p>
            <a:pPr marL="0" indent="0">
              <a:buNone/>
            </a:pPr>
            <a:r>
              <a:rPr lang="en-US" sz="1150" b="1" dirty="0">
                <a:solidFill>
                  <a:srgbClr val="10B981"/>
                </a:solidFill>
              </a:rPr>
              <a:t>Programming</a:t>
            </a:r>
            <a:endParaRPr lang="en-US" sz="1150" dirty="0"/>
          </a:p>
        </p:txBody>
      </p:sp>
      <p:sp>
        <p:nvSpPr>
          <p:cNvPr id="10" name="Text 8"/>
          <p:cNvSpPr/>
          <p:nvPr/>
        </p:nvSpPr>
        <p:spPr>
          <a:xfrm>
            <a:off x="1005840" y="2057400"/>
            <a:ext cx="2926080" cy="182880"/>
          </a:xfrm>
          <a:prstGeom prst="rect">
            <a:avLst/>
          </a:prstGeom>
          <a:noFill/>
          <a:ln/>
        </p:spPr>
        <p:txBody>
          <a:bodyPr wrap="square" lIns="0" tIns="0" rIns="0" bIns="0" rtlCol="0" anchor="ctr">
            <a:normAutofit/>
          </a:bodyPr>
          <a:lstStyle/>
          <a:p>
            <a:pPr marL="0" indent="0">
              <a:buNone/>
            </a:pPr>
            <a:r>
              <a:rPr lang="en-US" sz="850" dirty="0">
                <a:solidFill>
                  <a:srgbClr val="5B6472"/>
                </a:solidFill>
              </a:rPr>
              <a:t>JavaScript • TypeScript • Python • Java</a:t>
            </a:r>
            <a:endParaRPr lang="en-US" sz="850" dirty="0"/>
          </a:p>
        </p:txBody>
      </p:sp>
      <p:sp>
        <p:nvSpPr>
          <p:cNvPr id="11" name="Shape 9"/>
          <p:cNvSpPr/>
          <p:nvPr/>
        </p:nvSpPr>
        <p:spPr>
          <a:xfrm>
            <a:off x="4480560" y="1554480"/>
            <a:ext cx="3520440" cy="960120"/>
          </a:xfrm>
          <a:prstGeom prst="roundRect">
            <a:avLst>
              <a:gd name="adj" fmla="val 7619"/>
            </a:avLst>
          </a:prstGeom>
          <a:solidFill>
            <a:srgbClr val="D1FAE5"/>
          </a:solidFill>
          <a:ln w="12700">
            <a:solidFill>
              <a:srgbClr val="E8E2DE"/>
            </a:solidFill>
            <a:prstDash val="solid"/>
          </a:ln>
        </p:spPr>
      </p:sp>
      <p:sp>
        <p:nvSpPr>
          <p:cNvPr id="12" name="Text 10"/>
          <p:cNvSpPr/>
          <p:nvPr/>
        </p:nvSpPr>
        <p:spPr>
          <a:xfrm>
            <a:off x="4709160" y="1737360"/>
            <a:ext cx="2926080" cy="182880"/>
          </a:xfrm>
          <a:prstGeom prst="rect">
            <a:avLst/>
          </a:prstGeom>
          <a:noFill/>
          <a:ln/>
        </p:spPr>
        <p:txBody>
          <a:bodyPr wrap="square" lIns="0" tIns="0" rIns="0" bIns="0" rtlCol="0" anchor="ctr"/>
          <a:lstStyle/>
          <a:p>
            <a:pPr marL="0" indent="0">
              <a:buNone/>
            </a:pPr>
            <a:r>
              <a:rPr lang="en-US" sz="1150" b="1" dirty="0">
                <a:solidFill>
                  <a:srgbClr val="10B981"/>
                </a:solidFill>
              </a:rPr>
              <a:t>Frameworks</a:t>
            </a:r>
            <a:endParaRPr lang="en-US" sz="1150" dirty="0"/>
          </a:p>
        </p:txBody>
      </p:sp>
      <p:sp>
        <p:nvSpPr>
          <p:cNvPr id="13" name="Text 11"/>
          <p:cNvSpPr/>
          <p:nvPr/>
        </p:nvSpPr>
        <p:spPr>
          <a:xfrm>
            <a:off x="4709160" y="2057400"/>
            <a:ext cx="2926080" cy="182880"/>
          </a:xfrm>
          <a:prstGeom prst="rect">
            <a:avLst/>
          </a:prstGeom>
          <a:noFill/>
          <a:ln/>
        </p:spPr>
        <p:txBody>
          <a:bodyPr wrap="square" lIns="0" tIns="0" rIns="0" bIns="0" rtlCol="0" anchor="ctr">
            <a:normAutofit/>
          </a:bodyPr>
          <a:lstStyle/>
          <a:p>
            <a:pPr marL="0" indent="0">
              <a:buNone/>
            </a:pPr>
            <a:r>
              <a:rPr lang="en-US" sz="850" dirty="0">
                <a:solidFill>
                  <a:srgbClr val="5B6472"/>
                </a:solidFill>
              </a:rPr>
              <a:t>React • Next.js • Node.js • Spring Boot</a:t>
            </a:r>
            <a:endParaRPr lang="en-US" sz="850" dirty="0"/>
          </a:p>
        </p:txBody>
      </p:sp>
      <p:sp>
        <p:nvSpPr>
          <p:cNvPr id="14" name="Shape 12"/>
          <p:cNvSpPr/>
          <p:nvPr/>
        </p:nvSpPr>
        <p:spPr>
          <a:xfrm>
            <a:off x="8183880" y="1554480"/>
            <a:ext cx="3520440" cy="960120"/>
          </a:xfrm>
          <a:prstGeom prst="roundRect">
            <a:avLst>
              <a:gd name="adj" fmla="val 7619"/>
            </a:avLst>
          </a:prstGeom>
          <a:solidFill>
            <a:srgbClr val="FFFFFF"/>
          </a:solidFill>
          <a:ln w="12700">
            <a:solidFill>
              <a:srgbClr val="E8E2DE"/>
            </a:solidFill>
            <a:prstDash val="solid"/>
          </a:ln>
        </p:spPr>
      </p:sp>
      <p:sp>
        <p:nvSpPr>
          <p:cNvPr id="15" name="Text 13"/>
          <p:cNvSpPr/>
          <p:nvPr/>
        </p:nvSpPr>
        <p:spPr>
          <a:xfrm>
            <a:off x="8412480" y="1737360"/>
            <a:ext cx="2926080" cy="182880"/>
          </a:xfrm>
          <a:prstGeom prst="rect">
            <a:avLst/>
          </a:prstGeom>
          <a:noFill/>
          <a:ln/>
        </p:spPr>
        <p:txBody>
          <a:bodyPr wrap="square" lIns="0" tIns="0" rIns="0" bIns="0" rtlCol="0" anchor="ctr"/>
          <a:lstStyle/>
          <a:p>
            <a:pPr marL="0" indent="0">
              <a:buNone/>
            </a:pPr>
            <a:r>
              <a:rPr lang="en-US" sz="1150" b="1" dirty="0">
                <a:solidFill>
                  <a:srgbClr val="10B981"/>
                </a:solidFill>
              </a:rPr>
              <a:t>Databases</a:t>
            </a:r>
            <a:endParaRPr lang="en-US" sz="1150" dirty="0"/>
          </a:p>
        </p:txBody>
      </p:sp>
      <p:sp>
        <p:nvSpPr>
          <p:cNvPr id="16" name="Text 14"/>
          <p:cNvSpPr/>
          <p:nvPr/>
        </p:nvSpPr>
        <p:spPr>
          <a:xfrm>
            <a:off x="8412480" y="2057400"/>
            <a:ext cx="2926080" cy="182880"/>
          </a:xfrm>
          <a:prstGeom prst="rect">
            <a:avLst/>
          </a:prstGeom>
          <a:noFill/>
          <a:ln/>
        </p:spPr>
        <p:txBody>
          <a:bodyPr wrap="square" lIns="0" tIns="0" rIns="0" bIns="0" rtlCol="0" anchor="ctr">
            <a:normAutofit/>
          </a:bodyPr>
          <a:lstStyle/>
          <a:p>
            <a:pPr marL="0" indent="0">
              <a:buNone/>
            </a:pPr>
            <a:r>
              <a:rPr lang="en-US" sz="850" dirty="0">
                <a:solidFill>
                  <a:srgbClr val="5B6472"/>
                </a:solidFill>
              </a:rPr>
              <a:t>PostgreSQL • MySQL • MongoDB</a:t>
            </a:r>
            <a:endParaRPr lang="en-US" sz="850" dirty="0"/>
          </a:p>
        </p:txBody>
      </p:sp>
      <p:sp>
        <p:nvSpPr>
          <p:cNvPr id="17" name="Shape 15"/>
          <p:cNvSpPr/>
          <p:nvPr/>
        </p:nvSpPr>
        <p:spPr>
          <a:xfrm>
            <a:off x="777240" y="2697480"/>
            <a:ext cx="3520440" cy="960120"/>
          </a:xfrm>
          <a:prstGeom prst="roundRect">
            <a:avLst>
              <a:gd name="adj" fmla="val 7619"/>
            </a:avLst>
          </a:prstGeom>
          <a:solidFill>
            <a:srgbClr val="D1FAE5"/>
          </a:solidFill>
          <a:ln w="12700">
            <a:solidFill>
              <a:srgbClr val="E8E2DE"/>
            </a:solidFill>
            <a:prstDash val="solid"/>
          </a:ln>
        </p:spPr>
      </p:sp>
      <p:sp>
        <p:nvSpPr>
          <p:cNvPr id="18" name="Text 16"/>
          <p:cNvSpPr/>
          <p:nvPr/>
        </p:nvSpPr>
        <p:spPr>
          <a:xfrm>
            <a:off x="1005840" y="2880360"/>
            <a:ext cx="2926080" cy="182880"/>
          </a:xfrm>
          <a:prstGeom prst="rect">
            <a:avLst/>
          </a:prstGeom>
          <a:noFill/>
          <a:ln/>
        </p:spPr>
        <p:txBody>
          <a:bodyPr wrap="square" lIns="0" tIns="0" rIns="0" bIns="0" rtlCol="0" anchor="ctr"/>
          <a:lstStyle/>
          <a:p>
            <a:pPr marL="0" indent="0">
              <a:buNone/>
            </a:pPr>
            <a:r>
              <a:rPr lang="en-US" sz="1150" b="1" dirty="0">
                <a:solidFill>
                  <a:srgbClr val="10B981"/>
                </a:solidFill>
              </a:rPr>
              <a:t>Tools</a:t>
            </a:r>
            <a:endParaRPr lang="en-US" sz="1150" dirty="0"/>
          </a:p>
        </p:txBody>
      </p:sp>
      <p:sp>
        <p:nvSpPr>
          <p:cNvPr id="19" name="Text 17"/>
          <p:cNvSpPr/>
          <p:nvPr/>
        </p:nvSpPr>
        <p:spPr>
          <a:xfrm>
            <a:off x="1005840" y="3200400"/>
            <a:ext cx="2926080" cy="182880"/>
          </a:xfrm>
          <a:prstGeom prst="rect">
            <a:avLst/>
          </a:prstGeom>
          <a:noFill/>
          <a:ln/>
        </p:spPr>
        <p:txBody>
          <a:bodyPr wrap="square" lIns="0" tIns="0" rIns="0" bIns="0" rtlCol="0" anchor="ctr">
            <a:normAutofit/>
          </a:bodyPr>
          <a:lstStyle/>
          <a:p>
            <a:pPr marL="0" indent="0">
              <a:buNone/>
            </a:pPr>
            <a:r>
              <a:rPr lang="en-US" sz="850" dirty="0">
                <a:solidFill>
                  <a:srgbClr val="5B6472"/>
                </a:solidFill>
              </a:rPr>
              <a:t>Git • GitHub • Jira • Postman • Figma</a:t>
            </a:r>
            <a:endParaRPr lang="en-US" sz="850" dirty="0"/>
          </a:p>
        </p:txBody>
      </p:sp>
      <p:sp>
        <p:nvSpPr>
          <p:cNvPr id="20" name="Shape 18"/>
          <p:cNvSpPr/>
          <p:nvPr/>
        </p:nvSpPr>
        <p:spPr>
          <a:xfrm>
            <a:off x="4480560" y="2697480"/>
            <a:ext cx="3520440" cy="960120"/>
          </a:xfrm>
          <a:prstGeom prst="roundRect">
            <a:avLst>
              <a:gd name="adj" fmla="val 7619"/>
            </a:avLst>
          </a:prstGeom>
          <a:solidFill>
            <a:srgbClr val="FFFFFF"/>
          </a:solidFill>
          <a:ln w="12700">
            <a:solidFill>
              <a:srgbClr val="E8E2DE"/>
            </a:solidFill>
            <a:prstDash val="solid"/>
          </a:ln>
        </p:spPr>
      </p:sp>
      <p:sp>
        <p:nvSpPr>
          <p:cNvPr id="21" name="Text 19"/>
          <p:cNvSpPr/>
          <p:nvPr/>
        </p:nvSpPr>
        <p:spPr>
          <a:xfrm>
            <a:off x="4709160" y="2880360"/>
            <a:ext cx="2926080" cy="182880"/>
          </a:xfrm>
          <a:prstGeom prst="rect">
            <a:avLst/>
          </a:prstGeom>
          <a:noFill/>
          <a:ln/>
        </p:spPr>
        <p:txBody>
          <a:bodyPr wrap="square" lIns="0" tIns="0" rIns="0" bIns="0" rtlCol="0" anchor="ctr"/>
          <a:lstStyle/>
          <a:p>
            <a:pPr marL="0" indent="0">
              <a:buNone/>
            </a:pPr>
            <a:r>
              <a:rPr lang="en-US" sz="1150" b="1" dirty="0">
                <a:solidFill>
                  <a:srgbClr val="10B981"/>
                </a:solidFill>
              </a:rPr>
              <a:t>AI / Data</a:t>
            </a:r>
            <a:endParaRPr lang="en-US" sz="1150" dirty="0"/>
          </a:p>
        </p:txBody>
      </p:sp>
      <p:sp>
        <p:nvSpPr>
          <p:cNvPr id="22" name="Text 20"/>
          <p:cNvSpPr/>
          <p:nvPr/>
        </p:nvSpPr>
        <p:spPr>
          <a:xfrm>
            <a:off x="4709160" y="3200400"/>
            <a:ext cx="2926080" cy="182880"/>
          </a:xfrm>
          <a:prstGeom prst="rect">
            <a:avLst/>
          </a:prstGeom>
          <a:noFill/>
          <a:ln/>
        </p:spPr>
        <p:txBody>
          <a:bodyPr wrap="square" lIns="0" tIns="0" rIns="0" bIns="0" rtlCol="0" anchor="ctr">
            <a:normAutofit/>
          </a:bodyPr>
          <a:lstStyle/>
          <a:p>
            <a:pPr marL="0" indent="0">
              <a:buNone/>
            </a:pPr>
            <a:r>
              <a:rPr lang="en-US" sz="850" dirty="0">
                <a:solidFill>
                  <a:srgbClr val="5B6472"/>
                </a:solidFill>
              </a:rPr>
              <a:t>LLMs • RAG • Pandas • Power BI</a:t>
            </a:r>
            <a:endParaRPr lang="en-US" sz="850" dirty="0"/>
          </a:p>
        </p:txBody>
      </p:sp>
      <p:sp>
        <p:nvSpPr>
          <p:cNvPr id="23" name="Shape 21"/>
          <p:cNvSpPr/>
          <p:nvPr/>
        </p:nvSpPr>
        <p:spPr>
          <a:xfrm>
            <a:off x="8183880" y="2697480"/>
            <a:ext cx="3520440" cy="960120"/>
          </a:xfrm>
          <a:prstGeom prst="roundRect">
            <a:avLst>
              <a:gd name="adj" fmla="val 7619"/>
            </a:avLst>
          </a:prstGeom>
          <a:solidFill>
            <a:srgbClr val="D1FAE5"/>
          </a:solidFill>
          <a:ln w="12700">
            <a:solidFill>
              <a:srgbClr val="E8E2DE"/>
            </a:solidFill>
            <a:prstDash val="solid"/>
          </a:ln>
        </p:spPr>
      </p:sp>
      <p:sp>
        <p:nvSpPr>
          <p:cNvPr id="24" name="Text 22"/>
          <p:cNvSpPr/>
          <p:nvPr/>
        </p:nvSpPr>
        <p:spPr>
          <a:xfrm>
            <a:off x="8412480" y="2880360"/>
            <a:ext cx="2926080" cy="182880"/>
          </a:xfrm>
          <a:prstGeom prst="rect">
            <a:avLst/>
          </a:prstGeom>
          <a:noFill/>
          <a:ln/>
        </p:spPr>
        <p:txBody>
          <a:bodyPr wrap="square" lIns="0" tIns="0" rIns="0" bIns="0" rtlCol="0" anchor="ctr"/>
          <a:lstStyle/>
          <a:p>
            <a:pPr marL="0" indent="0">
              <a:buNone/>
            </a:pPr>
            <a:r>
              <a:rPr lang="en-US" sz="1150" b="1" dirty="0">
                <a:solidFill>
                  <a:srgbClr val="10B981"/>
                </a:solidFill>
              </a:rPr>
              <a:t>Soft Skills</a:t>
            </a:r>
            <a:endParaRPr lang="en-US" sz="1150" dirty="0"/>
          </a:p>
        </p:txBody>
      </p:sp>
      <p:sp>
        <p:nvSpPr>
          <p:cNvPr id="25" name="Text 23"/>
          <p:cNvSpPr/>
          <p:nvPr/>
        </p:nvSpPr>
        <p:spPr>
          <a:xfrm>
            <a:off x="8412480" y="3200400"/>
            <a:ext cx="2926080" cy="182880"/>
          </a:xfrm>
          <a:prstGeom prst="rect">
            <a:avLst/>
          </a:prstGeom>
          <a:noFill/>
          <a:ln/>
        </p:spPr>
        <p:txBody>
          <a:bodyPr wrap="square" lIns="0" tIns="0" rIns="0" bIns="0" rtlCol="0" anchor="ctr">
            <a:normAutofit/>
          </a:bodyPr>
          <a:lstStyle/>
          <a:p>
            <a:pPr marL="0" indent="0">
              <a:buNone/>
            </a:pPr>
            <a:r>
              <a:rPr lang="en-US" sz="850" dirty="0">
                <a:solidFill>
                  <a:srgbClr val="5B6472"/>
                </a:solidFill>
              </a:rPr>
              <a:t>Communication • Ownership • Teamwork</a:t>
            </a:r>
            <a:endParaRPr lang="en-US" sz="850" dirty="0"/>
          </a:p>
        </p:txBody>
      </p:sp>
      <p:sp>
        <p:nvSpPr>
          <p:cNvPr id="26" name="Text 24"/>
          <p:cNvSpPr/>
          <p:nvPr/>
        </p:nvSpPr>
        <p:spPr>
          <a:xfrm>
            <a:off x="914400" y="5394960"/>
            <a:ext cx="10241280" cy="228600"/>
          </a:xfrm>
          <a:prstGeom prst="rect">
            <a:avLst/>
          </a:prstGeom>
          <a:noFill/>
          <a:ln/>
        </p:spPr>
        <p:txBody>
          <a:bodyPr wrap="square" lIns="0" tIns="0" rIns="0" bIns="0" rtlCol="0" anchor="ctr"/>
          <a:lstStyle/>
          <a:p>
            <a:pPr marL="0" indent="0" algn="ctr">
              <a:buNone/>
            </a:pPr>
            <a:r>
              <a:rPr lang="en-US" sz="1400" b="1" dirty="0">
                <a:solidFill>
                  <a:srgbClr val="10B981"/>
                </a:solidFill>
              </a:rPr>
              <a:t>Tip: prioritize the skills repeated in the job description.</a:t>
            </a:r>
            <a:endParaRPr lang="en-US" sz="1400" dirty="0"/>
          </a:p>
        </p:txBody>
      </p:sp>
      <p:sp>
        <p:nvSpPr>
          <p:cNvPr id="28" name="Text 25"/>
          <p:cNvSpPr/>
          <p:nvPr/>
        </p:nvSpPr>
        <p:spPr>
          <a:xfrm>
            <a:off x="411480" y="6510528"/>
            <a:ext cx="6400800" cy="164592"/>
          </a:xfrm>
          <a:prstGeom prst="rect">
            <a:avLst/>
          </a:prstGeom>
          <a:noFill/>
          <a:ln/>
        </p:spPr>
        <p:txBody>
          <a:bodyPr wrap="square" lIns="0" tIns="0" rIns="0" bIns="0" rtlCol="0" anchor="ctr"/>
          <a:lstStyle/>
          <a:p>
            <a:pPr marL="0" indent="0">
              <a:buNone/>
            </a:pPr>
            <a:r>
              <a:rPr lang="en-US" sz="600" dirty="0">
                <a:solidFill>
                  <a:srgbClr val="7C7C7C"/>
                </a:solidFill>
                <a:latin typeface="Aptos" pitchFamily="34" charset="0"/>
                <a:ea typeface="Aptos" pitchFamily="34" charset="-122"/>
                <a:cs typeface="Aptos" pitchFamily="34" charset="-120"/>
              </a:rPr>
              <a:t>What's Next After Graduation?  |  Farah Kerbaj</a:t>
            </a:r>
            <a:endParaRPr lang="en-US" sz="600" dirty="0"/>
          </a:p>
        </p:txBody>
      </p:sp>
      <p:sp>
        <p:nvSpPr>
          <p:cNvPr id="29" name="Text 26"/>
          <p:cNvSpPr/>
          <p:nvPr/>
        </p:nvSpPr>
        <p:spPr>
          <a:xfrm>
            <a:off x="11430000" y="6473952"/>
            <a:ext cx="320040" cy="182880"/>
          </a:xfrm>
          <a:prstGeom prst="rect">
            <a:avLst/>
          </a:prstGeom>
          <a:noFill/>
          <a:ln/>
        </p:spPr>
        <p:txBody>
          <a:bodyPr wrap="square" lIns="0" tIns="0" rIns="0" bIns="0" rtlCol="0" anchor="ctr"/>
          <a:lstStyle/>
          <a:p>
            <a:pPr marL="0" indent="0" algn="r">
              <a:buNone/>
            </a:pPr>
            <a:r>
              <a:rPr lang="en-US" sz="700" dirty="0">
                <a:solidFill>
                  <a:srgbClr val="7C7C7C"/>
                </a:solidFill>
              </a:rPr>
              <a:t>17</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4F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F2"/>
          </a:solidFill>
          <a:ln w="12700">
            <a:solidFill>
              <a:srgbClr val="F7F4F2">
                <a:alpha val="0"/>
              </a:srgbClr>
            </a:solidFill>
            <a:prstDash val="solid"/>
          </a:ln>
        </p:spPr>
      </p:sp>
      <p:sp>
        <p:nvSpPr>
          <p:cNvPr id="3" name="Shape 1"/>
          <p:cNvSpPr/>
          <p:nvPr/>
        </p:nvSpPr>
        <p:spPr>
          <a:xfrm>
            <a:off x="0" y="0"/>
            <a:ext cx="12191695" cy="73152"/>
          </a:xfrm>
          <a:prstGeom prst="rect">
            <a:avLst/>
          </a:prstGeom>
          <a:solidFill>
            <a:srgbClr val="F59E0B"/>
          </a:solidFill>
          <a:ln w="12700">
            <a:solidFill>
              <a:srgbClr val="F59E0B"/>
            </a:solidFill>
            <a:prstDash val="solid"/>
          </a:ln>
        </p:spPr>
      </p:sp>
      <p:sp>
        <p:nvSpPr>
          <p:cNvPr id="4" name="Text 2"/>
          <p:cNvSpPr/>
          <p:nvPr/>
        </p:nvSpPr>
        <p:spPr>
          <a:xfrm>
            <a:off x="667512" y="274320"/>
            <a:ext cx="7315200" cy="201168"/>
          </a:xfrm>
          <a:prstGeom prst="rect">
            <a:avLst/>
          </a:prstGeom>
          <a:noFill/>
          <a:ln/>
        </p:spPr>
        <p:txBody>
          <a:bodyPr wrap="square" lIns="0" tIns="0" rIns="0" bIns="0" rtlCol="0" anchor="ctr"/>
          <a:lstStyle/>
          <a:p>
            <a:pPr marL="0" indent="0">
              <a:buNone/>
            </a:pPr>
            <a:r>
              <a:rPr lang="en-US" sz="750" b="1" dirty="0">
                <a:solidFill>
                  <a:srgbClr val="F59E0B"/>
                </a:solidFill>
              </a:rPr>
              <a:t>PROJECT PROOF</a:t>
            </a:r>
            <a:endParaRPr lang="en-US" sz="750" dirty="0"/>
          </a:p>
        </p:txBody>
      </p:sp>
      <p:sp>
        <p:nvSpPr>
          <p:cNvPr id="5" name="Text 3"/>
          <p:cNvSpPr/>
          <p:nvPr/>
        </p:nvSpPr>
        <p:spPr>
          <a:xfrm>
            <a:off x="640080" y="502920"/>
            <a:ext cx="10881360" cy="438912"/>
          </a:xfrm>
          <a:prstGeom prst="rect">
            <a:avLst/>
          </a:prstGeom>
          <a:noFill/>
          <a:ln/>
        </p:spPr>
        <p:txBody>
          <a:bodyPr wrap="square" lIns="0" tIns="0" rIns="0" bIns="0" rtlCol="0" anchor="ctr">
            <a:normAutofit/>
          </a:bodyPr>
          <a:lstStyle/>
          <a:p>
            <a:pPr marL="0" indent="0">
              <a:buNone/>
            </a:pPr>
            <a:r>
              <a:rPr lang="en-US" sz="2500" b="1" dirty="0">
                <a:solidFill>
                  <a:srgbClr val="111827"/>
                </a:solidFill>
                <a:latin typeface="Aptos Display" pitchFamily="34" charset="0"/>
                <a:ea typeface="Aptos Display" pitchFamily="34" charset="-122"/>
                <a:cs typeface="Aptos Display" pitchFamily="34" charset="-120"/>
              </a:rPr>
              <a:t>Projects Are Your Experience Before Experience</a:t>
            </a:r>
            <a:endParaRPr lang="en-US" sz="2500" dirty="0"/>
          </a:p>
        </p:txBody>
      </p:sp>
      <p:sp>
        <p:nvSpPr>
          <p:cNvPr id="6" name="Text 4"/>
          <p:cNvSpPr/>
          <p:nvPr/>
        </p:nvSpPr>
        <p:spPr>
          <a:xfrm>
            <a:off x="667512" y="987552"/>
            <a:ext cx="10424160" cy="256032"/>
          </a:xfrm>
          <a:prstGeom prst="rect">
            <a:avLst/>
          </a:prstGeom>
          <a:noFill/>
          <a:ln/>
        </p:spPr>
        <p:txBody>
          <a:bodyPr wrap="square" lIns="0" tIns="0" rIns="0" bIns="0" rtlCol="0" anchor="ctr"/>
          <a:lstStyle/>
          <a:p>
            <a:pPr marL="0" indent="0">
              <a:buNone/>
            </a:pPr>
            <a:r>
              <a:rPr lang="en-US" sz="950" dirty="0">
                <a:solidFill>
                  <a:srgbClr val="5B6472"/>
                </a:solidFill>
              </a:rPr>
              <a:t>For fresh graduates, projects are often the strongest proof</a:t>
            </a:r>
            <a:endParaRPr lang="en-US" sz="950" dirty="0"/>
          </a:p>
        </p:txBody>
      </p:sp>
      <p:sp>
        <p:nvSpPr>
          <p:cNvPr id="7" name="Shape 5"/>
          <p:cNvSpPr/>
          <p:nvPr/>
        </p:nvSpPr>
        <p:spPr>
          <a:xfrm>
            <a:off x="640080" y="1325880"/>
            <a:ext cx="10881360" cy="0"/>
          </a:xfrm>
          <a:prstGeom prst="line">
            <a:avLst/>
          </a:prstGeom>
          <a:noFill/>
          <a:ln w="12700">
            <a:solidFill>
              <a:srgbClr val="D6D3D1"/>
            </a:solidFill>
            <a:prstDash val="solid"/>
          </a:ln>
        </p:spPr>
      </p:sp>
      <p:sp>
        <p:nvSpPr>
          <p:cNvPr id="8" name="Text 6"/>
          <p:cNvSpPr/>
          <p:nvPr/>
        </p:nvSpPr>
        <p:spPr>
          <a:xfrm>
            <a:off x="914400" y="1618488"/>
            <a:ext cx="411480" cy="256032"/>
          </a:xfrm>
          <a:prstGeom prst="rect">
            <a:avLst/>
          </a:prstGeom>
          <a:noFill/>
          <a:ln/>
        </p:spPr>
        <p:txBody>
          <a:bodyPr wrap="square" lIns="0" tIns="0" rIns="0" bIns="0" rtlCol="0" anchor="ctr"/>
          <a:lstStyle/>
          <a:p>
            <a:pPr marL="0" indent="0">
              <a:buNone/>
            </a:pPr>
            <a:r>
              <a:rPr lang="en-US" sz="1600" b="1" dirty="0">
                <a:solidFill>
                  <a:srgbClr val="F59E0B"/>
                </a:solidFill>
              </a:rPr>
              <a:t>1</a:t>
            </a:r>
            <a:endParaRPr lang="en-US" sz="1600" dirty="0"/>
          </a:p>
        </p:txBody>
      </p:sp>
      <p:sp>
        <p:nvSpPr>
          <p:cNvPr id="9" name="Text 7"/>
          <p:cNvSpPr/>
          <p:nvPr/>
        </p:nvSpPr>
        <p:spPr>
          <a:xfrm>
            <a:off x="1417320" y="1673352"/>
            <a:ext cx="5029200" cy="201168"/>
          </a:xfrm>
          <a:prstGeom prst="rect">
            <a:avLst/>
          </a:prstGeom>
          <a:noFill/>
          <a:ln/>
        </p:spPr>
        <p:txBody>
          <a:bodyPr wrap="square" lIns="0" tIns="0" rIns="0" bIns="0" rtlCol="0" anchor="ctr"/>
          <a:lstStyle/>
          <a:p>
            <a:pPr marL="0" indent="0">
              <a:buNone/>
            </a:pPr>
            <a:r>
              <a:rPr lang="en-US" sz="1200" dirty="0">
                <a:solidFill>
                  <a:srgbClr val="111827"/>
                </a:solidFill>
              </a:rPr>
              <a:t>What problem did you solve?</a:t>
            </a:r>
            <a:endParaRPr lang="en-US" sz="1200" dirty="0"/>
          </a:p>
        </p:txBody>
      </p:sp>
      <p:sp>
        <p:nvSpPr>
          <p:cNvPr id="10" name="Text 8"/>
          <p:cNvSpPr/>
          <p:nvPr/>
        </p:nvSpPr>
        <p:spPr>
          <a:xfrm>
            <a:off x="914400" y="2185416"/>
            <a:ext cx="411480" cy="256032"/>
          </a:xfrm>
          <a:prstGeom prst="rect">
            <a:avLst/>
          </a:prstGeom>
          <a:noFill/>
          <a:ln/>
        </p:spPr>
        <p:txBody>
          <a:bodyPr wrap="square" lIns="0" tIns="0" rIns="0" bIns="0" rtlCol="0" anchor="ctr"/>
          <a:lstStyle/>
          <a:p>
            <a:pPr marL="0" indent="0">
              <a:buNone/>
            </a:pPr>
            <a:r>
              <a:rPr lang="en-US" sz="1600" b="1" dirty="0">
                <a:solidFill>
                  <a:srgbClr val="F59E0B"/>
                </a:solidFill>
              </a:rPr>
              <a:t>2</a:t>
            </a:r>
            <a:endParaRPr lang="en-US" sz="1600" dirty="0"/>
          </a:p>
        </p:txBody>
      </p:sp>
      <p:sp>
        <p:nvSpPr>
          <p:cNvPr id="11" name="Text 9"/>
          <p:cNvSpPr/>
          <p:nvPr/>
        </p:nvSpPr>
        <p:spPr>
          <a:xfrm>
            <a:off x="1417320" y="2240280"/>
            <a:ext cx="5029200" cy="201168"/>
          </a:xfrm>
          <a:prstGeom prst="rect">
            <a:avLst/>
          </a:prstGeom>
          <a:noFill/>
          <a:ln/>
        </p:spPr>
        <p:txBody>
          <a:bodyPr wrap="square" lIns="0" tIns="0" rIns="0" bIns="0" rtlCol="0" anchor="ctr"/>
          <a:lstStyle/>
          <a:p>
            <a:pPr marL="0" indent="0">
              <a:buNone/>
            </a:pPr>
            <a:r>
              <a:rPr lang="en-US" sz="1200" dirty="0">
                <a:solidFill>
                  <a:srgbClr val="111827"/>
                </a:solidFill>
              </a:rPr>
              <a:t>Which tools did you use?</a:t>
            </a:r>
            <a:endParaRPr lang="en-US" sz="1200" dirty="0"/>
          </a:p>
        </p:txBody>
      </p:sp>
      <p:sp>
        <p:nvSpPr>
          <p:cNvPr id="12" name="Text 10"/>
          <p:cNvSpPr/>
          <p:nvPr/>
        </p:nvSpPr>
        <p:spPr>
          <a:xfrm>
            <a:off x="914400" y="2752344"/>
            <a:ext cx="411480" cy="256032"/>
          </a:xfrm>
          <a:prstGeom prst="rect">
            <a:avLst/>
          </a:prstGeom>
          <a:noFill/>
          <a:ln/>
        </p:spPr>
        <p:txBody>
          <a:bodyPr wrap="square" lIns="0" tIns="0" rIns="0" bIns="0" rtlCol="0" anchor="ctr"/>
          <a:lstStyle/>
          <a:p>
            <a:pPr marL="0" indent="0">
              <a:buNone/>
            </a:pPr>
            <a:r>
              <a:rPr lang="en-US" sz="1600" b="1" dirty="0">
                <a:solidFill>
                  <a:srgbClr val="F59E0B"/>
                </a:solidFill>
              </a:rPr>
              <a:t>3</a:t>
            </a:r>
            <a:endParaRPr lang="en-US" sz="1600" dirty="0"/>
          </a:p>
        </p:txBody>
      </p:sp>
      <p:sp>
        <p:nvSpPr>
          <p:cNvPr id="13" name="Text 11"/>
          <p:cNvSpPr/>
          <p:nvPr/>
        </p:nvSpPr>
        <p:spPr>
          <a:xfrm>
            <a:off x="1417320" y="2807208"/>
            <a:ext cx="5029200" cy="201168"/>
          </a:xfrm>
          <a:prstGeom prst="rect">
            <a:avLst/>
          </a:prstGeom>
          <a:noFill/>
          <a:ln/>
        </p:spPr>
        <p:txBody>
          <a:bodyPr wrap="square" lIns="0" tIns="0" rIns="0" bIns="0" rtlCol="0" anchor="ctr"/>
          <a:lstStyle/>
          <a:p>
            <a:pPr marL="0" indent="0">
              <a:buNone/>
            </a:pPr>
            <a:r>
              <a:rPr lang="en-US" sz="1200" dirty="0">
                <a:solidFill>
                  <a:srgbClr val="111827"/>
                </a:solidFill>
              </a:rPr>
              <a:t>What did you personally build?</a:t>
            </a:r>
            <a:endParaRPr lang="en-US" sz="1200" dirty="0"/>
          </a:p>
        </p:txBody>
      </p:sp>
      <p:sp>
        <p:nvSpPr>
          <p:cNvPr id="14" name="Text 12"/>
          <p:cNvSpPr/>
          <p:nvPr/>
        </p:nvSpPr>
        <p:spPr>
          <a:xfrm>
            <a:off x="914400" y="3319272"/>
            <a:ext cx="411480" cy="256032"/>
          </a:xfrm>
          <a:prstGeom prst="rect">
            <a:avLst/>
          </a:prstGeom>
          <a:noFill/>
          <a:ln/>
        </p:spPr>
        <p:txBody>
          <a:bodyPr wrap="square" lIns="0" tIns="0" rIns="0" bIns="0" rtlCol="0" anchor="ctr"/>
          <a:lstStyle/>
          <a:p>
            <a:pPr marL="0" indent="0">
              <a:buNone/>
            </a:pPr>
            <a:r>
              <a:rPr lang="en-US" sz="1600" b="1" dirty="0">
                <a:solidFill>
                  <a:srgbClr val="F59E0B"/>
                </a:solidFill>
              </a:rPr>
              <a:t>4</a:t>
            </a:r>
            <a:endParaRPr lang="en-US" sz="1600" dirty="0"/>
          </a:p>
        </p:txBody>
      </p:sp>
      <p:sp>
        <p:nvSpPr>
          <p:cNvPr id="15" name="Text 13"/>
          <p:cNvSpPr/>
          <p:nvPr/>
        </p:nvSpPr>
        <p:spPr>
          <a:xfrm>
            <a:off x="1417320" y="3374136"/>
            <a:ext cx="5029200" cy="201168"/>
          </a:xfrm>
          <a:prstGeom prst="rect">
            <a:avLst/>
          </a:prstGeom>
          <a:noFill/>
          <a:ln/>
        </p:spPr>
        <p:txBody>
          <a:bodyPr wrap="square" lIns="0" tIns="0" rIns="0" bIns="0" rtlCol="0" anchor="ctr"/>
          <a:lstStyle/>
          <a:p>
            <a:pPr marL="0" indent="0">
              <a:buNone/>
            </a:pPr>
            <a:r>
              <a:rPr lang="en-US" sz="1200" dirty="0">
                <a:solidFill>
                  <a:srgbClr val="111827"/>
                </a:solidFill>
              </a:rPr>
              <a:t>Where is the code or demo?</a:t>
            </a:r>
            <a:endParaRPr lang="en-US" sz="1200" dirty="0"/>
          </a:p>
        </p:txBody>
      </p:sp>
      <p:sp>
        <p:nvSpPr>
          <p:cNvPr id="16" name="Text 14"/>
          <p:cNvSpPr/>
          <p:nvPr/>
        </p:nvSpPr>
        <p:spPr>
          <a:xfrm>
            <a:off x="914400" y="3886200"/>
            <a:ext cx="411480" cy="256032"/>
          </a:xfrm>
          <a:prstGeom prst="rect">
            <a:avLst/>
          </a:prstGeom>
          <a:noFill/>
          <a:ln/>
        </p:spPr>
        <p:txBody>
          <a:bodyPr wrap="square" lIns="0" tIns="0" rIns="0" bIns="0" rtlCol="0" anchor="ctr"/>
          <a:lstStyle/>
          <a:p>
            <a:pPr marL="0" indent="0">
              <a:buNone/>
            </a:pPr>
            <a:r>
              <a:rPr lang="en-US" sz="1600" b="1" dirty="0">
                <a:solidFill>
                  <a:srgbClr val="F59E0B"/>
                </a:solidFill>
              </a:rPr>
              <a:t>5</a:t>
            </a:r>
            <a:endParaRPr lang="en-US" sz="1600" dirty="0"/>
          </a:p>
        </p:txBody>
      </p:sp>
      <p:sp>
        <p:nvSpPr>
          <p:cNvPr id="17" name="Text 15"/>
          <p:cNvSpPr/>
          <p:nvPr/>
        </p:nvSpPr>
        <p:spPr>
          <a:xfrm>
            <a:off x="1417320" y="3941064"/>
            <a:ext cx="5029200" cy="201168"/>
          </a:xfrm>
          <a:prstGeom prst="rect">
            <a:avLst/>
          </a:prstGeom>
          <a:noFill/>
          <a:ln/>
        </p:spPr>
        <p:txBody>
          <a:bodyPr wrap="square" lIns="0" tIns="0" rIns="0" bIns="0" rtlCol="0" anchor="ctr"/>
          <a:lstStyle/>
          <a:p>
            <a:pPr marL="0" indent="0">
              <a:buNone/>
            </a:pPr>
            <a:r>
              <a:rPr lang="en-US" sz="1200" dirty="0">
                <a:solidFill>
                  <a:srgbClr val="111827"/>
                </a:solidFill>
              </a:rPr>
              <a:t>What was the result or learning?</a:t>
            </a:r>
            <a:endParaRPr lang="en-US" sz="1200" dirty="0"/>
          </a:p>
        </p:txBody>
      </p:sp>
      <p:sp>
        <p:nvSpPr>
          <p:cNvPr id="18" name="Shape 16"/>
          <p:cNvSpPr/>
          <p:nvPr/>
        </p:nvSpPr>
        <p:spPr>
          <a:xfrm>
            <a:off x="6583680" y="1691640"/>
            <a:ext cx="4114800" cy="2880360"/>
          </a:xfrm>
          <a:prstGeom prst="roundRect">
            <a:avLst>
              <a:gd name="adj" fmla="val 2540"/>
            </a:avLst>
          </a:prstGeom>
          <a:solidFill>
            <a:srgbClr val="FFFFFF"/>
          </a:solidFill>
          <a:ln w="12700">
            <a:solidFill>
              <a:srgbClr val="E8E2DE"/>
            </a:solidFill>
            <a:prstDash val="solid"/>
          </a:ln>
        </p:spPr>
      </p:sp>
      <p:sp>
        <p:nvSpPr>
          <p:cNvPr id="19" name="Text 17"/>
          <p:cNvSpPr/>
          <p:nvPr/>
        </p:nvSpPr>
        <p:spPr>
          <a:xfrm>
            <a:off x="6903720" y="1965960"/>
            <a:ext cx="3291840" cy="201168"/>
          </a:xfrm>
          <a:prstGeom prst="rect">
            <a:avLst/>
          </a:prstGeom>
          <a:noFill/>
          <a:ln/>
        </p:spPr>
        <p:txBody>
          <a:bodyPr wrap="square" lIns="0" tIns="0" rIns="0" bIns="0" rtlCol="0" anchor="ctr"/>
          <a:lstStyle/>
          <a:p>
            <a:pPr marL="0" indent="0">
              <a:buNone/>
            </a:pPr>
            <a:r>
              <a:rPr lang="en-US" sz="1300" b="1" dirty="0">
                <a:solidFill>
                  <a:srgbClr val="152238"/>
                </a:solidFill>
              </a:rPr>
              <a:t>Example Project Bullet</a:t>
            </a:r>
            <a:endParaRPr lang="en-US" sz="1300" dirty="0"/>
          </a:p>
        </p:txBody>
      </p:sp>
      <p:sp>
        <p:nvSpPr>
          <p:cNvPr id="20" name="Text 18"/>
          <p:cNvSpPr/>
          <p:nvPr/>
        </p:nvSpPr>
        <p:spPr>
          <a:xfrm>
            <a:off x="6903720" y="2423160"/>
            <a:ext cx="3291840" cy="822960"/>
          </a:xfrm>
          <a:prstGeom prst="rect">
            <a:avLst/>
          </a:prstGeom>
          <a:noFill/>
          <a:ln/>
        </p:spPr>
        <p:txBody>
          <a:bodyPr wrap="square" lIns="0" tIns="0" rIns="0" bIns="0" rtlCol="0" anchor="ctr">
            <a:normAutofit/>
          </a:bodyPr>
          <a:lstStyle/>
          <a:p>
            <a:pPr marL="0" indent="0">
              <a:buNone/>
            </a:pPr>
            <a:r>
              <a:rPr lang="en-US" sz="1020" dirty="0">
                <a:solidFill>
                  <a:srgbClr val="111827"/>
                </a:solidFill>
              </a:rPr>
              <a:t>Built a full-stack event discovery platform using React, Express, MongoDB, and JWT to help students find and book community events; deployed live demo and documented setup in GitHub README.</a:t>
            </a:r>
            <a:endParaRPr lang="en-US" sz="1020" dirty="0"/>
          </a:p>
        </p:txBody>
      </p:sp>
      <p:sp>
        <p:nvSpPr>
          <p:cNvPr id="21" name="Text 19"/>
          <p:cNvSpPr/>
          <p:nvPr/>
        </p:nvSpPr>
        <p:spPr>
          <a:xfrm>
            <a:off x="6903720" y="3886200"/>
            <a:ext cx="3291840" cy="201168"/>
          </a:xfrm>
          <a:prstGeom prst="rect">
            <a:avLst/>
          </a:prstGeom>
          <a:noFill/>
          <a:ln/>
        </p:spPr>
        <p:txBody>
          <a:bodyPr wrap="square" lIns="0" tIns="0" rIns="0" bIns="0" rtlCol="0" anchor="ctr"/>
          <a:lstStyle/>
          <a:p>
            <a:pPr marL="0" indent="0">
              <a:buNone/>
            </a:pPr>
            <a:r>
              <a:rPr lang="en-US" sz="1050" b="1" dirty="0">
                <a:solidFill>
                  <a:srgbClr val="F59E0B"/>
                </a:solidFill>
              </a:rPr>
              <a:t>Project &gt; certificate when it proves the skill.</a:t>
            </a:r>
            <a:endParaRPr lang="en-US" sz="1050" dirty="0"/>
          </a:p>
        </p:txBody>
      </p:sp>
      <p:sp>
        <p:nvSpPr>
          <p:cNvPr id="23" name="Text 20"/>
          <p:cNvSpPr/>
          <p:nvPr/>
        </p:nvSpPr>
        <p:spPr>
          <a:xfrm>
            <a:off x="411480" y="6510528"/>
            <a:ext cx="6400800" cy="164592"/>
          </a:xfrm>
          <a:prstGeom prst="rect">
            <a:avLst/>
          </a:prstGeom>
          <a:noFill/>
          <a:ln/>
        </p:spPr>
        <p:txBody>
          <a:bodyPr wrap="square" lIns="0" tIns="0" rIns="0" bIns="0" rtlCol="0" anchor="ctr"/>
          <a:lstStyle/>
          <a:p>
            <a:pPr marL="0" indent="0">
              <a:buNone/>
            </a:pPr>
            <a:r>
              <a:rPr lang="en-US" sz="600" dirty="0">
                <a:solidFill>
                  <a:srgbClr val="7C7C7C"/>
                </a:solidFill>
                <a:latin typeface="Aptos" pitchFamily="34" charset="0"/>
                <a:ea typeface="Aptos" pitchFamily="34" charset="-122"/>
                <a:cs typeface="Aptos" pitchFamily="34" charset="-120"/>
              </a:rPr>
              <a:t>What's Next After Graduation?  |  Farah Kerbaj</a:t>
            </a:r>
            <a:endParaRPr lang="en-US" sz="600" dirty="0"/>
          </a:p>
        </p:txBody>
      </p:sp>
      <p:sp>
        <p:nvSpPr>
          <p:cNvPr id="24" name="Text 21"/>
          <p:cNvSpPr/>
          <p:nvPr/>
        </p:nvSpPr>
        <p:spPr>
          <a:xfrm>
            <a:off x="11430000" y="6473952"/>
            <a:ext cx="320040" cy="182880"/>
          </a:xfrm>
          <a:prstGeom prst="rect">
            <a:avLst/>
          </a:prstGeom>
          <a:noFill/>
          <a:ln/>
        </p:spPr>
        <p:txBody>
          <a:bodyPr wrap="square" lIns="0" tIns="0" rIns="0" bIns="0" rtlCol="0" anchor="ctr"/>
          <a:lstStyle/>
          <a:p>
            <a:pPr marL="0" indent="0" algn="r">
              <a:buNone/>
            </a:pPr>
            <a:r>
              <a:rPr lang="en-US" sz="700" dirty="0">
                <a:solidFill>
                  <a:srgbClr val="7C7C7C"/>
                </a:solidFill>
              </a:rPr>
              <a:t>18</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4F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F2"/>
          </a:solidFill>
          <a:ln w="12700">
            <a:solidFill>
              <a:srgbClr val="F7F4F2">
                <a:alpha val="0"/>
              </a:srgbClr>
            </a:solidFill>
            <a:prstDash val="solid"/>
          </a:ln>
        </p:spPr>
      </p:sp>
      <p:sp>
        <p:nvSpPr>
          <p:cNvPr id="3" name="Shape 1"/>
          <p:cNvSpPr/>
          <p:nvPr/>
        </p:nvSpPr>
        <p:spPr>
          <a:xfrm>
            <a:off x="0" y="0"/>
            <a:ext cx="12191695" cy="73152"/>
          </a:xfrm>
          <a:prstGeom prst="rect">
            <a:avLst/>
          </a:prstGeom>
          <a:solidFill>
            <a:srgbClr val="152238"/>
          </a:solidFill>
          <a:ln w="12700">
            <a:solidFill>
              <a:srgbClr val="152238"/>
            </a:solidFill>
            <a:prstDash val="solid"/>
          </a:ln>
        </p:spPr>
      </p:sp>
      <p:sp>
        <p:nvSpPr>
          <p:cNvPr id="4" name="Text 2"/>
          <p:cNvSpPr/>
          <p:nvPr/>
        </p:nvSpPr>
        <p:spPr>
          <a:xfrm>
            <a:off x="667512" y="274320"/>
            <a:ext cx="7315200" cy="201168"/>
          </a:xfrm>
          <a:prstGeom prst="rect">
            <a:avLst/>
          </a:prstGeom>
          <a:noFill/>
          <a:ln/>
        </p:spPr>
        <p:txBody>
          <a:bodyPr wrap="square" lIns="0" tIns="0" rIns="0" bIns="0" rtlCol="0" anchor="ctr"/>
          <a:lstStyle/>
          <a:p>
            <a:pPr marL="0" indent="0">
              <a:buNone/>
            </a:pPr>
            <a:r>
              <a:rPr lang="en-US" sz="750" b="1" dirty="0">
                <a:solidFill>
                  <a:srgbClr val="00A8CC"/>
                </a:solidFill>
              </a:rPr>
              <a:t>PROOF LAYER</a:t>
            </a:r>
            <a:endParaRPr lang="en-US" sz="750" dirty="0"/>
          </a:p>
        </p:txBody>
      </p:sp>
      <p:sp>
        <p:nvSpPr>
          <p:cNvPr id="5" name="Text 3"/>
          <p:cNvSpPr/>
          <p:nvPr/>
        </p:nvSpPr>
        <p:spPr>
          <a:xfrm>
            <a:off x="640080" y="502920"/>
            <a:ext cx="10881360" cy="438912"/>
          </a:xfrm>
          <a:prstGeom prst="rect">
            <a:avLst/>
          </a:prstGeom>
          <a:noFill/>
          <a:ln/>
        </p:spPr>
        <p:txBody>
          <a:bodyPr wrap="square" lIns="0" tIns="0" rIns="0" bIns="0" rtlCol="0" anchor="ctr">
            <a:normAutofit/>
          </a:bodyPr>
          <a:lstStyle/>
          <a:p>
            <a:pPr marL="0" indent="0">
              <a:buNone/>
            </a:pPr>
            <a:r>
              <a:rPr lang="en-US" sz="2500" b="1" dirty="0">
                <a:solidFill>
                  <a:srgbClr val="FFFFFF"/>
                </a:solidFill>
                <a:latin typeface="Aptos Display" pitchFamily="34" charset="0"/>
                <a:ea typeface="Aptos Display" pitchFamily="34" charset="-122"/>
                <a:cs typeface="Aptos Display" pitchFamily="34" charset="-120"/>
              </a:rPr>
              <a:t>GitHub: The Section Most Workshops Skip</a:t>
            </a:r>
            <a:endParaRPr lang="en-US" sz="2500" dirty="0"/>
          </a:p>
        </p:txBody>
      </p:sp>
      <p:sp>
        <p:nvSpPr>
          <p:cNvPr id="6" name="Text 4"/>
          <p:cNvSpPr/>
          <p:nvPr/>
        </p:nvSpPr>
        <p:spPr>
          <a:xfrm>
            <a:off x="667512" y="987552"/>
            <a:ext cx="10424160" cy="256032"/>
          </a:xfrm>
          <a:prstGeom prst="rect">
            <a:avLst/>
          </a:prstGeom>
          <a:noFill/>
          <a:ln/>
        </p:spPr>
        <p:txBody>
          <a:bodyPr wrap="square" lIns="0" tIns="0" rIns="0" bIns="0" rtlCol="0" anchor="ctr"/>
          <a:lstStyle/>
          <a:p>
            <a:pPr marL="0" indent="0">
              <a:buNone/>
            </a:pPr>
            <a:r>
              <a:rPr lang="en-US" sz="950" dirty="0">
                <a:solidFill>
                  <a:srgbClr val="C7D2FE"/>
                </a:solidFill>
              </a:rPr>
              <a:t>For tech profiles, GitHub is often the second CV</a:t>
            </a:r>
            <a:endParaRPr lang="en-US" sz="950" dirty="0"/>
          </a:p>
        </p:txBody>
      </p:sp>
      <p:sp>
        <p:nvSpPr>
          <p:cNvPr id="7" name="Shape 5"/>
          <p:cNvSpPr/>
          <p:nvPr/>
        </p:nvSpPr>
        <p:spPr>
          <a:xfrm>
            <a:off x="640080" y="1325880"/>
            <a:ext cx="10881360" cy="0"/>
          </a:xfrm>
          <a:prstGeom prst="line">
            <a:avLst/>
          </a:prstGeom>
          <a:noFill/>
          <a:ln w="12700">
            <a:solidFill>
              <a:srgbClr val="D6D3D1"/>
            </a:solidFill>
            <a:prstDash val="solid"/>
          </a:ln>
        </p:spPr>
      </p:sp>
      <p:sp>
        <p:nvSpPr>
          <p:cNvPr id="8" name="Shape 6"/>
          <p:cNvSpPr/>
          <p:nvPr/>
        </p:nvSpPr>
        <p:spPr>
          <a:xfrm>
            <a:off x="868680" y="1508760"/>
            <a:ext cx="10424160" cy="658368"/>
          </a:xfrm>
          <a:prstGeom prst="roundRect">
            <a:avLst>
              <a:gd name="adj" fmla="val 11111"/>
            </a:avLst>
          </a:prstGeom>
          <a:solidFill>
            <a:srgbClr val="FFFFFF"/>
          </a:solidFill>
          <a:ln w="12700">
            <a:solidFill>
              <a:srgbClr val="E8E2DE"/>
            </a:solidFill>
            <a:prstDash val="solid"/>
          </a:ln>
        </p:spPr>
      </p:sp>
      <p:sp>
        <p:nvSpPr>
          <p:cNvPr id="9" name="Text 7"/>
          <p:cNvSpPr/>
          <p:nvPr/>
        </p:nvSpPr>
        <p:spPr>
          <a:xfrm>
            <a:off x="1143000" y="1664208"/>
            <a:ext cx="2651760" cy="182880"/>
          </a:xfrm>
          <a:prstGeom prst="rect">
            <a:avLst/>
          </a:prstGeom>
          <a:noFill/>
          <a:ln/>
        </p:spPr>
        <p:txBody>
          <a:bodyPr wrap="square" lIns="0" tIns="0" rIns="0" bIns="0" rtlCol="0" anchor="ctr"/>
          <a:lstStyle/>
          <a:p>
            <a:pPr marL="0" indent="0">
              <a:buNone/>
            </a:pPr>
            <a:r>
              <a:rPr lang="en-US" sz="1080" b="1" dirty="0">
                <a:solidFill>
                  <a:srgbClr val="152238"/>
                </a:solidFill>
              </a:rPr>
              <a:t>Pin your best repositories</a:t>
            </a:r>
            <a:endParaRPr lang="en-US" sz="1080" dirty="0"/>
          </a:p>
        </p:txBody>
      </p:sp>
      <p:sp>
        <p:nvSpPr>
          <p:cNvPr id="10" name="Text 8"/>
          <p:cNvSpPr/>
          <p:nvPr/>
        </p:nvSpPr>
        <p:spPr>
          <a:xfrm>
            <a:off x="3794760" y="1673352"/>
            <a:ext cx="6492240" cy="182880"/>
          </a:xfrm>
          <a:prstGeom prst="rect">
            <a:avLst/>
          </a:prstGeom>
          <a:noFill/>
          <a:ln/>
        </p:spPr>
        <p:txBody>
          <a:bodyPr wrap="square" lIns="0" tIns="0" rIns="0" bIns="0" rtlCol="0" anchor="ctr">
            <a:normAutofit/>
          </a:bodyPr>
          <a:lstStyle/>
          <a:p>
            <a:pPr marL="0" indent="0">
              <a:buNone/>
            </a:pPr>
            <a:r>
              <a:rPr lang="en-US" sz="930" dirty="0">
                <a:solidFill>
                  <a:srgbClr val="5B6472"/>
                </a:solidFill>
              </a:rPr>
              <a:t>Curate — don’t dump every class assignment.</a:t>
            </a:r>
            <a:endParaRPr lang="en-US" sz="930" dirty="0"/>
          </a:p>
        </p:txBody>
      </p:sp>
      <p:sp>
        <p:nvSpPr>
          <p:cNvPr id="11" name="Shape 9"/>
          <p:cNvSpPr/>
          <p:nvPr/>
        </p:nvSpPr>
        <p:spPr>
          <a:xfrm>
            <a:off x="868680" y="2295144"/>
            <a:ext cx="10424160" cy="658368"/>
          </a:xfrm>
          <a:prstGeom prst="roundRect">
            <a:avLst>
              <a:gd name="adj" fmla="val 11111"/>
            </a:avLst>
          </a:prstGeom>
          <a:solidFill>
            <a:srgbClr val="1F2937"/>
          </a:solidFill>
          <a:ln w="12700">
            <a:solidFill>
              <a:srgbClr val="E8E2DE"/>
            </a:solidFill>
            <a:prstDash val="solid"/>
          </a:ln>
        </p:spPr>
      </p:sp>
      <p:sp>
        <p:nvSpPr>
          <p:cNvPr id="12" name="Text 10"/>
          <p:cNvSpPr/>
          <p:nvPr/>
        </p:nvSpPr>
        <p:spPr>
          <a:xfrm>
            <a:off x="1143000" y="2450592"/>
            <a:ext cx="2651760" cy="182880"/>
          </a:xfrm>
          <a:prstGeom prst="rect">
            <a:avLst/>
          </a:prstGeom>
          <a:noFill/>
          <a:ln/>
        </p:spPr>
        <p:txBody>
          <a:bodyPr wrap="square" lIns="0" tIns="0" rIns="0" bIns="0" rtlCol="0" anchor="ctr"/>
          <a:lstStyle/>
          <a:p>
            <a:pPr marL="0" indent="0">
              <a:buNone/>
            </a:pPr>
            <a:r>
              <a:rPr lang="en-US" sz="1080" b="1" dirty="0">
                <a:solidFill>
                  <a:srgbClr val="FFFFFF"/>
                </a:solidFill>
              </a:rPr>
              <a:t>Write a README that sells</a:t>
            </a:r>
            <a:endParaRPr lang="en-US" sz="1080" dirty="0"/>
          </a:p>
        </p:txBody>
      </p:sp>
      <p:sp>
        <p:nvSpPr>
          <p:cNvPr id="13" name="Text 11"/>
          <p:cNvSpPr/>
          <p:nvPr/>
        </p:nvSpPr>
        <p:spPr>
          <a:xfrm>
            <a:off x="3794760" y="2459736"/>
            <a:ext cx="6492240" cy="182880"/>
          </a:xfrm>
          <a:prstGeom prst="rect">
            <a:avLst/>
          </a:prstGeom>
          <a:noFill/>
          <a:ln/>
        </p:spPr>
        <p:txBody>
          <a:bodyPr wrap="square" lIns="0" tIns="0" rIns="0" bIns="0" rtlCol="0" anchor="ctr">
            <a:normAutofit/>
          </a:bodyPr>
          <a:lstStyle/>
          <a:p>
            <a:pPr marL="0" indent="0">
              <a:buNone/>
            </a:pPr>
            <a:r>
              <a:rPr lang="en-US" sz="930" dirty="0">
                <a:solidFill>
                  <a:srgbClr val="CBD5E1"/>
                </a:solidFill>
              </a:rPr>
              <a:t>Purpose, stack, screenshots, live demo, setup.</a:t>
            </a:r>
            <a:endParaRPr lang="en-US" sz="930" dirty="0"/>
          </a:p>
        </p:txBody>
      </p:sp>
      <p:sp>
        <p:nvSpPr>
          <p:cNvPr id="14" name="Shape 12"/>
          <p:cNvSpPr/>
          <p:nvPr/>
        </p:nvSpPr>
        <p:spPr>
          <a:xfrm>
            <a:off x="868680" y="3081528"/>
            <a:ext cx="10424160" cy="658368"/>
          </a:xfrm>
          <a:prstGeom prst="roundRect">
            <a:avLst>
              <a:gd name="adj" fmla="val 11111"/>
            </a:avLst>
          </a:prstGeom>
          <a:solidFill>
            <a:srgbClr val="FFFFFF"/>
          </a:solidFill>
          <a:ln w="12700">
            <a:solidFill>
              <a:srgbClr val="E8E2DE"/>
            </a:solidFill>
            <a:prstDash val="solid"/>
          </a:ln>
        </p:spPr>
      </p:sp>
      <p:sp>
        <p:nvSpPr>
          <p:cNvPr id="15" name="Text 13"/>
          <p:cNvSpPr/>
          <p:nvPr/>
        </p:nvSpPr>
        <p:spPr>
          <a:xfrm>
            <a:off x="1143000" y="3236976"/>
            <a:ext cx="2651760" cy="182880"/>
          </a:xfrm>
          <a:prstGeom prst="rect">
            <a:avLst/>
          </a:prstGeom>
          <a:noFill/>
          <a:ln/>
        </p:spPr>
        <p:txBody>
          <a:bodyPr wrap="square" lIns="0" tIns="0" rIns="0" bIns="0" rtlCol="0" anchor="ctr"/>
          <a:lstStyle/>
          <a:p>
            <a:pPr marL="0" indent="0">
              <a:buNone/>
            </a:pPr>
            <a:r>
              <a:rPr lang="en-US" sz="1080" b="1" dirty="0">
                <a:solidFill>
                  <a:srgbClr val="152238"/>
                </a:solidFill>
              </a:rPr>
              <a:t>Use clean commits</a:t>
            </a:r>
            <a:endParaRPr lang="en-US" sz="1080" dirty="0"/>
          </a:p>
        </p:txBody>
      </p:sp>
      <p:sp>
        <p:nvSpPr>
          <p:cNvPr id="16" name="Text 14"/>
          <p:cNvSpPr/>
          <p:nvPr/>
        </p:nvSpPr>
        <p:spPr>
          <a:xfrm>
            <a:off x="3794760" y="3246120"/>
            <a:ext cx="6492240" cy="182880"/>
          </a:xfrm>
          <a:prstGeom prst="rect">
            <a:avLst/>
          </a:prstGeom>
          <a:noFill/>
          <a:ln/>
        </p:spPr>
        <p:txBody>
          <a:bodyPr wrap="square" lIns="0" tIns="0" rIns="0" bIns="0" rtlCol="0" anchor="ctr">
            <a:normAutofit/>
          </a:bodyPr>
          <a:lstStyle/>
          <a:p>
            <a:pPr marL="0" indent="0">
              <a:buNone/>
            </a:pPr>
            <a:r>
              <a:rPr lang="en-US" sz="930" dirty="0">
                <a:solidFill>
                  <a:srgbClr val="5B6472"/>
                </a:solidFill>
              </a:rPr>
              <a:t>Commit messages show how you work.</a:t>
            </a:r>
            <a:endParaRPr lang="en-US" sz="930" dirty="0"/>
          </a:p>
        </p:txBody>
      </p:sp>
      <p:sp>
        <p:nvSpPr>
          <p:cNvPr id="17" name="Shape 15"/>
          <p:cNvSpPr/>
          <p:nvPr/>
        </p:nvSpPr>
        <p:spPr>
          <a:xfrm>
            <a:off x="868680" y="3867912"/>
            <a:ext cx="10424160" cy="658368"/>
          </a:xfrm>
          <a:prstGeom prst="roundRect">
            <a:avLst>
              <a:gd name="adj" fmla="val 11111"/>
            </a:avLst>
          </a:prstGeom>
          <a:solidFill>
            <a:srgbClr val="1F2937"/>
          </a:solidFill>
          <a:ln w="12700">
            <a:solidFill>
              <a:srgbClr val="E8E2DE"/>
            </a:solidFill>
            <a:prstDash val="solid"/>
          </a:ln>
        </p:spPr>
      </p:sp>
      <p:sp>
        <p:nvSpPr>
          <p:cNvPr id="18" name="Text 16"/>
          <p:cNvSpPr/>
          <p:nvPr/>
        </p:nvSpPr>
        <p:spPr>
          <a:xfrm>
            <a:off x="1143000" y="4023360"/>
            <a:ext cx="2651760" cy="182880"/>
          </a:xfrm>
          <a:prstGeom prst="rect">
            <a:avLst/>
          </a:prstGeom>
          <a:noFill/>
          <a:ln/>
        </p:spPr>
        <p:txBody>
          <a:bodyPr wrap="square" lIns="0" tIns="0" rIns="0" bIns="0" rtlCol="0" anchor="ctr"/>
          <a:lstStyle/>
          <a:p>
            <a:pPr marL="0" indent="0">
              <a:buNone/>
            </a:pPr>
            <a:r>
              <a:rPr lang="en-US" sz="1080" b="1" dirty="0">
                <a:solidFill>
                  <a:srgbClr val="FFFFFF"/>
                </a:solidFill>
              </a:rPr>
              <a:t>Deploy one project live</a:t>
            </a:r>
            <a:endParaRPr lang="en-US" sz="1080" dirty="0"/>
          </a:p>
        </p:txBody>
      </p:sp>
      <p:sp>
        <p:nvSpPr>
          <p:cNvPr id="19" name="Text 17"/>
          <p:cNvSpPr/>
          <p:nvPr/>
        </p:nvSpPr>
        <p:spPr>
          <a:xfrm>
            <a:off x="3794760" y="4032504"/>
            <a:ext cx="6492240" cy="182880"/>
          </a:xfrm>
          <a:prstGeom prst="rect">
            <a:avLst/>
          </a:prstGeom>
          <a:noFill/>
          <a:ln/>
        </p:spPr>
        <p:txBody>
          <a:bodyPr wrap="square" lIns="0" tIns="0" rIns="0" bIns="0" rtlCol="0" anchor="ctr">
            <a:normAutofit/>
          </a:bodyPr>
          <a:lstStyle/>
          <a:p>
            <a:pPr marL="0" indent="0">
              <a:buNone/>
            </a:pPr>
            <a:r>
              <a:rPr lang="en-US" sz="930" dirty="0">
                <a:solidFill>
                  <a:srgbClr val="CBD5E1"/>
                </a:solidFill>
              </a:rPr>
              <a:t>A working link beats a wall of code.</a:t>
            </a:r>
            <a:endParaRPr lang="en-US" sz="930" dirty="0"/>
          </a:p>
        </p:txBody>
      </p:sp>
      <p:sp>
        <p:nvSpPr>
          <p:cNvPr id="20" name="Shape 18"/>
          <p:cNvSpPr/>
          <p:nvPr/>
        </p:nvSpPr>
        <p:spPr>
          <a:xfrm>
            <a:off x="868680" y="4654296"/>
            <a:ext cx="10424160" cy="658368"/>
          </a:xfrm>
          <a:prstGeom prst="roundRect">
            <a:avLst>
              <a:gd name="adj" fmla="val 11111"/>
            </a:avLst>
          </a:prstGeom>
          <a:solidFill>
            <a:srgbClr val="FFFFFF"/>
          </a:solidFill>
          <a:ln w="12700">
            <a:solidFill>
              <a:srgbClr val="E8E2DE"/>
            </a:solidFill>
            <a:prstDash val="solid"/>
          </a:ln>
        </p:spPr>
      </p:sp>
      <p:sp>
        <p:nvSpPr>
          <p:cNvPr id="21" name="Text 19"/>
          <p:cNvSpPr/>
          <p:nvPr/>
        </p:nvSpPr>
        <p:spPr>
          <a:xfrm>
            <a:off x="1143000" y="4809744"/>
            <a:ext cx="2651760" cy="182880"/>
          </a:xfrm>
          <a:prstGeom prst="rect">
            <a:avLst/>
          </a:prstGeom>
          <a:noFill/>
          <a:ln/>
        </p:spPr>
        <p:txBody>
          <a:bodyPr wrap="square" lIns="0" tIns="0" rIns="0" bIns="0" rtlCol="0" anchor="ctr"/>
          <a:lstStyle/>
          <a:p>
            <a:pPr marL="0" indent="0">
              <a:buNone/>
            </a:pPr>
            <a:r>
              <a:rPr lang="en-US" sz="1080" b="1" dirty="0">
                <a:solidFill>
                  <a:srgbClr val="152238"/>
                </a:solidFill>
              </a:rPr>
              <a:t>Profile README</a:t>
            </a:r>
            <a:endParaRPr lang="en-US" sz="1080" dirty="0"/>
          </a:p>
        </p:txBody>
      </p:sp>
      <p:sp>
        <p:nvSpPr>
          <p:cNvPr id="22" name="Text 20"/>
          <p:cNvSpPr/>
          <p:nvPr/>
        </p:nvSpPr>
        <p:spPr>
          <a:xfrm>
            <a:off x="3794760" y="4818888"/>
            <a:ext cx="6492240" cy="182880"/>
          </a:xfrm>
          <a:prstGeom prst="rect">
            <a:avLst/>
          </a:prstGeom>
          <a:noFill/>
          <a:ln/>
        </p:spPr>
        <p:txBody>
          <a:bodyPr wrap="square" lIns="0" tIns="0" rIns="0" bIns="0" rtlCol="0" anchor="ctr">
            <a:normAutofit/>
          </a:bodyPr>
          <a:lstStyle/>
          <a:p>
            <a:pPr marL="0" indent="0">
              <a:buNone/>
            </a:pPr>
            <a:r>
              <a:rPr lang="en-US" sz="930" dirty="0">
                <a:solidFill>
                  <a:srgbClr val="5B6472"/>
                </a:solidFill>
              </a:rPr>
              <a:t>Short bio + stack + links + pinned work.</a:t>
            </a:r>
            <a:endParaRPr lang="en-US" sz="930" dirty="0"/>
          </a:p>
        </p:txBody>
      </p:sp>
      <p:sp>
        <p:nvSpPr>
          <p:cNvPr id="24" name="Text 21"/>
          <p:cNvSpPr/>
          <p:nvPr/>
        </p:nvSpPr>
        <p:spPr>
          <a:xfrm>
            <a:off x="411480" y="6510528"/>
            <a:ext cx="6400800" cy="164592"/>
          </a:xfrm>
          <a:prstGeom prst="rect">
            <a:avLst/>
          </a:prstGeom>
          <a:noFill/>
          <a:ln/>
        </p:spPr>
        <p:txBody>
          <a:bodyPr wrap="square" lIns="0" tIns="0" rIns="0" bIns="0" rtlCol="0" anchor="ctr"/>
          <a:lstStyle/>
          <a:p>
            <a:pPr marL="0" indent="0">
              <a:buNone/>
            </a:pPr>
            <a:r>
              <a:rPr lang="en-US" sz="600" dirty="0">
                <a:solidFill>
                  <a:srgbClr val="7C7C7C"/>
                </a:solidFill>
                <a:latin typeface="Aptos" pitchFamily="34" charset="0"/>
                <a:ea typeface="Aptos" pitchFamily="34" charset="-122"/>
                <a:cs typeface="Aptos" pitchFamily="34" charset="-120"/>
              </a:rPr>
              <a:t>What's Next After Graduation?  |  Farah Kerbaj</a:t>
            </a:r>
            <a:endParaRPr lang="en-US" sz="600" dirty="0"/>
          </a:p>
        </p:txBody>
      </p:sp>
      <p:sp>
        <p:nvSpPr>
          <p:cNvPr id="25" name="Text 22"/>
          <p:cNvSpPr/>
          <p:nvPr/>
        </p:nvSpPr>
        <p:spPr>
          <a:xfrm>
            <a:off x="11430000" y="6473952"/>
            <a:ext cx="320040" cy="182880"/>
          </a:xfrm>
          <a:prstGeom prst="rect">
            <a:avLst/>
          </a:prstGeom>
          <a:noFill/>
          <a:ln/>
        </p:spPr>
        <p:txBody>
          <a:bodyPr wrap="square" lIns="0" tIns="0" rIns="0" bIns="0" rtlCol="0" anchor="ctr"/>
          <a:lstStyle/>
          <a:p>
            <a:pPr marL="0" indent="0" algn="r">
              <a:buNone/>
            </a:pPr>
            <a:r>
              <a:rPr lang="en-US" sz="700" dirty="0">
                <a:solidFill>
                  <a:srgbClr val="7C7C7C"/>
                </a:solidFill>
              </a:rPr>
              <a:t>19</a:t>
            </a:r>
            <a:endParaRPr lang="en-US" sz="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4F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F2"/>
          </a:solidFill>
          <a:ln w="12700">
            <a:solidFill>
              <a:srgbClr val="F7F4F2">
                <a:alpha val="0"/>
              </a:srgbClr>
            </a:solidFill>
            <a:prstDash val="solid"/>
          </a:ln>
        </p:spPr>
      </p:sp>
      <p:sp>
        <p:nvSpPr>
          <p:cNvPr id="3" name="Shape 1"/>
          <p:cNvSpPr/>
          <p:nvPr/>
        </p:nvSpPr>
        <p:spPr>
          <a:xfrm>
            <a:off x="0" y="0"/>
            <a:ext cx="12191695" cy="73152"/>
          </a:xfrm>
          <a:prstGeom prst="rect">
            <a:avLst/>
          </a:prstGeom>
          <a:solidFill>
            <a:srgbClr val="2563EB"/>
          </a:solidFill>
          <a:ln w="12700">
            <a:solidFill>
              <a:srgbClr val="2563EB"/>
            </a:solidFill>
            <a:prstDash val="solid"/>
          </a:ln>
        </p:spPr>
      </p:sp>
      <p:sp>
        <p:nvSpPr>
          <p:cNvPr id="4" name="Text 2"/>
          <p:cNvSpPr/>
          <p:nvPr/>
        </p:nvSpPr>
        <p:spPr>
          <a:xfrm>
            <a:off x="667512" y="274320"/>
            <a:ext cx="7315200" cy="201168"/>
          </a:xfrm>
          <a:prstGeom prst="rect">
            <a:avLst/>
          </a:prstGeom>
          <a:noFill/>
          <a:ln/>
        </p:spPr>
        <p:txBody>
          <a:bodyPr wrap="square" lIns="0" tIns="0" rIns="0" bIns="0" rtlCol="0" anchor="ctr"/>
          <a:lstStyle/>
          <a:p>
            <a:pPr marL="0" indent="0">
              <a:buNone/>
            </a:pPr>
            <a:r>
              <a:rPr lang="en-US" sz="750" b="1" dirty="0">
                <a:solidFill>
                  <a:srgbClr val="2563EB"/>
                </a:solidFill>
              </a:rPr>
              <a:t>LIVE EXAMPLE</a:t>
            </a:r>
            <a:endParaRPr lang="en-US" sz="750" dirty="0"/>
          </a:p>
        </p:txBody>
      </p:sp>
      <p:sp>
        <p:nvSpPr>
          <p:cNvPr id="5" name="Text 3"/>
          <p:cNvSpPr/>
          <p:nvPr/>
        </p:nvSpPr>
        <p:spPr>
          <a:xfrm>
            <a:off x="640080" y="502920"/>
            <a:ext cx="10881360" cy="438912"/>
          </a:xfrm>
          <a:prstGeom prst="rect">
            <a:avLst/>
          </a:prstGeom>
          <a:noFill/>
          <a:ln/>
        </p:spPr>
        <p:txBody>
          <a:bodyPr wrap="square" lIns="0" tIns="0" rIns="0" bIns="0" rtlCol="0" anchor="ctr">
            <a:normAutofit/>
          </a:bodyPr>
          <a:lstStyle/>
          <a:p>
            <a:pPr marL="0" indent="0">
              <a:buNone/>
            </a:pPr>
            <a:r>
              <a:rPr lang="en-US" sz="2500" b="1" dirty="0">
                <a:solidFill>
                  <a:srgbClr val="111827"/>
                </a:solidFill>
                <a:latin typeface="Aptos Display" pitchFamily="34" charset="0"/>
                <a:ea typeface="Aptos Display" pitchFamily="34" charset="-122"/>
                <a:cs typeface="Aptos Display" pitchFamily="34" charset="-120"/>
              </a:rPr>
              <a:t>Sample Junior Tech CV</a:t>
            </a:r>
            <a:endParaRPr lang="en-US" sz="2500" dirty="0"/>
          </a:p>
        </p:txBody>
      </p:sp>
      <p:sp>
        <p:nvSpPr>
          <p:cNvPr id="6" name="Text 4"/>
          <p:cNvSpPr/>
          <p:nvPr/>
        </p:nvSpPr>
        <p:spPr>
          <a:xfrm>
            <a:off x="667512" y="987552"/>
            <a:ext cx="10424160" cy="256032"/>
          </a:xfrm>
          <a:prstGeom prst="rect">
            <a:avLst/>
          </a:prstGeom>
          <a:noFill/>
          <a:ln/>
        </p:spPr>
        <p:txBody>
          <a:bodyPr wrap="square" lIns="0" tIns="0" rIns="0" bIns="0" rtlCol="0" anchor="ctr"/>
          <a:lstStyle/>
          <a:p>
            <a:pPr marL="0" indent="0">
              <a:buNone/>
            </a:pPr>
            <a:r>
              <a:rPr lang="en-US" sz="950" dirty="0">
                <a:solidFill>
                  <a:srgbClr val="5B6472"/>
                </a:solidFill>
              </a:rPr>
              <a:t>A fake version you can show safely in the session</a:t>
            </a:r>
            <a:endParaRPr lang="en-US" sz="950" dirty="0"/>
          </a:p>
        </p:txBody>
      </p:sp>
      <p:sp>
        <p:nvSpPr>
          <p:cNvPr id="7" name="Shape 5"/>
          <p:cNvSpPr/>
          <p:nvPr/>
        </p:nvSpPr>
        <p:spPr>
          <a:xfrm>
            <a:off x="640080" y="1325880"/>
            <a:ext cx="10881360" cy="0"/>
          </a:xfrm>
          <a:prstGeom prst="line">
            <a:avLst/>
          </a:prstGeom>
          <a:noFill/>
          <a:ln w="12700">
            <a:solidFill>
              <a:srgbClr val="D6D3D1"/>
            </a:solidFill>
            <a:prstDash val="solid"/>
          </a:ln>
        </p:spPr>
      </p:sp>
      <p:sp>
        <p:nvSpPr>
          <p:cNvPr id="8" name="Shape 6"/>
          <p:cNvSpPr/>
          <p:nvPr/>
        </p:nvSpPr>
        <p:spPr>
          <a:xfrm>
            <a:off x="2148840" y="1417320"/>
            <a:ext cx="7909560" cy="4846320"/>
          </a:xfrm>
          <a:prstGeom prst="roundRect">
            <a:avLst>
              <a:gd name="adj" fmla="val 1509"/>
            </a:avLst>
          </a:prstGeom>
          <a:solidFill>
            <a:srgbClr val="FFFFFF"/>
          </a:solidFill>
          <a:ln w="12700">
            <a:solidFill>
              <a:srgbClr val="C8D1DC"/>
            </a:solidFill>
            <a:prstDash val="solid"/>
          </a:ln>
        </p:spPr>
      </p:sp>
      <p:sp>
        <p:nvSpPr>
          <p:cNvPr id="9" name="Text 7"/>
          <p:cNvSpPr/>
          <p:nvPr/>
        </p:nvSpPr>
        <p:spPr>
          <a:xfrm>
            <a:off x="2514600" y="1737360"/>
            <a:ext cx="3200400" cy="237744"/>
          </a:xfrm>
          <a:prstGeom prst="rect">
            <a:avLst/>
          </a:prstGeom>
          <a:noFill/>
          <a:ln/>
        </p:spPr>
        <p:txBody>
          <a:bodyPr wrap="square" lIns="0" tIns="0" rIns="0" bIns="0" rtlCol="0" anchor="ctr"/>
          <a:lstStyle/>
          <a:p>
            <a:pPr marL="0" indent="0">
              <a:buNone/>
            </a:pPr>
            <a:r>
              <a:rPr lang="en-US" sz="1700" b="1" dirty="0">
                <a:solidFill>
                  <a:srgbClr val="152238"/>
                </a:solidFill>
              </a:rPr>
              <a:t>LEA HADDAD</a:t>
            </a:r>
            <a:endParaRPr lang="en-US" sz="1700" dirty="0"/>
          </a:p>
        </p:txBody>
      </p:sp>
      <p:sp>
        <p:nvSpPr>
          <p:cNvPr id="10" name="Text 8"/>
          <p:cNvSpPr/>
          <p:nvPr/>
        </p:nvSpPr>
        <p:spPr>
          <a:xfrm>
            <a:off x="6583680" y="1783080"/>
            <a:ext cx="2926080" cy="201168"/>
          </a:xfrm>
          <a:prstGeom prst="rect">
            <a:avLst/>
          </a:prstGeom>
          <a:noFill/>
          <a:ln/>
        </p:spPr>
        <p:txBody>
          <a:bodyPr wrap="square" lIns="0" tIns="0" rIns="0" bIns="0" rtlCol="0" anchor="ctr"/>
          <a:lstStyle/>
          <a:p>
            <a:pPr marL="0" indent="0" algn="r">
              <a:buNone/>
            </a:pPr>
            <a:r>
              <a:rPr lang="en-US" sz="1100" b="1" dirty="0">
                <a:solidFill>
                  <a:srgbClr val="2563EB"/>
                </a:solidFill>
              </a:rPr>
              <a:t>Junior Full Stack Developer</a:t>
            </a:r>
            <a:endParaRPr lang="en-US" sz="1100" dirty="0"/>
          </a:p>
        </p:txBody>
      </p:sp>
      <p:sp>
        <p:nvSpPr>
          <p:cNvPr id="11" name="Text 9"/>
          <p:cNvSpPr/>
          <p:nvPr/>
        </p:nvSpPr>
        <p:spPr>
          <a:xfrm>
            <a:off x="2514600" y="2057400"/>
            <a:ext cx="7223760" cy="137160"/>
          </a:xfrm>
          <a:prstGeom prst="rect">
            <a:avLst/>
          </a:prstGeom>
          <a:noFill/>
          <a:ln/>
        </p:spPr>
        <p:txBody>
          <a:bodyPr wrap="square" lIns="0" tIns="0" rIns="0" bIns="0" rtlCol="0" anchor="ctr">
            <a:normAutofit/>
          </a:bodyPr>
          <a:lstStyle/>
          <a:p>
            <a:pPr marL="0" indent="0">
              <a:buNone/>
            </a:pPr>
            <a:r>
              <a:rPr lang="en-US" sz="630" dirty="0">
                <a:solidFill>
                  <a:srgbClr val="5B6472"/>
                </a:solidFill>
              </a:rPr>
              <a:t>Beirut, Lebanon | lea.haddad@email.com | linkedin.com/in/leahaddad | github.com/leahaddad | portfolio.dev</a:t>
            </a:r>
            <a:endParaRPr lang="en-US" sz="630" dirty="0"/>
          </a:p>
        </p:txBody>
      </p:sp>
      <p:sp>
        <p:nvSpPr>
          <p:cNvPr id="12" name="Shape 10"/>
          <p:cNvSpPr/>
          <p:nvPr/>
        </p:nvSpPr>
        <p:spPr>
          <a:xfrm>
            <a:off x="2514600" y="2304288"/>
            <a:ext cx="7178040" cy="0"/>
          </a:xfrm>
          <a:prstGeom prst="line">
            <a:avLst/>
          </a:prstGeom>
          <a:noFill/>
          <a:ln w="12700">
            <a:solidFill>
              <a:srgbClr val="152238"/>
            </a:solidFill>
            <a:prstDash val="solid"/>
          </a:ln>
        </p:spPr>
      </p:sp>
      <p:sp>
        <p:nvSpPr>
          <p:cNvPr id="13" name="Text 11"/>
          <p:cNvSpPr/>
          <p:nvPr/>
        </p:nvSpPr>
        <p:spPr>
          <a:xfrm>
            <a:off x="2514600" y="2487168"/>
            <a:ext cx="1097280" cy="128016"/>
          </a:xfrm>
          <a:prstGeom prst="rect">
            <a:avLst/>
          </a:prstGeom>
          <a:noFill/>
          <a:ln/>
        </p:spPr>
        <p:txBody>
          <a:bodyPr wrap="square" lIns="0" tIns="0" rIns="0" bIns="0" rtlCol="0" anchor="ctr"/>
          <a:lstStyle/>
          <a:p>
            <a:pPr marL="0" indent="0">
              <a:buNone/>
            </a:pPr>
            <a:r>
              <a:rPr lang="en-US" sz="660" b="1" dirty="0">
                <a:solidFill>
                  <a:srgbClr val="2563EB"/>
                </a:solidFill>
              </a:rPr>
              <a:t>SUMMARY</a:t>
            </a:r>
            <a:endParaRPr lang="en-US" sz="660" dirty="0"/>
          </a:p>
        </p:txBody>
      </p:sp>
      <p:sp>
        <p:nvSpPr>
          <p:cNvPr id="14" name="Text 12"/>
          <p:cNvSpPr/>
          <p:nvPr/>
        </p:nvSpPr>
        <p:spPr>
          <a:xfrm>
            <a:off x="2514600" y="2679192"/>
            <a:ext cx="7086600" cy="320040"/>
          </a:xfrm>
          <a:prstGeom prst="rect">
            <a:avLst/>
          </a:prstGeom>
          <a:noFill/>
          <a:ln/>
        </p:spPr>
        <p:txBody>
          <a:bodyPr wrap="square" lIns="0" tIns="0" rIns="0" bIns="0" rtlCol="0" anchor="ctr">
            <a:normAutofit/>
          </a:bodyPr>
          <a:lstStyle/>
          <a:p>
            <a:pPr marL="0" indent="0">
              <a:buNone/>
            </a:pPr>
            <a:r>
              <a:rPr lang="en-US" sz="720" dirty="0">
                <a:solidFill>
                  <a:srgbClr val="111827"/>
                </a:solidFill>
              </a:rPr>
              <a:t>Junior developer with hands-on experience building responsive web applications using React, Node.js, Express and PostgreSQL. Skilled in REST APIs, Git workflows and UI implementation.</a:t>
            </a:r>
            <a:endParaRPr lang="en-US" sz="720" dirty="0"/>
          </a:p>
        </p:txBody>
      </p:sp>
      <p:sp>
        <p:nvSpPr>
          <p:cNvPr id="15" name="Text 13"/>
          <p:cNvSpPr/>
          <p:nvPr/>
        </p:nvSpPr>
        <p:spPr>
          <a:xfrm>
            <a:off x="2514600" y="3063240"/>
            <a:ext cx="1097280" cy="128016"/>
          </a:xfrm>
          <a:prstGeom prst="rect">
            <a:avLst/>
          </a:prstGeom>
          <a:noFill/>
          <a:ln/>
        </p:spPr>
        <p:txBody>
          <a:bodyPr wrap="square" lIns="0" tIns="0" rIns="0" bIns="0" rtlCol="0" anchor="ctr"/>
          <a:lstStyle/>
          <a:p>
            <a:pPr marL="0" indent="0">
              <a:buNone/>
            </a:pPr>
            <a:r>
              <a:rPr lang="en-US" sz="660" b="1" dirty="0">
                <a:solidFill>
                  <a:srgbClr val="2563EB"/>
                </a:solidFill>
              </a:rPr>
              <a:t>SKILLS</a:t>
            </a:r>
            <a:endParaRPr lang="en-US" sz="660" dirty="0"/>
          </a:p>
        </p:txBody>
      </p:sp>
      <p:sp>
        <p:nvSpPr>
          <p:cNvPr id="16" name="Text 14"/>
          <p:cNvSpPr/>
          <p:nvPr/>
        </p:nvSpPr>
        <p:spPr>
          <a:xfrm>
            <a:off x="2514600" y="3255264"/>
            <a:ext cx="7086600" cy="146304"/>
          </a:xfrm>
          <a:prstGeom prst="rect">
            <a:avLst/>
          </a:prstGeom>
          <a:noFill/>
          <a:ln/>
        </p:spPr>
        <p:txBody>
          <a:bodyPr wrap="square" lIns="0" tIns="0" rIns="0" bIns="0" rtlCol="0" anchor="ctr">
            <a:normAutofit/>
          </a:bodyPr>
          <a:lstStyle/>
          <a:p>
            <a:pPr marL="0" indent="0">
              <a:buNone/>
            </a:pPr>
            <a:r>
              <a:rPr lang="en-US" sz="650" dirty="0">
                <a:solidFill>
                  <a:srgbClr val="111827"/>
                </a:solidFill>
              </a:rPr>
              <a:t>JavaScript • TypeScript • React • Node.js • Express • PostgreSQL • MongoDB • REST APIs • Git/GitHub • Tailwind CSS • Jira</a:t>
            </a:r>
            <a:endParaRPr lang="en-US" sz="650" dirty="0"/>
          </a:p>
        </p:txBody>
      </p:sp>
      <p:sp>
        <p:nvSpPr>
          <p:cNvPr id="17" name="Text 15"/>
          <p:cNvSpPr/>
          <p:nvPr/>
        </p:nvSpPr>
        <p:spPr>
          <a:xfrm>
            <a:off x="2514600" y="3593592"/>
            <a:ext cx="1463040" cy="128016"/>
          </a:xfrm>
          <a:prstGeom prst="rect">
            <a:avLst/>
          </a:prstGeom>
          <a:noFill/>
          <a:ln/>
        </p:spPr>
        <p:txBody>
          <a:bodyPr wrap="square" lIns="0" tIns="0" rIns="0" bIns="0" rtlCol="0" anchor="ctr"/>
          <a:lstStyle/>
          <a:p>
            <a:pPr marL="0" indent="0">
              <a:buNone/>
            </a:pPr>
            <a:r>
              <a:rPr lang="en-US" sz="660" b="1" dirty="0">
                <a:solidFill>
                  <a:srgbClr val="2563EB"/>
                </a:solidFill>
              </a:rPr>
              <a:t>EXPERIENCE</a:t>
            </a:r>
            <a:endParaRPr lang="en-US" sz="660" dirty="0"/>
          </a:p>
        </p:txBody>
      </p:sp>
      <p:sp>
        <p:nvSpPr>
          <p:cNvPr id="18" name="Text 16"/>
          <p:cNvSpPr/>
          <p:nvPr/>
        </p:nvSpPr>
        <p:spPr>
          <a:xfrm>
            <a:off x="2514600" y="3785616"/>
            <a:ext cx="5394960" cy="146304"/>
          </a:xfrm>
          <a:prstGeom prst="rect">
            <a:avLst/>
          </a:prstGeom>
          <a:noFill/>
          <a:ln/>
        </p:spPr>
        <p:txBody>
          <a:bodyPr wrap="square" lIns="0" tIns="0" rIns="0" bIns="0" rtlCol="0" anchor="ctr"/>
          <a:lstStyle/>
          <a:p>
            <a:pPr marL="0" indent="0">
              <a:buNone/>
            </a:pPr>
            <a:r>
              <a:rPr lang="en-US" sz="680" b="1" dirty="0">
                <a:solidFill>
                  <a:srgbClr val="111827"/>
                </a:solidFill>
              </a:rPr>
              <a:t>TechBridge Labs — Web Development Intern | Jul 2025–Aug 2025</a:t>
            </a:r>
            <a:endParaRPr lang="en-US" sz="680" dirty="0"/>
          </a:p>
        </p:txBody>
      </p:sp>
      <p:sp>
        <p:nvSpPr>
          <p:cNvPr id="19" name="Text 17"/>
          <p:cNvSpPr/>
          <p:nvPr/>
        </p:nvSpPr>
        <p:spPr>
          <a:xfrm>
            <a:off x="2697480" y="3968496"/>
            <a:ext cx="6675120" cy="438912"/>
          </a:xfrm>
          <a:prstGeom prst="rect">
            <a:avLst/>
          </a:prstGeom>
          <a:noFill/>
          <a:ln/>
        </p:spPr>
        <p:txBody>
          <a:bodyPr wrap="square" lIns="0" tIns="0" rIns="0" bIns="0" rtlCol="0" anchor="ctr">
            <a:normAutofit/>
          </a:bodyPr>
          <a:lstStyle/>
          <a:p>
            <a:pPr marL="0" indent="0">
              <a:buNone/>
            </a:pPr>
            <a:r>
              <a:rPr lang="en-US" sz="640" dirty="0">
                <a:solidFill>
                  <a:srgbClr val="111827"/>
                </a:solidFill>
              </a:rPr>
              <a:t>• Built core pages for an event platform using React and Tailwind CSS.</a:t>
            </a:r>
            <a:endParaRPr lang="en-US" sz="640" dirty="0"/>
          </a:p>
          <a:p>
            <a:pPr marL="0" indent="0">
              <a:buNone/>
            </a:pPr>
            <a:r>
              <a:rPr lang="en-US" sz="640" dirty="0">
                <a:solidFill>
                  <a:srgbClr val="111827"/>
                </a:solidFill>
              </a:rPr>
              <a:t>• Integrated REST APIs and collaborated through GitHub pull requests.</a:t>
            </a:r>
            <a:endParaRPr lang="en-US" sz="640" dirty="0"/>
          </a:p>
          <a:p>
            <a:pPr marL="0" indent="0">
              <a:buNone/>
            </a:pPr>
            <a:r>
              <a:rPr lang="en-US" sz="640" dirty="0">
                <a:solidFill>
                  <a:srgbClr val="111827"/>
                </a:solidFill>
              </a:rPr>
              <a:t>• Improved mobile responsiveness across key user flows.</a:t>
            </a:r>
            <a:endParaRPr lang="en-US" sz="640" dirty="0"/>
          </a:p>
        </p:txBody>
      </p:sp>
      <p:sp>
        <p:nvSpPr>
          <p:cNvPr id="20" name="Text 18"/>
          <p:cNvSpPr/>
          <p:nvPr/>
        </p:nvSpPr>
        <p:spPr>
          <a:xfrm>
            <a:off x="2514600" y="4544568"/>
            <a:ext cx="1371600" cy="128016"/>
          </a:xfrm>
          <a:prstGeom prst="rect">
            <a:avLst/>
          </a:prstGeom>
          <a:noFill/>
          <a:ln/>
        </p:spPr>
        <p:txBody>
          <a:bodyPr wrap="square" lIns="0" tIns="0" rIns="0" bIns="0" rtlCol="0" anchor="ctr"/>
          <a:lstStyle/>
          <a:p>
            <a:pPr marL="0" indent="0">
              <a:buNone/>
            </a:pPr>
            <a:r>
              <a:rPr lang="en-US" sz="660" b="1" dirty="0">
                <a:solidFill>
                  <a:srgbClr val="2563EB"/>
                </a:solidFill>
              </a:rPr>
              <a:t>PROJECTS</a:t>
            </a:r>
            <a:endParaRPr lang="en-US" sz="660" dirty="0"/>
          </a:p>
        </p:txBody>
      </p:sp>
      <p:sp>
        <p:nvSpPr>
          <p:cNvPr id="21" name="Text 19"/>
          <p:cNvSpPr/>
          <p:nvPr/>
        </p:nvSpPr>
        <p:spPr>
          <a:xfrm>
            <a:off x="2514600" y="4736592"/>
            <a:ext cx="6126480" cy="146304"/>
          </a:xfrm>
          <a:prstGeom prst="rect">
            <a:avLst/>
          </a:prstGeom>
          <a:noFill/>
          <a:ln/>
        </p:spPr>
        <p:txBody>
          <a:bodyPr wrap="square" lIns="0" tIns="0" rIns="0" bIns="0" rtlCol="0" anchor="ctr"/>
          <a:lstStyle/>
          <a:p>
            <a:pPr marL="0" indent="0">
              <a:buNone/>
            </a:pPr>
            <a:r>
              <a:rPr lang="en-US" sz="680" b="1" dirty="0">
                <a:solidFill>
                  <a:srgbClr val="111827"/>
                </a:solidFill>
              </a:rPr>
              <a:t>AI Tools Directory — React, TypeScript, Express, MongoDB | Live Demo | GitHub</a:t>
            </a:r>
            <a:endParaRPr lang="en-US" sz="680" dirty="0"/>
          </a:p>
        </p:txBody>
      </p:sp>
      <p:sp>
        <p:nvSpPr>
          <p:cNvPr id="22" name="Text 20"/>
          <p:cNvSpPr/>
          <p:nvPr/>
        </p:nvSpPr>
        <p:spPr>
          <a:xfrm>
            <a:off x="2697480" y="4910328"/>
            <a:ext cx="6675120" cy="329184"/>
          </a:xfrm>
          <a:prstGeom prst="rect">
            <a:avLst/>
          </a:prstGeom>
          <a:noFill/>
          <a:ln/>
        </p:spPr>
        <p:txBody>
          <a:bodyPr wrap="square" lIns="0" tIns="0" rIns="0" bIns="0" rtlCol="0" anchor="ctr">
            <a:normAutofit/>
          </a:bodyPr>
          <a:lstStyle/>
          <a:p>
            <a:pPr marL="0" indent="0">
              <a:buNone/>
            </a:pPr>
            <a:r>
              <a:rPr lang="en-US" sz="640" dirty="0">
                <a:solidFill>
                  <a:srgbClr val="111827"/>
                </a:solidFill>
              </a:rPr>
              <a:t>• Developed a full-stack platform for browsing categorized AI tools with admin management and responsive UI.</a:t>
            </a:r>
            <a:endParaRPr lang="en-US" sz="640" dirty="0"/>
          </a:p>
          <a:p>
            <a:pPr marL="0" indent="0">
              <a:buNone/>
            </a:pPr>
            <a:r>
              <a:rPr lang="en-US" sz="640" dirty="0">
                <a:solidFill>
                  <a:srgbClr val="111827"/>
                </a:solidFill>
              </a:rPr>
              <a:t>• Implemented clean reusable components and documented the setup in the README.</a:t>
            </a:r>
            <a:endParaRPr lang="en-US" sz="640" dirty="0"/>
          </a:p>
        </p:txBody>
      </p:sp>
      <p:sp>
        <p:nvSpPr>
          <p:cNvPr id="23" name="Text 21"/>
          <p:cNvSpPr/>
          <p:nvPr/>
        </p:nvSpPr>
        <p:spPr>
          <a:xfrm>
            <a:off x="2514600" y="5394960"/>
            <a:ext cx="1280160" cy="128016"/>
          </a:xfrm>
          <a:prstGeom prst="rect">
            <a:avLst/>
          </a:prstGeom>
          <a:noFill/>
          <a:ln/>
        </p:spPr>
        <p:txBody>
          <a:bodyPr wrap="square" lIns="0" tIns="0" rIns="0" bIns="0" rtlCol="0" anchor="ctr"/>
          <a:lstStyle/>
          <a:p>
            <a:pPr marL="0" indent="0">
              <a:buNone/>
            </a:pPr>
            <a:r>
              <a:rPr lang="en-US" sz="660" b="1" dirty="0">
                <a:solidFill>
                  <a:srgbClr val="2563EB"/>
                </a:solidFill>
              </a:rPr>
              <a:t>EDUCATION</a:t>
            </a:r>
            <a:endParaRPr lang="en-US" sz="660" dirty="0"/>
          </a:p>
        </p:txBody>
      </p:sp>
      <p:sp>
        <p:nvSpPr>
          <p:cNvPr id="24" name="Text 22"/>
          <p:cNvSpPr/>
          <p:nvPr/>
        </p:nvSpPr>
        <p:spPr>
          <a:xfrm>
            <a:off x="2514600" y="5559552"/>
            <a:ext cx="4389120" cy="146304"/>
          </a:xfrm>
          <a:prstGeom prst="rect">
            <a:avLst/>
          </a:prstGeom>
          <a:noFill/>
          <a:ln/>
        </p:spPr>
        <p:txBody>
          <a:bodyPr wrap="square" lIns="0" tIns="0" rIns="0" bIns="0" rtlCol="0" anchor="ctr"/>
          <a:lstStyle/>
          <a:p>
            <a:pPr marL="0" indent="0">
              <a:buNone/>
            </a:pPr>
            <a:r>
              <a:rPr lang="en-US" sz="680" dirty="0">
                <a:solidFill>
                  <a:srgbClr val="111827"/>
                </a:solidFill>
              </a:rPr>
              <a:t>B.S. Computer Science — Lebanese University | Expected 2026</a:t>
            </a:r>
            <a:endParaRPr lang="en-US" sz="680" dirty="0"/>
          </a:p>
        </p:txBody>
      </p:sp>
      <p:sp>
        <p:nvSpPr>
          <p:cNvPr id="26" name="Text 23"/>
          <p:cNvSpPr/>
          <p:nvPr/>
        </p:nvSpPr>
        <p:spPr>
          <a:xfrm>
            <a:off x="411480" y="6510528"/>
            <a:ext cx="6400800" cy="164592"/>
          </a:xfrm>
          <a:prstGeom prst="rect">
            <a:avLst/>
          </a:prstGeom>
          <a:noFill/>
          <a:ln/>
        </p:spPr>
        <p:txBody>
          <a:bodyPr wrap="square" lIns="0" tIns="0" rIns="0" bIns="0" rtlCol="0" anchor="ctr"/>
          <a:lstStyle/>
          <a:p>
            <a:pPr marL="0" indent="0">
              <a:buNone/>
            </a:pPr>
            <a:r>
              <a:rPr lang="en-US" sz="600" dirty="0">
                <a:solidFill>
                  <a:srgbClr val="7C7C7C"/>
                </a:solidFill>
                <a:latin typeface="Aptos" pitchFamily="34" charset="0"/>
                <a:ea typeface="Aptos" pitchFamily="34" charset="-122"/>
                <a:cs typeface="Aptos" pitchFamily="34" charset="-120"/>
              </a:rPr>
              <a:t>What's Next After Graduation?  |  Farah Kerbaj</a:t>
            </a:r>
            <a:endParaRPr lang="en-US" sz="600" dirty="0"/>
          </a:p>
        </p:txBody>
      </p:sp>
      <p:sp>
        <p:nvSpPr>
          <p:cNvPr id="27" name="Text 24"/>
          <p:cNvSpPr/>
          <p:nvPr/>
        </p:nvSpPr>
        <p:spPr>
          <a:xfrm>
            <a:off x="11430000" y="6473952"/>
            <a:ext cx="320040" cy="182880"/>
          </a:xfrm>
          <a:prstGeom prst="rect">
            <a:avLst/>
          </a:prstGeom>
          <a:noFill/>
          <a:ln/>
        </p:spPr>
        <p:txBody>
          <a:bodyPr wrap="square" lIns="0" tIns="0" rIns="0" bIns="0" rtlCol="0" anchor="ctr"/>
          <a:lstStyle/>
          <a:p>
            <a:pPr marL="0" indent="0" algn="r">
              <a:buNone/>
            </a:pPr>
            <a:r>
              <a:rPr lang="en-US" sz="700" dirty="0">
                <a:solidFill>
                  <a:srgbClr val="7C7C7C"/>
                </a:solidFill>
              </a:rPr>
              <a:t>20</a:t>
            </a:r>
            <a:endParaRPr lang="en-US" sz="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4F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F2"/>
          </a:solidFill>
          <a:ln w="12700">
            <a:solidFill>
              <a:srgbClr val="F7F4F2">
                <a:alpha val="0"/>
              </a:srgbClr>
            </a:solidFill>
            <a:prstDash val="solid"/>
          </a:ln>
        </p:spPr>
      </p:sp>
      <p:sp>
        <p:nvSpPr>
          <p:cNvPr id="3" name="Shape 1"/>
          <p:cNvSpPr/>
          <p:nvPr/>
        </p:nvSpPr>
        <p:spPr>
          <a:xfrm>
            <a:off x="0" y="0"/>
            <a:ext cx="12191695" cy="73152"/>
          </a:xfrm>
          <a:prstGeom prst="rect">
            <a:avLst/>
          </a:prstGeom>
          <a:solidFill>
            <a:srgbClr val="FF6B4A"/>
          </a:solidFill>
          <a:ln w="12700">
            <a:solidFill>
              <a:srgbClr val="FF6B4A"/>
            </a:solidFill>
            <a:prstDash val="solid"/>
          </a:ln>
        </p:spPr>
      </p:sp>
      <p:sp>
        <p:nvSpPr>
          <p:cNvPr id="4" name="Text 2"/>
          <p:cNvSpPr/>
          <p:nvPr/>
        </p:nvSpPr>
        <p:spPr>
          <a:xfrm>
            <a:off x="667512" y="274320"/>
            <a:ext cx="7315200" cy="201168"/>
          </a:xfrm>
          <a:prstGeom prst="rect">
            <a:avLst/>
          </a:prstGeom>
          <a:noFill/>
          <a:ln/>
        </p:spPr>
        <p:txBody>
          <a:bodyPr wrap="square" lIns="0" tIns="0" rIns="0" bIns="0" rtlCol="0" anchor="ctr"/>
          <a:lstStyle/>
          <a:p>
            <a:pPr marL="0" indent="0">
              <a:buNone/>
            </a:pPr>
            <a:r>
              <a:rPr lang="en-US" sz="750" b="1" dirty="0">
                <a:solidFill>
                  <a:srgbClr val="FF6B4A"/>
                </a:solidFill>
              </a:rPr>
              <a:t>CV BULLET MAKEOVER</a:t>
            </a:r>
            <a:endParaRPr lang="en-US" sz="750" dirty="0"/>
          </a:p>
        </p:txBody>
      </p:sp>
      <p:sp>
        <p:nvSpPr>
          <p:cNvPr id="5" name="Text 3"/>
          <p:cNvSpPr/>
          <p:nvPr/>
        </p:nvSpPr>
        <p:spPr>
          <a:xfrm>
            <a:off x="640080" y="502920"/>
            <a:ext cx="10881360" cy="438912"/>
          </a:xfrm>
          <a:prstGeom prst="rect">
            <a:avLst/>
          </a:prstGeom>
          <a:noFill/>
          <a:ln/>
        </p:spPr>
        <p:txBody>
          <a:bodyPr wrap="square" lIns="0" tIns="0" rIns="0" bIns="0" rtlCol="0" anchor="ctr">
            <a:normAutofit/>
          </a:bodyPr>
          <a:lstStyle/>
          <a:p>
            <a:pPr marL="0" indent="0">
              <a:buNone/>
            </a:pPr>
            <a:r>
              <a:rPr lang="en-US" sz="2500" b="1" dirty="0">
                <a:solidFill>
                  <a:srgbClr val="111827"/>
                </a:solidFill>
                <a:latin typeface="Aptos Display" pitchFamily="34" charset="0"/>
                <a:ea typeface="Aptos Display" pitchFamily="34" charset="-122"/>
                <a:cs typeface="Aptos Display" pitchFamily="34" charset="-120"/>
              </a:rPr>
              <a:t>Turn Duties Into Accomplishments</a:t>
            </a:r>
            <a:endParaRPr lang="en-US" sz="2500" dirty="0"/>
          </a:p>
        </p:txBody>
      </p:sp>
      <p:sp>
        <p:nvSpPr>
          <p:cNvPr id="6" name="Text 4"/>
          <p:cNvSpPr/>
          <p:nvPr/>
        </p:nvSpPr>
        <p:spPr>
          <a:xfrm>
            <a:off x="667512" y="987552"/>
            <a:ext cx="10424160" cy="256032"/>
          </a:xfrm>
          <a:prstGeom prst="rect">
            <a:avLst/>
          </a:prstGeom>
          <a:noFill/>
          <a:ln/>
        </p:spPr>
        <p:txBody>
          <a:bodyPr wrap="square" lIns="0" tIns="0" rIns="0" bIns="0" rtlCol="0" anchor="ctr"/>
          <a:lstStyle/>
          <a:p>
            <a:pPr marL="0" indent="0">
              <a:buNone/>
            </a:pPr>
            <a:r>
              <a:rPr lang="en-US" sz="950" dirty="0">
                <a:solidFill>
                  <a:srgbClr val="5B6472"/>
                </a:solidFill>
              </a:rPr>
              <a:t>Recruiters want results, not laundry lists</a:t>
            </a:r>
            <a:endParaRPr lang="en-US" sz="950" dirty="0"/>
          </a:p>
        </p:txBody>
      </p:sp>
      <p:sp>
        <p:nvSpPr>
          <p:cNvPr id="7" name="Shape 5"/>
          <p:cNvSpPr/>
          <p:nvPr/>
        </p:nvSpPr>
        <p:spPr>
          <a:xfrm>
            <a:off x="640080" y="1325880"/>
            <a:ext cx="10881360" cy="0"/>
          </a:xfrm>
          <a:prstGeom prst="line">
            <a:avLst/>
          </a:prstGeom>
          <a:noFill/>
          <a:ln w="12700">
            <a:solidFill>
              <a:srgbClr val="D6D3D1"/>
            </a:solidFill>
            <a:prstDash val="solid"/>
          </a:ln>
        </p:spPr>
      </p:sp>
      <p:sp>
        <p:nvSpPr>
          <p:cNvPr id="8" name="Shape 6"/>
          <p:cNvSpPr/>
          <p:nvPr/>
        </p:nvSpPr>
        <p:spPr>
          <a:xfrm>
            <a:off x="868680" y="1508760"/>
            <a:ext cx="10424160" cy="914400"/>
          </a:xfrm>
          <a:prstGeom prst="roundRect">
            <a:avLst>
              <a:gd name="adj" fmla="val 8000"/>
            </a:avLst>
          </a:prstGeom>
          <a:solidFill>
            <a:srgbClr val="FEE2E2"/>
          </a:solidFill>
          <a:ln w="12700">
            <a:solidFill>
              <a:srgbClr val="E8E2DE"/>
            </a:solidFill>
            <a:prstDash val="solid"/>
          </a:ln>
        </p:spPr>
      </p:sp>
      <p:sp>
        <p:nvSpPr>
          <p:cNvPr id="9" name="Text 7"/>
          <p:cNvSpPr/>
          <p:nvPr/>
        </p:nvSpPr>
        <p:spPr>
          <a:xfrm>
            <a:off x="1097280" y="1645920"/>
            <a:ext cx="685800" cy="182880"/>
          </a:xfrm>
          <a:prstGeom prst="rect">
            <a:avLst/>
          </a:prstGeom>
          <a:noFill/>
          <a:ln/>
        </p:spPr>
        <p:txBody>
          <a:bodyPr wrap="square" lIns="0" tIns="0" rIns="0" bIns="0" rtlCol="0" anchor="ctr"/>
          <a:lstStyle/>
          <a:p>
            <a:pPr marL="0" indent="0">
              <a:buNone/>
            </a:pPr>
            <a:r>
              <a:rPr lang="en-US" sz="950" b="1" dirty="0">
                <a:solidFill>
                  <a:srgbClr val="FF6B4A"/>
                </a:solidFill>
              </a:rPr>
              <a:t>Weak</a:t>
            </a:r>
            <a:endParaRPr lang="en-US" sz="950" dirty="0"/>
          </a:p>
        </p:txBody>
      </p:sp>
      <p:sp>
        <p:nvSpPr>
          <p:cNvPr id="10" name="Text 8"/>
          <p:cNvSpPr/>
          <p:nvPr/>
        </p:nvSpPr>
        <p:spPr>
          <a:xfrm>
            <a:off x="2148840" y="1627632"/>
            <a:ext cx="2743200" cy="274320"/>
          </a:xfrm>
          <a:prstGeom prst="rect">
            <a:avLst/>
          </a:prstGeom>
          <a:noFill/>
          <a:ln/>
        </p:spPr>
        <p:txBody>
          <a:bodyPr wrap="square" lIns="0" tIns="0" rIns="0" bIns="0" rtlCol="0" anchor="ctr">
            <a:normAutofit/>
          </a:bodyPr>
          <a:lstStyle/>
          <a:p>
            <a:pPr marL="0" indent="0">
              <a:buNone/>
            </a:pPr>
            <a:r>
              <a:rPr lang="en-US" sz="870" dirty="0">
                <a:solidFill>
                  <a:srgbClr val="5B6472"/>
                </a:solidFill>
              </a:rPr>
              <a:t>Responsible for building a website.</a:t>
            </a:r>
            <a:endParaRPr lang="en-US" sz="870" dirty="0"/>
          </a:p>
        </p:txBody>
      </p:sp>
      <p:sp>
        <p:nvSpPr>
          <p:cNvPr id="11" name="Text 9"/>
          <p:cNvSpPr/>
          <p:nvPr/>
        </p:nvSpPr>
        <p:spPr>
          <a:xfrm>
            <a:off x="5166360" y="1737360"/>
            <a:ext cx="274320" cy="182880"/>
          </a:xfrm>
          <a:prstGeom prst="rect">
            <a:avLst/>
          </a:prstGeom>
          <a:noFill/>
          <a:ln/>
        </p:spPr>
        <p:txBody>
          <a:bodyPr wrap="square" lIns="0" tIns="0" rIns="0" bIns="0" rtlCol="0" anchor="ctr"/>
          <a:lstStyle/>
          <a:p>
            <a:pPr marL="0" indent="0">
              <a:buNone/>
            </a:pPr>
            <a:r>
              <a:rPr lang="en-US" sz="1500" b="1" dirty="0">
                <a:solidFill>
                  <a:srgbClr val="FF6B4A"/>
                </a:solidFill>
              </a:rPr>
              <a:t>→</a:t>
            </a:r>
            <a:endParaRPr lang="en-US" sz="1500" dirty="0"/>
          </a:p>
        </p:txBody>
      </p:sp>
      <p:sp>
        <p:nvSpPr>
          <p:cNvPr id="12" name="Text 10"/>
          <p:cNvSpPr/>
          <p:nvPr/>
        </p:nvSpPr>
        <p:spPr>
          <a:xfrm>
            <a:off x="5623560" y="1618488"/>
            <a:ext cx="5120640" cy="384048"/>
          </a:xfrm>
          <a:prstGeom prst="rect">
            <a:avLst/>
          </a:prstGeom>
          <a:noFill/>
          <a:ln/>
        </p:spPr>
        <p:txBody>
          <a:bodyPr wrap="square" lIns="0" tIns="0" rIns="0" bIns="0" rtlCol="0" anchor="ctr">
            <a:normAutofit/>
          </a:bodyPr>
          <a:lstStyle/>
          <a:p>
            <a:pPr marL="0" indent="0">
              <a:buNone/>
            </a:pPr>
            <a:r>
              <a:rPr lang="en-US" sz="860" dirty="0">
                <a:solidFill>
                  <a:srgbClr val="111827"/>
                </a:solidFill>
              </a:rPr>
              <a:t>Built and deployed a responsive club website using React and Tailwind CSS, helping 70+ students access events, resources, and updates.</a:t>
            </a:r>
            <a:endParaRPr lang="en-US" sz="860" dirty="0"/>
          </a:p>
        </p:txBody>
      </p:sp>
      <p:sp>
        <p:nvSpPr>
          <p:cNvPr id="13" name="Shape 11"/>
          <p:cNvSpPr/>
          <p:nvPr/>
        </p:nvSpPr>
        <p:spPr>
          <a:xfrm>
            <a:off x="868680" y="2569464"/>
            <a:ext cx="10424160" cy="914400"/>
          </a:xfrm>
          <a:prstGeom prst="roundRect">
            <a:avLst>
              <a:gd name="adj" fmla="val 8000"/>
            </a:avLst>
          </a:prstGeom>
          <a:solidFill>
            <a:srgbClr val="FFFFFF"/>
          </a:solidFill>
          <a:ln w="12700">
            <a:solidFill>
              <a:srgbClr val="E8E2DE"/>
            </a:solidFill>
            <a:prstDash val="solid"/>
          </a:ln>
        </p:spPr>
      </p:sp>
      <p:sp>
        <p:nvSpPr>
          <p:cNvPr id="14" name="Text 12"/>
          <p:cNvSpPr/>
          <p:nvPr/>
        </p:nvSpPr>
        <p:spPr>
          <a:xfrm>
            <a:off x="1097280" y="2706624"/>
            <a:ext cx="685800" cy="182880"/>
          </a:xfrm>
          <a:prstGeom prst="rect">
            <a:avLst/>
          </a:prstGeom>
          <a:noFill/>
          <a:ln/>
        </p:spPr>
        <p:txBody>
          <a:bodyPr wrap="square" lIns="0" tIns="0" rIns="0" bIns="0" rtlCol="0" anchor="ctr"/>
          <a:lstStyle/>
          <a:p>
            <a:pPr marL="0" indent="0">
              <a:buNone/>
            </a:pPr>
            <a:r>
              <a:rPr lang="en-US" sz="950" b="1" dirty="0">
                <a:solidFill>
                  <a:srgbClr val="FF6B4A"/>
                </a:solidFill>
              </a:rPr>
              <a:t>Weak</a:t>
            </a:r>
            <a:endParaRPr lang="en-US" sz="950" dirty="0"/>
          </a:p>
        </p:txBody>
      </p:sp>
      <p:sp>
        <p:nvSpPr>
          <p:cNvPr id="15" name="Text 13"/>
          <p:cNvSpPr/>
          <p:nvPr/>
        </p:nvSpPr>
        <p:spPr>
          <a:xfrm>
            <a:off x="2148840" y="2688336"/>
            <a:ext cx="2743200" cy="274320"/>
          </a:xfrm>
          <a:prstGeom prst="rect">
            <a:avLst/>
          </a:prstGeom>
          <a:noFill/>
          <a:ln/>
        </p:spPr>
        <p:txBody>
          <a:bodyPr wrap="square" lIns="0" tIns="0" rIns="0" bIns="0" rtlCol="0" anchor="ctr">
            <a:normAutofit/>
          </a:bodyPr>
          <a:lstStyle/>
          <a:p>
            <a:pPr marL="0" indent="0">
              <a:buNone/>
            </a:pPr>
            <a:r>
              <a:rPr lang="en-US" sz="870" dirty="0">
                <a:solidFill>
                  <a:srgbClr val="5B6472"/>
                </a:solidFill>
              </a:rPr>
              <a:t>Worked on backend APIs.</a:t>
            </a:r>
            <a:endParaRPr lang="en-US" sz="870" dirty="0"/>
          </a:p>
        </p:txBody>
      </p:sp>
      <p:sp>
        <p:nvSpPr>
          <p:cNvPr id="16" name="Text 14"/>
          <p:cNvSpPr/>
          <p:nvPr/>
        </p:nvSpPr>
        <p:spPr>
          <a:xfrm>
            <a:off x="5166360" y="2798064"/>
            <a:ext cx="274320" cy="182880"/>
          </a:xfrm>
          <a:prstGeom prst="rect">
            <a:avLst/>
          </a:prstGeom>
          <a:noFill/>
          <a:ln/>
        </p:spPr>
        <p:txBody>
          <a:bodyPr wrap="square" lIns="0" tIns="0" rIns="0" bIns="0" rtlCol="0" anchor="ctr"/>
          <a:lstStyle/>
          <a:p>
            <a:pPr marL="0" indent="0">
              <a:buNone/>
            </a:pPr>
            <a:r>
              <a:rPr lang="en-US" sz="1500" b="1" dirty="0">
                <a:solidFill>
                  <a:srgbClr val="FF6B4A"/>
                </a:solidFill>
              </a:rPr>
              <a:t>→</a:t>
            </a:r>
            <a:endParaRPr lang="en-US" sz="1500" dirty="0"/>
          </a:p>
        </p:txBody>
      </p:sp>
      <p:sp>
        <p:nvSpPr>
          <p:cNvPr id="17" name="Text 15"/>
          <p:cNvSpPr/>
          <p:nvPr/>
        </p:nvSpPr>
        <p:spPr>
          <a:xfrm>
            <a:off x="5623560" y="2679192"/>
            <a:ext cx="5120640" cy="384048"/>
          </a:xfrm>
          <a:prstGeom prst="rect">
            <a:avLst/>
          </a:prstGeom>
          <a:noFill/>
          <a:ln/>
        </p:spPr>
        <p:txBody>
          <a:bodyPr wrap="square" lIns="0" tIns="0" rIns="0" bIns="0" rtlCol="0" anchor="ctr">
            <a:normAutofit/>
          </a:bodyPr>
          <a:lstStyle/>
          <a:p>
            <a:pPr marL="0" indent="0">
              <a:buNone/>
            </a:pPr>
            <a:r>
              <a:rPr lang="en-US" sz="860" dirty="0">
                <a:solidFill>
                  <a:srgbClr val="111827"/>
                </a:solidFill>
              </a:rPr>
              <a:t>Developed REST API endpoints in Express.js and MongoDB to support user authentication, content management, and admin workflows.</a:t>
            </a:r>
            <a:endParaRPr lang="en-US" sz="860" dirty="0"/>
          </a:p>
        </p:txBody>
      </p:sp>
      <p:sp>
        <p:nvSpPr>
          <p:cNvPr id="18" name="Shape 16"/>
          <p:cNvSpPr/>
          <p:nvPr/>
        </p:nvSpPr>
        <p:spPr>
          <a:xfrm>
            <a:off x="868680" y="3630168"/>
            <a:ext cx="10424160" cy="914400"/>
          </a:xfrm>
          <a:prstGeom prst="roundRect">
            <a:avLst>
              <a:gd name="adj" fmla="val 8000"/>
            </a:avLst>
          </a:prstGeom>
          <a:solidFill>
            <a:srgbClr val="FEE2E2"/>
          </a:solidFill>
          <a:ln w="12700">
            <a:solidFill>
              <a:srgbClr val="E8E2DE"/>
            </a:solidFill>
            <a:prstDash val="solid"/>
          </a:ln>
        </p:spPr>
      </p:sp>
      <p:sp>
        <p:nvSpPr>
          <p:cNvPr id="19" name="Text 17"/>
          <p:cNvSpPr/>
          <p:nvPr/>
        </p:nvSpPr>
        <p:spPr>
          <a:xfrm>
            <a:off x="1097280" y="3767328"/>
            <a:ext cx="685800" cy="182880"/>
          </a:xfrm>
          <a:prstGeom prst="rect">
            <a:avLst/>
          </a:prstGeom>
          <a:noFill/>
          <a:ln/>
        </p:spPr>
        <p:txBody>
          <a:bodyPr wrap="square" lIns="0" tIns="0" rIns="0" bIns="0" rtlCol="0" anchor="ctr"/>
          <a:lstStyle/>
          <a:p>
            <a:pPr marL="0" indent="0">
              <a:buNone/>
            </a:pPr>
            <a:r>
              <a:rPr lang="en-US" sz="950" b="1" dirty="0">
                <a:solidFill>
                  <a:srgbClr val="FF6B4A"/>
                </a:solidFill>
              </a:rPr>
              <a:t>Weak</a:t>
            </a:r>
            <a:endParaRPr lang="en-US" sz="950" dirty="0"/>
          </a:p>
        </p:txBody>
      </p:sp>
      <p:sp>
        <p:nvSpPr>
          <p:cNvPr id="20" name="Text 18"/>
          <p:cNvSpPr/>
          <p:nvPr/>
        </p:nvSpPr>
        <p:spPr>
          <a:xfrm>
            <a:off x="2148840" y="3749040"/>
            <a:ext cx="2743200" cy="274320"/>
          </a:xfrm>
          <a:prstGeom prst="rect">
            <a:avLst/>
          </a:prstGeom>
          <a:noFill/>
          <a:ln/>
        </p:spPr>
        <p:txBody>
          <a:bodyPr wrap="square" lIns="0" tIns="0" rIns="0" bIns="0" rtlCol="0" anchor="ctr">
            <a:normAutofit/>
          </a:bodyPr>
          <a:lstStyle/>
          <a:p>
            <a:pPr marL="0" indent="0">
              <a:buNone/>
            </a:pPr>
            <a:r>
              <a:rPr lang="en-US" sz="870" dirty="0">
                <a:solidFill>
                  <a:srgbClr val="5B6472"/>
                </a:solidFill>
              </a:rPr>
              <a:t>Used AI tools.</a:t>
            </a:r>
            <a:endParaRPr lang="en-US" sz="870" dirty="0"/>
          </a:p>
        </p:txBody>
      </p:sp>
      <p:sp>
        <p:nvSpPr>
          <p:cNvPr id="21" name="Text 19"/>
          <p:cNvSpPr/>
          <p:nvPr/>
        </p:nvSpPr>
        <p:spPr>
          <a:xfrm>
            <a:off x="5166360" y="3858768"/>
            <a:ext cx="274320" cy="182880"/>
          </a:xfrm>
          <a:prstGeom prst="rect">
            <a:avLst/>
          </a:prstGeom>
          <a:noFill/>
          <a:ln/>
        </p:spPr>
        <p:txBody>
          <a:bodyPr wrap="square" lIns="0" tIns="0" rIns="0" bIns="0" rtlCol="0" anchor="ctr"/>
          <a:lstStyle/>
          <a:p>
            <a:pPr marL="0" indent="0">
              <a:buNone/>
            </a:pPr>
            <a:r>
              <a:rPr lang="en-US" sz="1500" b="1" dirty="0">
                <a:solidFill>
                  <a:srgbClr val="FF6B4A"/>
                </a:solidFill>
              </a:rPr>
              <a:t>→</a:t>
            </a:r>
            <a:endParaRPr lang="en-US" sz="1500" dirty="0"/>
          </a:p>
        </p:txBody>
      </p:sp>
      <p:sp>
        <p:nvSpPr>
          <p:cNvPr id="22" name="Text 20"/>
          <p:cNvSpPr/>
          <p:nvPr/>
        </p:nvSpPr>
        <p:spPr>
          <a:xfrm>
            <a:off x="5623560" y="3739896"/>
            <a:ext cx="5120640" cy="384048"/>
          </a:xfrm>
          <a:prstGeom prst="rect">
            <a:avLst/>
          </a:prstGeom>
          <a:noFill/>
          <a:ln/>
        </p:spPr>
        <p:txBody>
          <a:bodyPr wrap="square" lIns="0" tIns="0" rIns="0" bIns="0" rtlCol="0" anchor="ctr">
            <a:normAutofit/>
          </a:bodyPr>
          <a:lstStyle/>
          <a:p>
            <a:pPr marL="0" indent="0">
              <a:buNone/>
            </a:pPr>
            <a:r>
              <a:rPr lang="en-US" sz="860" dirty="0">
                <a:solidFill>
                  <a:srgbClr val="111827"/>
                </a:solidFill>
              </a:rPr>
              <a:t>Applied AI tools to debug errors, generate test cases, and improve development productivity while validating all outputs manually.</a:t>
            </a:r>
            <a:endParaRPr lang="en-US" sz="860" dirty="0"/>
          </a:p>
        </p:txBody>
      </p:sp>
      <p:sp>
        <p:nvSpPr>
          <p:cNvPr id="23" name="Text 21"/>
          <p:cNvSpPr/>
          <p:nvPr/>
        </p:nvSpPr>
        <p:spPr>
          <a:xfrm>
            <a:off x="1005840" y="5257800"/>
            <a:ext cx="10149840" cy="274320"/>
          </a:xfrm>
          <a:prstGeom prst="rect">
            <a:avLst/>
          </a:prstGeom>
          <a:noFill/>
          <a:ln/>
        </p:spPr>
        <p:txBody>
          <a:bodyPr wrap="square" lIns="0" tIns="0" rIns="0" bIns="0" rtlCol="0" anchor="ctr"/>
          <a:lstStyle/>
          <a:p>
            <a:pPr marL="0" indent="0" algn="ctr">
              <a:buNone/>
            </a:pPr>
            <a:r>
              <a:rPr lang="en-US" sz="1600" b="1" dirty="0">
                <a:solidFill>
                  <a:srgbClr val="FF6B4A"/>
                </a:solidFill>
              </a:rPr>
              <a:t>Formula: Action + What + How + Result / Proof</a:t>
            </a:r>
            <a:endParaRPr lang="en-US" sz="1600" dirty="0"/>
          </a:p>
        </p:txBody>
      </p:sp>
      <p:sp>
        <p:nvSpPr>
          <p:cNvPr id="25" name="Text 22"/>
          <p:cNvSpPr/>
          <p:nvPr/>
        </p:nvSpPr>
        <p:spPr>
          <a:xfrm>
            <a:off x="411480" y="6510528"/>
            <a:ext cx="6400800" cy="164592"/>
          </a:xfrm>
          <a:prstGeom prst="rect">
            <a:avLst/>
          </a:prstGeom>
          <a:noFill/>
          <a:ln/>
        </p:spPr>
        <p:txBody>
          <a:bodyPr wrap="square" lIns="0" tIns="0" rIns="0" bIns="0" rtlCol="0" anchor="ctr"/>
          <a:lstStyle/>
          <a:p>
            <a:pPr marL="0" indent="0">
              <a:buNone/>
            </a:pPr>
            <a:r>
              <a:rPr lang="en-US" sz="600" dirty="0">
                <a:solidFill>
                  <a:srgbClr val="7C7C7C"/>
                </a:solidFill>
                <a:latin typeface="Aptos" pitchFamily="34" charset="0"/>
                <a:ea typeface="Aptos" pitchFamily="34" charset="-122"/>
                <a:cs typeface="Aptos" pitchFamily="34" charset="-120"/>
              </a:rPr>
              <a:t>What's Next After Graduation?  |  Farah Kerbaj</a:t>
            </a:r>
            <a:endParaRPr lang="en-US" sz="600" dirty="0"/>
          </a:p>
        </p:txBody>
      </p:sp>
      <p:sp>
        <p:nvSpPr>
          <p:cNvPr id="26" name="Text 23"/>
          <p:cNvSpPr/>
          <p:nvPr/>
        </p:nvSpPr>
        <p:spPr>
          <a:xfrm>
            <a:off x="11430000" y="6473952"/>
            <a:ext cx="320040" cy="182880"/>
          </a:xfrm>
          <a:prstGeom prst="rect">
            <a:avLst/>
          </a:prstGeom>
          <a:noFill/>
          <a:ln/>
        </p:spPr>
        <p:txBody>
          <a:bodyPr wrap="square" lIns="0" tIns="0" rIns="0" bIns="0" rtlCol="0" anchor="ctr"/>
          <a:lstStyle/>
          <a:p>
            <a:pPr marL="0" indent="0" algn="r">
              <a:buNone/>
            </a:pPr>
            <a:r>
              <a:rPr lang="en-US" sz="700" dirty="0">
                <a:solidFill>
                  <a:srgbClr val="7C7C7C"/>
                </a:solidFill>
              </a:rPr>
              <a:t>21</a:t>
            </a:r>
            <a:endParaRPr lang="en-US" sz="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4F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F2"/>
          </a:solidFill>
          <a:ln w="12700">
            <a:solidFill>
              <a:srgbClr val="F7F4F2">
                <a:alpha val="0"/>
              </a:srgbClr>
            </a:solidFill>
            <a:prstDash val="solid"/>
          </a:ln>
        </p:spPr>
      </p:sp>
      <p:sp>
        <p:nvSpPr>
          <p:cNvPr id="3" name="Shape 1"/>
          <p:cNvSpPr/>
          <p:nvPr/>
        </p:nvSpPr>
        <p:spPr>
          <a:xfrm>
            <a:off x="0" y="0"/>
            <a:ext cx="12191695" cy="73152"/>
          </a:xfrm>
          <a:prstGeom prst="rect">
            <a:avLst/>
          </a:prstGeom>
          <a:solidFill>
            <a:srgbClr val="F59E0B"/>
          </a:solidFill>
          <a:ln w="12700">
            <a:solidFill>
              <a:srgbClr val="F59E0B"/>
            </a:solidFill>
            <a:prstDash val="solid"/>
          </a:ln>
        </p:spPr>
      </p:sp>
      <p:sp>
        <p:nvSpPr>
          <p:cNvPr id="4" name="Text 2"/>
          <p:cNvSpPr/>
          <p:nvPr/>
        </p:nvSpPr>
        <p:spPr>
          <a:xfrm>
            <a:off x="667512" y="274320"/>
            <a:ext cx="7315200" cy="201168"/>
          </a:xfrm>
          <a:prstGeom prst="rect">
            <a:avLst/>
          </a:prstGeom>
          <a:noFill/>
          <a:ln/>
        </p:spPr>
        <p:txBody>
          <a:bodyPr wrap="square" lIns="0" tIns="0" rIns="0" bIns="0" rtlCol="0" anchor="ctr"/>
          <a:lstStyle/>
          <a:p>
            <a:pPr marL="0" indent="0">
              <a:buNone/>
            </a:pPr>
            <a:r>
              <a:rPr lang="en-US" sz="750" b="1" dirty="0">
                <a:solidFill>
                  <a:srgbClr val="F59E0B"/>
                </a:solidFill>
              </a:rPr>
              <a:t>CV REJECTION FACTORS</a:t>
            </a:r>
            <a:endParaRPr lang="en-US" sz="750" dirty="0"/>
          </a:p>
        </p:txBody>
      </p:sp>
      <p:sp>
        <p:nvSpPr>
          <p:cNvPr id="5" name="Text 3"/>
          <p:cNvSpPr/>
          <p:nvPr/>
        </p:nvSpPr>
        <p:spPr>
          <a:xfrm>
            <a:off x="640080" y="502920"/>
            <a:ext cx="10881360" cy="438912"/>
          </a:xfrm>
          <a:prstGeom prst="rect">
            <a:avLst/>
          </a:prstGeom>
          <a:noFill/>
          <a:ln/>
        </p:spPr>
        <p:txBody>
          <a:bodyPr wrap="square" lIns="0" tIns="0" rIns="0" bIns="0" rtlCol="0" anchor="ctr">
            <a:normAutofit/>
          </a:bodyPr>
          <a:lstStyle/>
          <a:p>
            <a:pPr marL="0" indent="0">
              <a:buNone/>
            </a:pPr>
            <a:r>
              <a:rPr lang="en-US" sz="2500" b="1" dirty="0">
                <a:solidFill>
                  <a:srgbClr val="111827"/>
                </a:solidFill>
                <a:latin typeface="Aptos Display" pitchFamily="34" charset="0"/>
                <a:ea typeface="Aptos Display" pitchFamily="34" charset="-122"/>
                <a:cs typeface="Aptos Display" pitchFamily="34" charset="-120"/>
              </a:rPr>
              <a:t>Common CV Mistakes That Quietly Eliminate You</a:t>
            </a:r>
            <a:endParaRPr lang="en-US" sz="2500" dirty="0"/>
          </a:p>
        </p:txBody>
      </p:sp>
      <p:sp>
        <p:nvSpPr>
          <p:cNvPr id="6" name="Text 4"/>
          <p:cNvSpPr/>
          <p:nvPr/>
        </p:nvSpPr>
        <p:spPr>
          <a:xfrm>
            <a:off x="667512" y="987552"/>
            <a:ext cx="10424160" cy="256032"/>
          </a:xfrm>
          <a:prstGeom prst="rect">
            <a:avLst/>
          </a:prstGeom>
          <a:noFill/>
          <a:ln/>
        </p:spPr>
        <p:txBody>
          <a:bodyPr wrap="square" lIns="0" tIns="0" rIns="0" bIns="0" rtlCol="0" anchor="ctr"/>
          <a:lstStyle/>
          <a:p>
            <a:pPr marL="0" indent="0">
              <a:buNone/>
            </a:pPr>
            <a:r>
              <a:rPr lang="en-US" sz="950" dirty="0">
                <a:solidFill>
                  <a:srgbClr val="5B6472"/>
                </a:solidFill>
              </a:rPr>
              <a:t>Small issues can hide strong potential</a:t>
            </a:r>
            <a:endParaRPr lang="en-US" sz="950" dirty="0"/>
          </a:p>
        </p:txBody>
      </p:sp>
      <p:sp>
        <p:nvSpPr>
          <p:cNvPr id="7" name="Shape 5"/>
          <p:cNvSpPr/>
          <p:nvPr/>
        </p:nvSpPr>
        <p:spPr>
          <a:xfrm>
            <a:off x="640080" y="1325880"/>
            <a:ext cx="10881360" cy="0"/>
          </a:xfrm>
          <a:prstGeom prst="line">
            <a:avLst/>
          </a:prstGeom>
          <a:noFill/>
          <a:ln w="12700">
            <a:solidFill>
              <a:srgbClr val="D6D3D1"/>
            </a:solidFill>
            <a:prstDash val="solid"/>
          </a:ln>
        </p:spPr>
      </p:sp>
      <p:sp>
        <p:nvSpPr>
          <p:cNvPr id="8" name="Shape 6"/>
          <p:cNvSpPr/>
          <p:nvPr/>
        </p:nvSpPr>
        <p:spPr>
          <a:xfrm>
            <a:off x="868680" y="1508760"/>
            <a:ext cx="4983480" cy="502920"/>
          </a:xfrm>
          <a:prstGeom prst="roundRect">
            <a:avLst>
              <a:gd name="adj" fmla="val 14545"/>
            </a:avLst>
          </a:prstGeom>
          <a:solidFill>
            <a:srgbClr val="FEF3C7"/>
          </a:solidFill>
          <a:ln w="12700">
            <a:solidFill>
              <a:srgbClr val="E8E2DE"/>
            </a:solidFill>
            <a:prstDash val="solid"/>
          </a:ln>
        </p:spPr>
      </p:sp>
      <p:sp>
        <p:nvSpPr>
          <p:cNvPr id="9" name="Text 7"/>
          <p:cNvSpPr/>
          <p:nvPr/>
        </p:nvSpPr>
        <p:spPr>
          <a:xfrm>
            <a:off x="1051560" y="1664208"/>
            <a:ext cx="4480560" cy="155448"/>
          </a:xfrm>
          <a:prstGeom prst="rect">
            <a:avLst/>
          </a:prstGeom>
          <a:noFill/>
          <a:ln/>
        </p:spPr>
        <p:txBody>
          <a:bodyPr wrap="square" lIns="0" tIns="0" rIns="0" bIns="0" rtlCol="0" anchor="ctr">
            <a:normAutofit/>
          </a:bodyPr>
          <a:lstStyle/>
          <a:p>
            <a:pPr marL="0" indent="0">
              <a:buNone/>
            </a:pPr>
            <a:r>
              <a:rPr lang="en-US" sz="890" dirty="0">
                <a:solidFill>
                  <a:srgbClr val="111827"/>
                </a:solidFill>
              </a:rPr>
              <a:t>1. Generic CV / not targeted</a:t>
            </a:r>
            <a:endParaRPr lang="en-US" sz="890" dirty="0"/>
          </a:p>
        </p:txBody>
      </p:sp>
      <p:sp>
        <p:nvSpPr>
          <p:cNvPr id="10" name="Shape 8"/>
          <p:cNvSpPr/>
          <p:nvPr/>
        </p:nvSpPr>
        <p:spPr>
          <a:xfrm>
            <a:off x="868680" y="2112264"/>
            <a:ext cx="4983480" cy="502920"/>
          </a:xfrm>
          <a:prstGeom prst="roundRect">
            <a:avLst>
              <a:gd name="adj" fmla="val 14545"/>
            </a:avLst>
          </a:prstGeom>
          <a:solidFill>
            <a:srgbClr val="FFFFFF"/>
          </a:solidFill>
          <a:ln w="12700">
            <a:solidFill>
              <a:srgbClr val="E8E2DE"/>
            </a:solidFill>
            <a:prstDash val="solid"/>
          </a:ln>
        </p:spPr>
      </p:sp>
      <p:sp>
        <p:nvSpPr>
          <p:cNvPr id="11" name="Text 9"/>
          <p:cNvSpPr/>
          <p:nvPr/>
        </p:nvSpPr>
        <p:spPr>
          <a:xfrm>
            <a:off x="1051560" y="2267712"/>
            <a:ext cx="4480560" cy="155448"/>
          </a:xfrm>
          <a:prstGeom prst="rect">
            <a:avLst/>
          </a:prstGeom>
          <a:noFill/>
          <a:ln/>
        </p:spPr>
        <p:txBody>
          <a:bodyPr wrap="square" lIns="0" tIns="0" rIns="0" bIns="0" rtlCol="0" anchor="ctr">
            <a:normAutofit/>
          </a:bodyPr>
          <a:lstStyle/>
          <a:p>
            <a:pPr marL="0" indent="0">
              <a:buNone/>
            </a:pPr>
            <a:r>
              <a:rPr lang="en-US" sz="890" dirty="0">
                <a:solidFill>
                  <a:srgbClr val="111827"/>
                </a:solidFill>
              </a:rPr>
              <a:t>2. Too many paragraphs</a:t>
            </a:r>
            <a:endParaRPr lang="en-US" sz="890" dirty="0"/>
          </a:p>
        </p:txBody>
      </p:sp>
      <p:sp>
        <p:nvSpPr>
          <p:cNvPr id="12" name="Shape 10"/>
          <p:cNvSpPr/>
          <p:nvPr/>
        </p:nvSpPr>
        <p:spPr>
          <a:xfrm>
            <a:off x="868680" y="2715768"/>
            <a:ext cx="4983480" cy="502920"/>
          </a:xfrm>
          <a:prstGeom prst="roundRect">
            <a:avLst>
              <a:gd name="adj" fmla="val 14545"/>
            </a:avLst>
          </a:prstGeom>
          <a:solidFill>
            <a:srgbClr val="FEF3C7"/>
          </a:solidFill>
          <a:ln w="12700">
            <a:solidFill>
              <a:srgbClr val="E8E2DE"/>
            </a:solidFill>
            <a:prstDash val="solid"/>
          </a:ln>
        </p:spPr>
      </p:sp>
      <p:sp>
        <p:nvSpPr>
          <p:cNvPr id="13" name="Text 11"/>
          <p:cNvSpPr/>
          <p:nvPr/>
        </p:nvSpPr>
        <p:spPr>
          <a:xfrm>
            <a:off x="1051560" y="2871216"/>
            <a:ext cx="4480560" cy="155448"/>
          </a:xfrm>
          <a:prstGeom prst="rect">
            <a:avLst/>
          </a:prstGeom>
          <a:noFill/>
          <a:ln/>
        </p:spPr>
        <p:txBody>
          <a:bodyPr wrap="square" lIns="0" tIns="0" rIns="0" bIns="0" rtlCol="0" anchor="ctr">
            <a:normAutofit/>
          </a:bodyPr>
          <a:lstStyle/>
          <a:p>
            <a:pPr marL="0" indent="0">
              <a:buNone/>
            </a:pPr>
            <a:r>
              <a:rPr lang="en-US" sz="890" dirty="0">
                <a:solidFill>
                  <a:srgbClr val="111827"/>
                </a:solidFill>
              </a:rPr>
              <a:t>3. No keywords from job description</a:t>
            </a:r>
            <a:endParaRPr lang="en-US" sz="890" dirty="0"/>
          </a:p>
        </p:txBody>
      </p:sp>
      <p:sp>
        <p:nvSpPr>
          <p:cNvPr id="14" name="Shape 12"/>
          <p:cNvSpPr/>
          <p:nvPr/>
        </p:nvSpPr>
        <p:spPr>
          <a:xfrm>
            <a:off x="868680" y="3319272"/>
            <a:ext cx="4983480" cy="502920"/>
          </a:xfrm>
          <a:prstGeom prst="roundRect">
            <a:avLst>
              <a:gd name="adj" fmla="val 14545"/>
            </a:avLst>
          </a:prstGeom>
          <a:solidFill>
            <a:srgbClr val="FFFFFF"/>
          </a:solidFill>
          <a:ln w="12700">
            <a:solidFill>
              <a:srgbClr val="E8E2DE"/>
            </a:solidFill>
            <a:prstDash val="solid"/>
          </a:ln>
        </p:spPr>
      </p:sp>
      <p:sp>
        <p:nvSpPr>
          <p:cNvPr id="15" name="Text 13"/>
          <p:cNvSpPr/>
          <p:nvPr/>
        </p:nvSpPr>
        <p:spPr>
          <a:xfrm>
            <a:off x="1051560" y="3474720"/>
            <a:ext cx="4480560" cy="155448"/>
          </a:xfrm>
          <a:prstGeom prst="rect">
            <a:avLst/>
          </a:prstGeom>
          <a:noFill/>
          <a:ln/>
        </p:spPr>
        <p:txBody>
          <a:bodyPr wrap="square" lIns="0" tIns="0" rIns="0" bIns="0" rtlCol="0" anchor="ctr">
            <a:normAutofit/>
          </a:bodyPr>
          <a:lstStyle/>
          <a:p>
            <a:pPr marL="0" indent="0">
              <a:buNone/>
            </a:pPr>
            <a:r>
              <a:rPr lang="en-US" sz="890" dirty="0">
                <a:solidFill>
                  <a:srgbClr val="111827"/>
                </a:solidFill>
              </a:rPr>
              <a:t>4. No GitHub or portfolio links</a:t>
            </a:r>
            <a:endParaRPr lang="en-US" sz="890" dirty="0"/>
          </a:p>
        </p:txBody>
      </p:sp>
      <p:sp>
        <p:nvSpPr>
          <p:cNvPr id="16" name="Shape 14"/>
          <p:cNvSpPr/>
          <p:nvPr/>
        </p:nvSpPr>
        <p:spPr>
          <a:xfrm>
            <a:off x="868680" y="3922776"/>
            <a:ext cx="4983480" cy="502920"/>
          </a:xfrm>
          <a:prstGeom prst="roundRect">
            <a:avLst>
              <a:gd name="adj" fmla="val 14545"/>
            </a:avLst>
          </a:prstGeom>
          <a:solidFill>
            <a:srgbClr val="FEF3C7"/>
          </a:solidFill>
          <a:ln w="12700">
            <a:solidFill>
              <a:srgbClr val="E8E2DE"/>
            </a:solidFill>
            <a:prstDash val="solid"/>
          </a:ln>
        </p:spPr>
      </p:sp>
      <p:sp>
        <p:nvSpPr>
          <p:cNvPr id="17" name="Text 15"/>
          <p:cNvSpPr/>
          <p:nvPr/>
        </p:nvSpPr>
        <p:spPr>
          <a:xfrm>
            <a:off x="1051560" y="4078224"/>
            <a:ext cx="4480560" cy="155448"/>
          </a:xfrm>
          <a:prstGeom prst="rect">
            <a:avLst/>
          </a:prstGeom>
          <a:noFill/>
          <a:ln/>
        </p:spPr>
        <p:txBody>
          <a:bodyPr wrap="square" lIns="0" tIns="0" rIns="0" bIns="0" rtlCol="0" anchor="ctr">
            <a:normAutofit/>
          </a:bodyPr>
          <a:lstStyle/>
          <a:p>
            <a:pPr marL="0" indent="0">
              <a:buNone/>
            </a:pPr>
            <a:r>
              <a:rPr lang="en-US" sz="890" dirty="0">
                <a:solidFill>
                  <a:srgbClr val="111827"/>
                </a:solidFill>
              </a:rPr>
              <a:t>5. Spelling and grammar errors</a:t>
            </a:r>
            <a:endParaRPr lang="en-US" sz="890" dirty="0"/>
          </a:p>
        </p:txBody>
      </p:sp>
      <p:sp>
        <p:nvSpPr>
          <p:cNvPr id="18" name="Shape 16"/>
          <p:cNvSpPr/>
          <p:nvPr/>
        </p:nvSpPr>
        <p:spPr>
          <a:xfrm>
            <a:off x="6355080" y="1508760"/>
            <a:ext cx="4983480" cy="502920"/>
          </a:xfrm>
          <a:prstGeom prst="roundRect">
            <a:avLst>
              <a:gd name="adj" fmla="val 14545"/>
            </a:avLst>
          </a:prstGeom>
          <a:solidFill>
            <a:srgbClr val="FFFFFF"/>
          </a:solidFill>
          <a:ln w="12700">
            <a:solidFill>
              <a:srgbClr val="E8E2DE"/>
            </a:solidFill>
            <a:prstDash val="solid"/>
          </a:ln>
        </p:spPr>
      </p:sp>
      <p:sp>
        <p:nvSpPr>
          <p:cNvPr id="19" name="Text 17"/>
          <p:cNvSpPr/>
          <p:nvPr/>
        </p:nvSpPr>
        <p:spPr>
          <a:xfrm>
            <a:off x="6537960" y="1664208"/>
            <a:ext cx="4480560" cy="155448"/>
          </a:xfrm>
          <a:prstGeom prst="rect">
            <a:avLst/>
          </a:prstGeom>
          <a:noFill/>
          <a:ln/>
        </p:spPr>
        <p:txBody>
          <a:bodyPr wrap="square" lIns="0" tIns="0" rIns="0" bIns="0" rtlCol="0" anchor="ctr">
            <a:normAutofit/>
          </a:bodyPr>
          <a:lstStyle/>
          <a:p>
            <a:pPr marL="0" indent="0">
              <a:buNone/>
            </a:pPr>
            <a:r>
              <a:rPr lang="en-US" sz="890" dirty="0">
                <a:solidFill>
                  <a:srgbClr val="111827"/>
                </a:solidFill>
              </a:rPr>
              <a:t>6. Duties without impact</a:t>
            </a:r>
            <a:endParaRPr lang="en-US" sz="890" dirty="0"/>
          </a:p>
        </p:txBody>
      </p:sp>
      <p:sp>
        <p:nvSpPr>
          <p:cNvPr id="20" name="Shape 18"/>
          <p:cNvSpPr/>
          <p:nvPr/>
        </p:nvSpPr>
        <p:spPr>
          <a:xfrm>
            <a:off x="6355080" y="2112264"/>
            <a:ext cx="4983480" cy="502920"/>
          </a:xfrm>
          <a:prstGeom prst="roundRect">
            <a:avLst>
              <a:gd name="adj" fmla="val 14545"/>
            </a:avLst>
          </a:prstGeom>
          <a:solidFill>
            <a:srgbClr val="FEF3C7"/>
          </a:solidFill>
          <a:ln w="12700">
            <a:solidFill>
              <a:srgbClr val="E8E2DE"/>
            </a:solidFill>
            <a:prstDash val="solid"/>
          </a:ln>
        </p:spPr>
      </p:sp>
      <p:sp>
        <p:nvSpPr>
          <p:cNvPr id="21" name="Text 19"/>
          <p:cNvSpPr/>
          <p:nvPr/>
        </p:nvSpPr>
        <p:spPr>
          <a:xfrm>
            <a:off x="6537960" y="2267712"/>
            <a:ext cx="4480560" cy="155448"/>
          </a:xfrm>
          <a:prstGeom prst="rect">
            <a:avLst/>
          </a:prstGeom>
          <a:noFill/>
          <a:ln/>
        </p:spPr>
        <p:txBody>
          <a:bodyPr wrap="square" lIns="0" tIns="0" rIns="0" bIns="0" rtlCol="0" anchor="ctr">
            <a:normAutofit/>
          </a:bodyPr>
          <a:lstStyle/>
          <a:p>
            <a:pPr marL="0" indent="0">
              <a:buNone/>
            </a:pPr>
            <a:r>
              <a:rPr lang="en-US" sz="890" dirty="0">
                <a:solidFill>
                  <a:srgbClr val="111827"/>
                </a:solidFill>
              </a:rPr>
              <a:t>7. Too many fonts and colors</a:t>
            </a:r>
            <a:endParaRPr lang="en-US" sz="890" dirty="0"/>
          </a:p>
        </p:txBody>
      </p:sp>
      <p:sp>
        <p:nvSpPr>
          <p:cNvPr id="22" name="Shape 20"/>
          <p:cNvSpPr/>
          <p:nvPr/>
        </p:nvSpPr>
        <p:spPr>
          <a:xfrm>
            <a:off x="6355080" y="2715768"/>
            <a:ext cx="4983480" cy="502920"/>
          </a:xfrm>
          <a:prstGeom prst="roundRect">
            <a:avLst>
              <a:gd name="adj" fmla="val 14545"/>
            </a:avLst>
          </a:prstGeom>
          <a:solidFill>
            <a:srgbClr val="FFFFFF"/>
          </a:solidFill>
          <a:ln w="12700">
            <a:solidFill>
              <a:srgbClr val="E8E2DE"/>
            </a:solidFill>
            <a:prstDash val="solid"/>
          </a:ln>
        </p:spPr>
      </p:sp>
      <p:sp>
        <p:nvSpPr>
          <p:cNvPr id="23" name="Text 21"/>
          <p:cNvSpPr/>
          <p:nvPr/>
        </p:nvSpPr>
        <p:spPr>
          <a:xfrm>
            <a:off x="6537960" y="2871216"/>
            <a:ext cx="4480560" cy="155448"/>
          </a:xfrm>
          <a:prstGeom prst="rect">
            <a:avLst/>
          </a:prstGeom>
          <a:noFill/>
          <a:ln/>
        </p:spPr>
        <p:txBody>
          <a:bodyPr wrap="square" lIns="0" tIns="0" rIns="0" bIns="0" rtlCol="0" anchor="ctr">
            <a:normAutofit/>
          </a:bodyPr>
          <a:lstStyle/>
          <a:p>
            <a:pPr marL="0" indent="0">
              <a:buNone/>
            </a:pPr>
            <a:r>
              <a:rPr lang="en-US" sz="890" dirty="0">
                <a:solidFill>
                  <a:srgbClr val="111827"/>
                </a:solidFill>
              </a:rPr>
              <a:t>8. Missing dates or unclear timeline</a:t>
            </a:r>
            <a:endParaRPr lang="en-US" sz="890" dirty="0"/>
          </a:p>
        </p:txBody>
      </p:sp>
      <p:sp>
        <p:nvSpPr>
          <p:cNvPr id="24" name="Shape 22"/>
          <p:cNvSpPr/>
          <p:nvPr/>
        </p:nvSpPr>
        <p:spPr>
          <a:xfrm>
            <a:off x="6355080" y="3319272"/>
            <a:ext cx="4983480" cy="502920"/>
          </a:xfrm>
          <a:prstGeom prst="roundRect">
            <a:avLst>
              <a:gd name="adj" fmla="val 14545"/>
            </a:avLst>
          </a:prstGeom>
          <a:solidFill>
            <a:srgbClr val="FEF3C7"/>
          </a:solidFill>
          <a:ln w="12700">
            <a:solidFill>
              <a:srgbClr val="E8E2DE"/>
            </a:solidFill>
            <a:prstDash val="solid"/>
          </a:ln>
        </p:spPr>
      </p:sp>
      <p:sp>
        <p:nvSpPr>
          <p:cNvPr id="25" name="Text 23"/>
          <p:cNvSpPr/>
          <p:nvPr/>
        </p:nvSpPr>
        <p:spPr>
          <a:xfrm>
            <a:off x="6537960" y="3474720"/>
            <a:ext cx="4480560" cy="155448"/>
          </a:xfrm>
          <a:prstGeom prst="rect">
            <a:avLst/>
          </a:prstGeom>
          <a:noFill/>
          <a:ln/>
        </p:spPr>
        <p:txBody>
          <a:bodyPr wrap="square" lIns="0" tIns="0" rIns="0" bIns="0" rtlCol="0" anchor="ctr">
            <a:normAutofit/>
          </a:bodyPr>
          <a:lstStyle/>
          <a:p>
            <a:pPr marL="0" indent="0">
              <a:buNone/>
            </a:pPr>
            <a:r>
              <a:rPr lang="en-US" sz="890" dirty="0">
                <a:solidFill>
                  <a:srgbClr val="111827"/>
                </a:solidFill>
              </a:rPr>
              <a:t>9. Certificates without projects</a:t>
            </a:r>
            <a:endParaRPr lang="en-US" sz="890" dirty="0"/>
          </a:p>
        </p:txBody>
      </p:sp>
      <p:sp>
        <p:nvSpPr>
          <p:cNvPr id="26" name="Shape 24"/>
          <p:cNvSpPr/>
          <p:nvPr/>
        </p:nvSpPr>
        <p:spPr>
          <a:xfrm>
            <a:off x="6355080" y="3922776"/>
            <a:ext cx="4983480" cy="502920"/>
          </a:xfrm>
          <a:prstGeom prst="roundRect">
            <a:avLst>
              <a:gd name="adj" fmla="val 14545"/>
            </a:avLst>
          </a:prstGeom>
          <a:solidFill>
            <a:srgbClr val="FFFFFF"/>
          </a:solidFill>
          <a:ln w="12700">
            <a:solidFill>
              <a:srgbClr val="E8E2DE"/>
            </a:solidFill>
            <a:prstDash val="solid"/>
          </a:ln>
        </p:spPr>
      </p:sp>
      <p:sp>
        <p:nvSpPr>
          <p:cNvPr id="27" name="Text 25"/>
          <p:cNvSpPr/>
          <p:nvPr/>
        </p:nvSpPr>
        <p:spPr>
          <a:xfrm>
            <a:off x="6537960" y="4078224"/>
            <a:ext cx="4480560" cy="155448"/>
          </a:xfrm>
          <a:prstGeom prst="rect">
            <a:avLst/>
          </a:prstGeom>
          <a:noFill/>
          <a:ln/>
        </p:spPr>
        <p:txBody>
          <a:bodyPr wrap="square" lIns="0" tIns="0" rIns="0" bIns="0" rtlCol="0" anchor="ctr">
            <a:normAutofit/>
          </a:bodyPr>
          <a:lstStyle/>
          <a:p>
            <a:pPr marL="0" indent="0">
              <a:buNone/>
            </a:pPr>
            <a:r>
              <a:rPr lang="en-US" sz="890" dirty="0">
                <a:solidFill>
                  <a:srgbClr val="111827"/>
                </a:solidFill>
              </a:rPr>
              <a:t>10. File name: “CV-final-final2.pdf”</a:t>
            </a:r>
            <a:endParaRPr lang="en-US" sz="890" dirty="0"/>
          </a:p>
        </p:txBody>
      </p:sp>
      <p:sp>
        <p:nvSpPr>
          <p:cNvPr id="29" name="Text 26"/>
          <p:cNvSpPr/>
          <p:nvPr/>
        </p:nvSpPr>
        <p:spPr>
          <a:xfrm>
            <a:off x="411480" y="6510528"/>
            <a:ext cx="6400800" cy="164592"/>
          </a:xfrm>
          <a:prstGeom prst="rect">
            <a:avLst/>
          </a:prstGeom>
          <a:noFill/>
          <a:ln/>
        </p:spPr>
        <p:txBody>
          <a:bodyPr wrap="square" lIns="0" tIns="0" rIns="0" bIns="0" rtlCol="0" anchor="ctr"/>
          <a:lstStyle/>
          <a:p>
            <a:pPr marL="0" indent="0">
              <a:buNone/>
            </a:pPr>
            <a:r>
              <a:rPr lang="en-US" sz="600" dirty="0">
                <a:solidFill>
                  <a:srgbClr val="7C7C7C"/>
                </a:solidFill>
                <a:latin typeface="Aptos" pitchFamily="34" charset="0"/>
                <a:ea typeface="Aptos" pitchFamily="34" charset="-122"/>
                <a:cs typeface="Aptos" pitchFamily="34" charset="-120"/>
              </a:rPr>
              <a:t>What's Next After Graduation?  |  Farah Kerbaj</a:t>
            </a:r>
            <a:endParaRPr lang="en-US" sz="600" dirty="0"/>
          </a:p>
        </p:txBody>
      </p:sp>
      <p:sp>
        <p:nvSpPr>
          <p:cNvPr id="30" name="Text 27"/>
          <p:cNvSpPr/>
          <p:nvPr/>
        </p:nvSpPr>
        <p:spPr>
          <a:xfrm>
            <a:off x="11430000" y="6473952"/>
            <a:ext cx="320040" cy="182880"/>
          </a:xfrm>
          <a:prstGeom prst="rect">
            <a:avLst/>
          </a:prstGeom>
          <a:noFill/>
          <a:ln/>
        </p:spPr>
        <p:txBody>
          <a:bodyPr wrap="square" lIns="0" tIns="0" rIns="0" bIns="0" rtlCol="0" anchor="ctr"/>
          <a:lstStyle/>
          <a:p>
            <a:pPr marL="0" indent="0" algn="r">
              <a:buNone/>
            </a:pPr>
            <a:r>
              <a:rPr lang="en-US" sz="700" dirty="0">
                <a:solidFill>
                  <a:srgbClr val="7C7C7C"/>
                </a:solidFill>
              </a:rPr>
              <a:t>22</a:t>
            </a:r>
            <a:endParaRPr lang="en-US" sz="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4F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F2"/>
          </a:solidFill>
          <a:ln w="12700">
            <a:solidFill>
              <a:srgbClr val="F7F4F2">
                <a:alpha val="0"/>
              </a:srgbClr>
            </a:solidFill>
            <a:prstDash val="solid"/>
          </a:ln>
        </p:spPr>
      </p:sp>
      <p:sp>
        <p:nvSpPr>
          <p:cNvPr id="3" name="Shape 1"/>
          <p:cNvSpPr/>
          <p:nvPr/>
        </p:nvSpPr>
        <p:spPr>
          <a:xfrm>
            <a:off x="0" y="0"/>
            <a:ext cx="12191695" cy="73152"/>
          </a:xfrm>
          <a:prstGeom prst="rect">
            <a:avLst/>
          </a:prstGeom>
          <a:solidFill>
            <a:srgbClr val="2563EB"/>
          </a:solidFill>
          <a:ln w="12700">
            <a:solidFill>
              <a:srgbClr val="2563EB"/>
            </a:solidFill>
            <a:prstDash val="solid"/>
          </a:ln>
        </p:spPr>
      </p:sp>
      <p:sp>
        <p:nvSpPr>
          <p:cNvPr id="4" name="Text 2"/>
          <p:cNvSpPr/>
          <p:nvPr/>
        </p:nvSpPr>
        <p:spPr>
          <a:xfrm>
            <a:off x="667512" y="274320"/>
            <a:ext cx="7315200" cy="201168"/>
          </a:xfrm>
          <a:prstGeom prst="rect">
            <a:avLst/>
          </a:prstGeom>
          <a:noFill/>
          <a:ln/>
        </p:spPr>
        <p:txBody>
          <a:bodyPr wrap="square" lIns="0" tIns="0" rIns="0" bIns="0" rtlCol="0" anchor="ctr"/>
          <a:lstStyle/>
          <a:p>
            <a:pPr marL="0" indent="0">
              <a:buNone/>
            </a:pPr>
            <a:r>
              <a:rPr lang="en-US" sz="750" b="1" dirty="0">
                <a:solidFill>
                  <a:srgbClr val="2563EB"/>
                </a:solidFill>
              </a:rPr>
              <a:t>LINKEDIN</a:t>
            </a:r>
            <a:endParaRPr lang="en-US" sz="750" dirty="0"/>
          </a:p>
        </p:txBody>
      </p:sp>
      <p:sp>
        <p:nvSpPr>
          <p:cNvPr id="5" name="Text 3"/>
          <p:cNvSpPr/>
          <p:nvPr/>
        </p:nvSpPr>
        <p:spPr>
          <a:xfrm>
            <a:off x="640080" y="502920"/>
            <a:ext cx="10881360" cy="438912"/>
          </a:xfrm>
          <a:prstGeom prst="rect">
            <a:avLst/>
          </a:prstGeom>
          <a:noFill/>
          <a:ln/>
        </p:spPr>
        <p:txBody>
          <a:bodyPr wrap="square" lIns="0" tIns="0" rIns="0" bIns="0" rtlCol="0" anchor="ctr">
            <a:normAutofit/>
          </a:bodyPr>
          <a:lstStyle/>
          <a:p>
            <a:pPr marL="0" indent="0">
              <a:buNone/>
            </a:pPr>
            <a:r>
              <a:rPr lang="en-US" sz="2500" b="1" dirty="0">
                <a:solidFill>
                  <a:srgbClr val="111827"/>
                </a:solidFill>
                <a:latin typeface="Aptos Display" pitchFamily="34" charset="0"/>
                <a:ea typeface="Aptos Display" pitchFamily="34" charset="-122"/>
                <a:cs typeface="Aptos Display" pitchFamily="34" charset="-120"/>
              </a:rPr>
              <a:t>LinkedIn Is Your Second CV</a:t>
            </a:r>
            <a:endParaRPr lang="en-US" sz="2500" dirty="0"/>
          </a:p>
        </p:txBody>
      </p:sp>
      <p:sp>
        <p:nvSpPr>
          <p:cNvPr id="6" name="Text 4"/>
          <p:cNvSpPr/>
          <p:nvPr/>
        </p:nvSpPr>
        <p:spPr>
          <a:xfrm>
            <a:off x="667512" y="987552"/>
            <a:ext cx="10424160" cy="256032"/>
          </a:xfrm>
          <a:prstGeom prst="rect">
            <a:avLst/>
          </a:prstGeom>
          <a:noFill/>
          <a:ln/>
        </p:spPr>
        <p:txBody>
          <a:bodyPr wrap="square" lIns="0" tIns="0" rIns="0" bIns="0" rtlCol="0" anchor="ctr"/>
          <a:lstStyle/>
          <a:p>
            <a:pPr marL="0" indent="0">
              <a:buNone/>
            </a:pPr>
            <a:r>
              <a:rPr lang="en-US" sz="950" dirty="0">
                <a:solidFill>
                  <a:srgbClr val="5B6472"/>
                </a:solidFill>
              </a:rPr>
              <a:t>A mini career website recruiters can find before you apply</a:t>
            </a:r>
            <a:endParaRPr lang="en-US" sz="950" dirty="0"/>
          </a:p>
        </p:txBody>
      </p:sp>
      <p:sp>
        <p:nvSpPr>
          <p:cNvPr id="7" name="Shape 5"/>
          <p:cNvSpPr/>
          <p:nvPr/>
        </p:nvSpPr>
        <p:spPr>
          <a:xfrm>
            <a:off x="640080" y="1325880"/>
            <a:ext cx="10881360" cy="0"/>
          </a:xfrm>
          <a:prstGeom prst="line">
            <a:avLst/>
          </a:prstGeom>
          <a:noFill/>
          <a:ln w="12700">
            <a:solidFill>
              <a:srgbClr val="D6D3D1"/>
            </a:solidFill>
            <a:prstDash val="solid"/>
          </a:ln>
        </p:spPr>
      </p:sp>
      <p:sp>
        <p:nvSpPr>
          <p:cNvPr id="8" name="Shape 6"/>
          <p:cNvSpPr/>
          <p:nvPr/>
        </p:nvSpPr>
        <p:spPr>
          <a:xfrm>
            <a:off x="822960" y="1554480"/>
            <a:ext cx="2057400" cy="658368"/>
          </a:xfrm>
          <a:prstGeom prst="roundRect">
            <a:avLst>
              <a:gd name="adj" fmla="val 11111"/>
            </a:avLst>
          </a:prstGeom>
          <a:solidFill>
            <a:srgbClr val="FFFFFF"/>
          </a:solidFill>
          <a:ln w="12700">
            <a:solidFill>
              <a:srgbClr val="E8E2DE"/>
            </a:solidFill>
            <a:prstDash val="solid"/>
          </a:ln>
        </p:spPr>
      </p:sp>
      <p:sp>
        <p:nvSpPr>
          <p:cNvPr id="9" name="Text 7"/>
          <p:cNvSpPr/>
          <p:nvPr/>
        </p:nvSpPr>
        <p:spPr>
          <a:xfrm>
            <a:off x="1005840" y="1764792"/>
            <a:ext cx="1691640" cy="164592"/>
          </a:xfrm>
          <a:prstGeom prst="rect">
            <a:avLst/>
          </a:prstGeom>
          <a:noFill/>
          <a:ln/>
        </p:spPr>
        <p:txBody>
          <a:bodyPr wrap="square" lIns="0" tIns="0" rIns="0" bIns="0" rtlCol="0" anchor="ctr">
            <a:normAutofit/>
          </a:bodyPr>
          <a:lstStyle/>
          <a:p>
            <a:pPr marL="0" indent="0" algn="ctr">
              <a:buNone/>
            </a:pPr>
            <a:r>
              <a:rPr lang="en-US" sz="980" b="1" dirty="0">
                <a:solidFill>
                  <a:srgbClr val="2563EB"/>
                </a:solidFill>
              </a:rPr>
              <a:t>Profile photo</a:t>
            </a:r>
            <a:endParaRPr lang="en-US" sz="980" dirty="0"/>
          </a:p>
        </p:txBody>
      </p:sp>
      <p:sp>
        <p:nvSpPr>
          <p:cNvPr id="10" name="Shape 8"/>
          <p:cNvSpPr/>
          <p:nvPr/>
        </p:nvSpPr>
        <p:spPr>
          <a:xfrm>
            <a:off x="3063240" y="1554480"/>
            <a:ext cx="2057400" cy="658368"/>
          </a:xfrm>
          <a:prstGeom prst="roundRect">
            <a:avLst>
              <a:gd name="adj" fmla="val 11111"/>
            </a:avLst>
          </a:prstGeom>
          <a:solidFill>
            <a:srgbClr val="E0F2FE"/>
          </a:solidFill>
          <a:ln w="12700">
            <a:solidFill>
              <a:srgbClr val="E8E2DE"/>
            </a:solidFill>
            <a:prstDash val="solid"/>
          </a:ln>
        </p:spPr>
      </p:sp>
      <p:sp>
        <p:nvSpPr>
          <p:cNvPr id="11" name="Text 9"/>
          <p:cNvSpPr/>
          <p:nvPr/>
        </p:nvSpPr>
        <p:spPr>
          <a:xfrm>
            <a:off x="3246120" y="1764792"/>
            <a:ext cx="1691640" cy="164592"/>
          </a:xfrm>
          <a:prstGeom prst="rect">
            <a:avLst/>
          </a:prstGeom>
          <a:noFill/>
          <a:ln/>
        </p:spPr>
        <p:txBody>
          <a:bodyPr wrap="square" lIns="0" tIns="0" rIns="0" bIns="0" rtlCol="0" anchor="ctr">
            <a:normAutofit/>
          </a:bodyPr>
          <a:lstStyle/>
          <a:p>
            <a:pPr marL="0" indent="0" algn="ctr">
              <a:buNone/>
            </a:pPr>
            <a:r>
              <a:rPr lang="en-US" sz="980" b="1" dirty="0">
                <a:solidFill>
                  <a:srgbClr val="2563EB"/>
                </a:solidFill>
              </a:rPr>
              <a:t>Headline</a:t>
            </a:r>
            <a:endParaRPr lang="en-US" sz="980" dirty="0"/>
          </a:p>
        </p:txBody>
      </p:sp>
      <p:sp>
        <p:nvSpPr>
          <p:cNvPr id="12" name="Shape 10"/>
          <p:cNvSpPr/>
          <p:nvPr/>
        </p:nvSpPr>
        <p:spPr>
          <a:xfrm>
            <a:off x="5303520" y="1554480"/>
            <a:ext cx="2057400" cy="658368"/>
          </a:xfrm>
          <a:prstGeom prst="roundRect">
            <a:avLst>
              <a:gd name="adj" fmla="val 11111"/>
            </a:avLst>
          </a:prstGeom>
          <a:solidFill>
            <a:srgbClr val="FFFFFF"/>
          </a:solidFill>
          <a:ln w="12700">
            <a:solidFill>
              <a:srgbClr val="E8E2DE"/>
            </a:solidFill>
            <a:prstDash val="solid"/>
          </a:ln>
        </p:spPr>
      </p:sp>
      <p:sp>
        <p:nvSpPr>
          <p:cNvPr id="13" name="Text 11"/>
          <p:cNvSpPr/>
          <p:nvPr/>
        </p:nvSpPr>
        <p:spPr>
          <a:xfrm>
            <a:off x="5486400" y="1764792"/>
            <a:ext cx="1691640" cy="164592"/>
          </a:xfrm>
          <a:prstGeom prst="rect">
            <a:avLst/>
          </a:prstGeom>
          <a:noFill/>
          <a:ln/>
        </p:spPr>
        <p:txBody>
          <a:bodyPr wrap="square" lIns="0" tIns="0" rIns="0" bIns="0" rtlCol="0" anchor="ctr">
            <a:normAutofit/>
          </a:bodyPr>
          <a:lstStyle/>
          <a:p>
            <a:pPr marL="0" indent="0" algn="ctr">
              <a:buNone/>
            </a:pPr>
            <a:r>
              <a:rPr lang="en-US" sz="980" b="1" dirty="0">
                <a:solidFill>
                  <a:srgbClr val="2563EB"/>
                </a:solidFill>
              </a:rPr>
              <a:t>About</a:t>
            </a:r>
            <a:endParaRPr lang="en-US" sz="980" dirty="0"/>
          </a:p>
        </p:txBody>
      </p:sp>
      <p:sp>
        <p:nvSpPr>
          <p:cNvPr id="14" name="Shape 12"/>
          <p:cNvSpPr/>
          <p:nvPr/>
        </p:nvSpPr>
        <p:spPr>
          <a:xfrm>
            <a:off x="7543800" y="1554480"/>
            <a:ext cx="2057400" cy="658368"/>
          </a:xfrm>
          <a:prstGeom prst="roundRect">
            <a:avLst>
              <a:gd name="adj" fmla="val 11111"/>
            </a:avLst>
          </a:prstGeom>
          <a:solidFill>
            <a:srgbClr val="E0F2FE"/>
          </a:solidFill>
          <a:ln w="12700">
            <a:solidFill>
              <a:srgbClr val="E8E2DE"/>
            </a:solidFill>
            <a:prstDash val="solid"/>
          </a:ln>
        </p:spPr>
      </p:sp>
      <p:sp>
        <p:nvSpPr>
          <p:cNvPr id="15" name="Text 13"/>
          <p:cNvSpPr/>
          <p:nvPr/>
        </p:nvSpPr>
        <p:spPr>
          <a:xfrm>
            <a:off x="7726680" y="1764792"/>
            <a:ext cx="1691640" cy="164592"/>
          </a:xfrm>
          <a:prstGeom prst="rect">
            <a:avLst/>
          </a:prstGeom>
          <a:noFill/>
          <a:ln/>
        </p:spPr>
        <p:txBody>
          <a:bodyPr wrap="square" lIns="0" tIns="0" rIns="0" bIns="0" rtlCol="0" anchor="ctr">
            <a:normAutofit/>
          </a:bodyPr>
          <a:lstStyle/>
          <a:p>
            <a:pPr marL="0" indent="0" algn="ctr">
              <a:buNone/>
            </a:pPr>
            <a:r>
              <a:rPr lang="en-US" sz="980" b="1" dirty="0">
                <a:solidFill>
                  <a:srgbClr val="2563EB"/>
                </a:solidFill>
              </a:rPr>
              <a:t>Experience</a:t>
            </a:r>
            <a:endParaRPr lang="en-US" sz="980" dirty="0"/>
          </a:p>
        </p:txBody>
      </p:sp>
      <p:sp>
        <p:nvSpPr>
          <p:cNvPr id="16" name="Shape 14"/>
          <p:cNvSpPr/>
          <p:nvPr/>
        </p:nvSpPr>
        <p:spPr>
          <a:xfrm>
            <a:off x="822960" y="2468880"/>
            <a:ext cx="2057400" cy="658368"/>
          </a:xfrm>
          <a:prstGeom prst="roundRect">
            <a:avLst>
              <a:gd name="adj" fmla="val 11111"/>
            </a:avLst>
          </a:prstGeom>
          <a:solidFill>
            <a:srgbClr val="FFFFFF"/>
          </a:solidFill>
          <a:ln w="12700">
            <a:solidFill>
              <a:srgbClr val="E8E2DE"/>
            </a:solidFill>
            <a:prstDash val="solid"/>
          </a:ln>
        </p:spPr>
      </p:sp>
      <p:sp>
        <p:nvSpPr>
          <p:cNvPr id="17" name="Text 15"/>
          <p:cNvSpPr/>
          <p:nvPr/>
        </p:nvSpPr>
        <p:spPr>
          <a:xfrm>
            <a:off x="1005840" y="2679192"/>
            <a:ext cx="1691640" cy="164592"/>
          </a:xfrm>
          <a:prstGeom prst="rect">
            <a:avLst/>
          </a:prstGeom>
          <a:noFill/>
          <a:ln/>
        </p:spPr>
        <p:txBody>
          <a:bodyPr wrap="square" lIns="0" tIns="0" rIns="0" bIns="0" rtlCol="0" anchor="ctr">
            <a:normAutofit/>
          </a:bodyPr>
          <a:lstStyle/>
          <a:p>
            <a:pPr marL="0" indent="0" algn="ctr">
              <a:buNone/>
            </a:pPr>
            <a:r>
              <a:rPr lang="en-US" sz="980" b="1" dirty="0">
                <a:solidFill>
                  <a:srgbClr val="2563EB"/>
                </a:solidFill>
              </a:rPr>
              <a:t>Featured</a:t>
            </a:r>
            <a:endParaRPr lang="en-US" sz="980" dirty="0"/>
          </a:p>
        </p:txBody>
      </p:sp>
      <p:sp>
        <p:nvSpPr>
          <p:cNvPr id="18" name="Shape 16"/>
          <p:cNvSpPr/>
          <p:nvPr/>
        </p:nvSpPr>
        <p:spPr>
          <a:xfrm>
            <a:off x="3063240" y="2468880"/>
            <a:ext cx="2057400" cy="658368"/>
          </a:xfrm>
          <a:prstGeom prst="roundRect">
            <a:avLst>
              <a:gd name="adj" fmla="val 11111"/>
            </a:avLst>
          </a:prstGeom>
          <a:solidFill>
            <a:srgbClr val="E0F2FE"/>
          </a:solidFill>
          <a:ln w="12700">
            <a:solidFill>
              <a:srgbClr val="E8E2DE"/>
            </a:solidFill>
            <a:prstDash val="solid"/>
          </a:ln>
        </p:spPr>
      </p:sp>
      <p:sp>
        <p:nvSpPr>
          <p:cNvPr id="19" name="Text 17"/>
          <p:cNvSpPr/>
          <p:nvPr/>
        </p:nvSpPr>
        <p:spPr>
          <a:xfrm>
            <a:off x="3246120" y="2679192"/>
            <a:ext cx="1691640" cy="164592"/>
          </a:xfrm>
          <a:prstGeom prst="rect">
            <a:avLst/>
          </a:prstGeom>
          <a:noFill/>
          <a:ln/>
        </p:spPr>
        <p:txBody>
          <a:bodyPr wrap="square" lIns="0" tIns="0" rIns="0" bIns="0" rtlCol="0" anchor="ctr">
            <a:normAutofit/>
          </a:bodyPr>
          <a:lstStyle/>
          <a:p>
            <a:pPr marL="0" indent="0" algn="ctr">
              <a:buNone/>
            </a:pPr>
            <a:r>
              <a:rPr lang="en-US" sz="980" b="1" dirty="0">
                <a:solidFill>
                  <a:srgbClr val="2563EB"/>
                </a:solidFill>
              </a:rPr>
              <a:t>Skills</a:t>
            </a:r>
            <a:endParaRPr lang="en-US" sz="980" dirty="0"/>
          </a:p>
        </p:txBody>
      </p:sp>
      <p:sp>
        <p:nvSpPr>
          <p:cNvPr id="20" name="Shape 18"/>
          <p:cNvSpPr/>
          <p:nvPr/>
        </p:nvSpPr>
        <p:spPr>
          <a:xfrm>
            <a:off x="5303520" y="2468880"/>
            <a:ext cx="2057400" cy="658368"/>
          </a:xfrm>
          <a:prstGeom prst="roundRect">
            <a:avLst>
              <a:gd name="adj" fmla="val 11111"/>
            </a:avLst>
          </a:prstGeom>
          <a:solidFill>
            <a:srgbClr val="FFFFFF"/>
          </a:solidFill>
          <a:ln w="12700">
            <a:solidFill>
              <a:srgbClr val="E8E2DE"/>
            </a:solidFill>
            <a:prstDash val="solid"/>
          </a:ln>
        </p:spPr>
      </p:sp>
      <p:sp>
        <p:nvSpPr>
          <p:cNvPr id="21" name="Text 19"/>
          <p:cNvSpPr/>
          <p:nvPr/>
        </p:nvSpPr>
        <p:spPr>
          <a:xfrm>
            <a:off x="5486400" y="2679192"/>
            <a:ext cx="1691640" cy="164592"/>
          </a:xfrm>
          <a:prstGeom prst="rect">
            <a:avLst/>
          </a:prstGeom>
          <a:noFill/>
          <a:ln/>
        </p:spPr>
        <p:txBody>
          <a:bodyPr wrap="square" lIns="0" tIns="0" rIns="0" bIns="0" rtlCol="0" anchor="ctr">
            <a:normAutofit/>
          </a:bodyPr>
          <a:lstStyle/>
          <a:p>
            <a:pPr marL="0" indent="0" algn="ctr">
              <a:buNone/>
            </a:pPr>
            <a:r>
              <a:rPr lang="en-US" sz="980" b="1" dirty="0">
                <a:solidFill>
                  <a:srgbClr val="2563EB"/>
                </a:solidFill>
              </a:rPr>
              <a:t>Education</a:t>
            </a:r>
            <a:endParaRPr lang="en-US" sz="980" dirty="0"/>
          </a:p>
        </p:txBody>
      </p:sp>
      <p:sp>
        <p:nvSpPr>
          <p:cNvPr id="22" name="Shape 20"/>
          <p:cNvSpPr/>
          <p:nvPr/>
        </p:nvSpPr>
        <p:spPr>
          <a:xfrm>
            <a:off x="7543800" y="2468880"/>
            <a:ext cx="2057400" cy="658368"/>
          </a:xfrm>
          <a:prstGeom prst="roundRect">
            <a:avLst>
              <a:gd name="adj" fmla="val 11111"/>
            </a:avLst>
          </a:prstGeom>
          <a:solidFill>
            <a:srgbClr val="E0F2FE"/>
          </a:solidFill>
          <a:ln w="12700">
            <a:solidFill>
              <a:srgbClr val="E8E2DE"/>
            </a:solidFill>
            <a:prstDash val="solid"/>
          </a:ln>
        </p:spPr>
      </p:sp>
      <p:sp>
        <p:nvSpPr>
          <p:cNvPr id="23" name="Text 21"/>
          <p:cNvSpPr/>
          <p:nvPr/>
        </p:nvSpPr>
        <p:spPr>
          <a:xfrm>
            <a:off x="7726680" y="2679192"/>
            <a:ext cx="1691640" cy="164592"/>
          </a:xfrm>
          <a:prstGeom prst="rect">
            <a:avLst/>
          </a:prstGeom>
          <a:noFill/>
          <a:ln/>
        </p:spPr>
        <p:txBody>
          <a:bodyPr wrap="square" lIns="0" tIns="0" rIns="0" bIns="0" rtlCol="0" anchor="ctr">
            <a:normAutofit/>
          </a:bodyPr>
          <a:lstStyle/>
          <a:p>
            <a:pPr marL="0" indent="0" algn="ctr">
              <a:buNone/>
            </a:pPr>
            <a:r>
              <a:rPr lang="en-US" sz="980" b="1" dirty="0">
                <a:solidFill>
                  <a:srgbClr val="2563EB"/>
                </a:solidFill>
              </a:rPr>
              <a:t>Recommendations</a:t>
            </a:r>
            <a:endParaRPr lang="en-US" sz="980" dirty="0"/>
          </a:p>
        </p:txBody>
      </p:sp>
      <p:sp>
        <p:nvSpPr>
          <p:cNvPr id="24" name="Shape 22"/>
          <p:cNvSpPr/>
          <p:nvPr/>
        </p:nvSpPr>
        <p:spPr>
          <a:xfrm>
            <a:off x="822960" y="3383280"/>
            <a:ext cx="2057400" cy="658368"/>
          </a:xfrm>
          <a:prstGeom prst="roundRect">
            <a:avLst>
              <a:gd name="adj" fmla="val 11111"/>
            </a:avLst>
          </a:prstGeom>
          <a:solidFill>
            <a:srgbClr val="FFFFFF"/>
          </a:solidFill>
          <a:ln w="12700">
            <a:solidFill>
              <a:srgbClr val="E8E2DE"/>
            </a:solidFill>
            <a:prstDash val="solid"/>
          </a:ln>
        </p:spPr>
      </p:sp>
      <p:sp>
        <p:nvSpPr>
          <p:cNvPr id="25" name="Text 23"/>
          <p:cNvSpPr/>
          <p:nvPr/>
        </p:nvSpPr>
        <p:spPr>
          <a:xfrm>
            <a:off x="1005840" y="3593592"/>
            <a:ext cx="1691640" cy="164592"/>
          </a:xfrm>
          <a:prstGeom prst="rect">
            <a:avLst/>
          </a:prstGeom>
          <a:noFill/>
          <a:ln/>
        </p:spPr>
        <p:txBody>
          <a:bodyPr wrap="square" lIns="0" tIns="0" rIns="0" bIns="0" rtlCol="0" anchor="ctr">
            <a:normAutofit/>
          </a:bodyPr>
          <a:lstStyle/>
          <a:p>
            <a:pPr marL="0" indent="0" algn="ctr">
              <a:buNone/>
            </a:pPr>
            <a:r>
              <a:rPr lang="en-US" sz="980" b="1" dirty="0">
                <a:solidFill>
                  <a:srgbClr val="2563EB"/>
                </a:solidFill>
              </a:rPr>
              <a:t>Activity</a:t>
            </a:r>
            <a:endParaRPr lang="en-US" sz="980" dirty="0"/>
          </a:p>
        </p:txBody>
      </p:sp>
      <p:sp>
        <p:nvSpPr>
          <p:cNvPr id="26" name="Text 24"/>
          <p:cNvSpPr/>
          <p:nvPr/>
        </p:nvSpPr>
        <p:spPr>
          <a:xfrm>
            <a:off x="1097280" y="5212080"/>
            <a:ext cx="9784080" cy="320040"/>
          </a:xfrm>
          <a:prstGeom prst="rect">
            <a:avLst/>
          </a:prstGeom>
          <a:noFill/>
          <a:ln/>
        </p:spPr>
        <p:txBody>
          <a:bodyPr wrap="square" lIns="0" tIns="0" rIns="0" bIns="0" rtlCol="0" anchor="ctr">
            <a:normAutofit/>
          </a:bodyPr>
          <a:lstStyle/>
          <a:p>
            <a:pPr marL="0" indent="0" algn="ctr">
              <a:buNone/>
            </a:pPr>
            <a:r>
              <a:rPr lang="en-US" sz="1500" b="1" dirty="0">
                <a:solidFill>
                  <a:srgbClr val="152238"/>
                </a:solidFill>
              </a:rPr>
              <a:t>Goal: make your profile discoverable, credible, and connected to your target role.</a:t>
            </a:r>
            <a:endParaRPr lang="en-US" sz="1500" dirty="0"/>
          </a:p>
        </p:txBody>
      </p:sp>
      <p:sp>
        <p:nvSpPr>
          <p:cNvPr id="28" name="Text 25"/>
          <p:cNvSpPr/>
          <p:nvPr/>
        </p:nvSpPr>
        <p:spPr>
          <a:xfrm>
            <a:off x="411480" y="6510528"/>
            <a:ext cx="6400800" cy="164592"/>
          </a:xfrm>
          <a:prstGeom prst="rect">
            <a:avLst/>
          </a:prstGeom>
          <a:noFill/>
          <a:ln/>
        </p:spPr>
        <p:txBody>
          <a:bodyPr wrap="square" lIns="0" tIns="0" rIns="0" bIns="0" rtlCol="0" anchor="ctr"/>
          <a:lstStyle/>
          <a:p>
            <a:pPr marL="0" indent="0">
              <a:buNone/>
            </a:pPr>
            <a:r>
              <a:rPr lang="en-US" sz="600" dirty="0">
                <a:solidFill>
                  <a:srgbClr val="7C7C7C"/>
                </a:solidFill>
                <a:latin typeface="Aptos" pitchFamily="34" charset="0"/>
                <a:ea typeface="Aptos" pitchFamily="34" charset="-122"/>
                <a:cs typeface="Aptos" pitchFamily="34" charset="-120"/>
              </a:rPr>
              <a:t>What's Next After Graduation?  |  Farah Kerbaj</a:t>
            </a:r>
            <a:endParaRPr lang="en-US" sz="600" dirty="0"/>
          </a:p>
        </p:txBody>
      </p:sp>
      <p:sp>
        <p:nvSpPr>
          <p:cNvPr id="29" name="Text 26"/>
          <p:cNvSpPr/>
          <p:nvPr/>
        </p:nvSpPr>
        <p:spPr>
          <a:xfrm>
            <a:off x="11430000" y="6473952"/>
            <a:ext cx="320040" cy="182880"/>
          </a:xfrm>
          <a:prstGeom prst="rect">
            <a:avLst/>
          </a:prstGeom>
          <a:noFill/>
          <a:ln/>
        </p:spPr>
        <p:txBody>
          <a:bodyPr wrap="square" lIns="0" tIns="0" rIns="0" bIns="0" rtlCol="0" anchor="ctr"/>
          <a:lstStyle/>
          <a:p>
            <a:pPr marL="0" indent="0" algn="r">
              <a:buNone/>
            </a:pPr>
            <a:r>
              <a:rPr lang="en-US" sz="700" dirty="0">
                <a:solidFill>
                  <a:srgbClr val="7C7C7C"/>
                </a:solidFill>
              </a:rPr>
              <a:t>23</a:t>
            </a:r>
            <a:endParaRPr lang="en-US" sz="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4F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F2"/>
          </a:solidFill>
          <a:ln w="12700">
            <a:solidFill>
              <a:srgbClr val="F7F4F2">
                <a:alpha val="0"/>
              </a:srgbClr>
            </a:solidFill>
            <a:prstDash val="solid"/>
          </a:ln>
        </p:spPr>
      </p:sp>
      <p:sp>
        <p:nvSpPr>
          <p:cNvPr id="3" name="Shape 1"/>
          <p:cNvSpPr/>
          <p:nvPr/>
        </p:nvSpPr>
        <p:spPr>
          <a:xfrm>
            <a:off x="0" y="0"/>
            <a:ext cx="12191695" cy="73152"/>
          </a:xfrm>
          <a:prstGeom prst="rect">
            <a:avLst/>
          </a:prstGeom>
          <a:solidFill>
            <a:srgbClr val="7C3AED"/>
          </a:solidFill>
          <a:ln w="12700">
            <a:solidFill>
              <a:srgbClr val="7C3AED"/>
            </a:solidFill>
            <a:prstDash val="solid"/>
          </a:ln>
        </p:spPr>
      </p:sp>
      <p:sp>
        <p:nvSpPr>
          <p:cNvPr id="4" name="Text 2"/>
          <p:cNvSpPr/>
          <p:nvPr/>
        </p:nvSpPr>
        <p:spPr>
          <a:xfrm>
            <a:off x="667512" y="274320"/>
            <a:ext cx="7315200" cy="201168"/>
          </a:xfrm>
          <a:prstGeom prst="rect">
            <a:avLst/>
          </a:prstGeom>
          <a:noFill/>
          <a:ln/>
        </p:spPr>
        <p:txBody>
          <a:bodyPr wrap="square" lIns="0" tIns="0" rIns="0" bIns="0" rtlCol="0" anchor="ctr"/>
          <a:lstStyle/>
          <a:p>
            <a:pPr marL="0" indent="0">
              <a:buNone/>
            </a:pPr>
            <a:r>
              <a:rPr lang="en-US" sz="750" b="1" dirty="0">
                <a:solidFill>
                  <a:srgbClr val="7C3AED"/>
                </a:solidFill>
              </a:rPr>
              <a:t>LINKEDIN HEADLINE</a:t>
            </a:r>
            <a:endParaRPr lang="en-US" sz="750" dirty="0"/>
          </a:p>
        </p:txBody>
      </p:sp>
      <p:sp>
        <p:nvSpPr>
          <p:cNvPr id="5" name="Text 3"/>
          <p:cNvSpPr/>
          <p:nvPr/>
        </p:nvSpPr>
        <p:spPr>
          <a:xfrm>
            <a:off x="640080" y="502920"/>
            <a:ext cx="10881360" cy="438912"/>
          </a:xfrm>
          <a:prstGeom prst="rect">
            <a:avLst/>
          </a:prstGeom>
          <a:noFill/>
          <a:ln/>
        </p:spPr>
        <p:txBody>
          <a:bodyPr wrap="square" lIns="0" tIns="0" rIns="0" bIns="0" rtlCol="0" anchor="ctr">
            <a:normAutofit/>
          </a:bodyPr>
          <a:lstStyle/>
          <a:p>
            <a:pPr marL="0" indent="0">
              <a:buNone/>
            </a:pPr>
            <a:r>
              <a:rPr lang="en-US" sz="2500" b="1" dirty="0">
                <a:solidFill>
                  <a:srgbClr val="111827"/>
                </a:solidFill>
                <a:latin typeface="Aptos Display" pitchFamily="34" charset="0"/>
                <a:ea typeface="Aptos Display" pitchFamily="34" charset="-122"/>
                <a:cs typeface="Aptos Display" pitchFamily="34" charset="-120"/>
              </a:rPr>
              <a:t>Don’t Let LinkedIn Choose Your Identity</a:t>
            </a:r>
            <a:endParaRPr lang="en-US" sz="2500" dirty="0"/>
          </a:p>
        </p:txBody>
      </p:sp>
      <p:sp>
        <p:nvSpPr>
          <p:cNvPr id="6" name="Text 4"/>
          <p:cNvSpPr/>
          <p:nvPr/>
        </p:nvSpPr>
        <p:spPr>
          <a:xfrm>
            <a:off x="667512" y="987552"/>
            <a:ext cx="10424160" cy="256032"/>
          </a:xfrm>
          <a:prstGeom prst="rect">
            <a:avLst/>
          </a:prstGeom>
          <a:noFill/>
          <a:ln/>
        </p:spPr>
        <p:txBody>
          <a:bodyPr wrap="square" lIns="0" tIns="0" rIns="0" bIns="0" rtlCol="0" anchor="ctr"/>
          <a:lstStyle/>
          <a:p>
            <a:pPr marL="0" indent="0">
              <a:buNone/>
            </a:pPr>
            <a:r>
              <a:rPr lang="en-US" sz="950" dirty="0">
                <a:solidFill>
                  <a:srgbClr val="5B6472"/>
                </a:solidFill>
              </a:rPr>
              <a:t>Your headline should be searched, understood, and remembered</a:t>
            </a:r>
            <a:endParaRPr lang="en-US" sz="950" dirty="0"/>
          </a:p>
        </p:txBody>
      </p:sp>
      <p:sp>
        <p:nvSpPr>
          <p:cNvPr id="7" name="Shape 5"/>
          <p:cNvSpPr/>
          <p:nvPr/>
        </p:nvSpPr>
        <p:spPr>
          <a:xfrm>
            <a:off x="640080" y="1325880"/>
            <a:ext cx="10881360" cy="0"/>
          </a:xfrm>
          <a:prstGeom prst="line">
            <a:avLst/>
          </a:prstGeom>
          <a:noFill/>
          <a:ln w="12700">
            <a:solidFill>
              <a:srgbClr val="D6D3D1"/>
            </a:solidFill>
            <a:prstDash val="solid"/>
          </a:ln>
        </p:spPr>
      </p:sp>
      <p:sp>
        <p:nvSpPr>
          <p:cNvPr id="8" name="Shape 6"/>
          <p:cNvSpPr/>
          <p:nvPr/>
        </p:nvSpPr>
        <p:spPr>
          <a:xfrm>
            <a:off x="822960" y="1600200"/>
            <a:ext cx="5029200" cy="3383280"/>
          </a:xfrm>
          <a:prstGeom prst="roundRect">
            <a:avLst>
              <a:gd name="adj" fmla="val 2162"/>
            </a:avLst>
          </a:prstGeom>
          <a:solidFill>
            <a:srgbClr val="FEE2E2"/>
          </a:solidFill>
          <a:ln w="12700">
            <a:solidFill>
              <a:srgbClr val="E8E2DE"/>
            </a:solidFill>
            <a:prstDash val="solid"/>
          </a:ln>
        </p:spPr>
      </p:sp>
      <p:sp>
        <p:nvSpPr>
          <p:cNvPr id="9" name="Shape 7"/>
          <p:cNvSpPr/>
          <p:nvPr/>
        </p:nvSpPr>
        <p:spPr>
          <a:xfrm>
            <a:off x="6309360" y="1600200"/>
            <a:ext cx="5029200" cy="3383280"/>
          </a:xfrm>
          <a:prstGeom prst="roundRect">
            <a:avLst>
              <a:gd name="adj" fmla="val 2162"/>
            </a:avLst>
          </a:prstGeom>
          <a:solidFill>
            <a:srgbClr val="EDE9FE"/>
          </a:solidFill>
          <a:ln w="12700">
            <a:solidFill>
              <a:srgbClr val="E8E2DE"/>
            </a:solidFill>
            <a:prstDash val="solid"/>
          </a:ln>
        </p:spPr>
      </p:sp>
      <p:sp>
        <p:nvSpPr>
          <p:cNvPr id="10" name="Text 8"/>
          <p:cNvSpPr/>
          <p:nvPr/>
        </p:nvSpPr>
        <p:spPr>
          <a:xfrm>
            <a:off x="1051560" y="1874520"/>
            <a:ext cx="1005840" cy="182880"/>
          </a:xfrm>
          <a:prstGeom prst="rect">
            <a:avLst/>
          </a:prstGeom>
          <a:noFill/>
          <a:ln/>
        </p:spPr>
        <p:txBody>
          <a:bodyPr wrap="square" lIns="0" tIns="0" rIns="0" bIns="0" rtlCol="0" anchor="ctr"/>
          <a:lstStyle/>
          <a:p>
            <a:pPr marL="0" indent="0">
              <a:buNone/>
            </a:pPr>
            <a:r>
              <a:rPr lang="en-US" sz="1000" b="1" dirty="0">
                <a:solidFill>
                  <a:srgbClr val="FF6B4A"/>
                </a:solidFill>
              </a:rPr>
              <a:t>AVOID</a:t>
            </a:r>
            <a:endParaRPr lang="en-US" sz="1000" dirty="0"/>
          </a:p>
        </p:txBody>
      </p:sp>
      <p:sp>
        <p:nvSpPr>
          <p:cNvPr id="11" name="Text 9"/>
          <p:cNvSpPr/>
          <p:nvPr/>
        </p:nvSpPr>
        <p:spPr>
          <a:xfrm>
            <a:off x="1051560" y="2468880"/>
            <a:ext cx="4297680" cy="731520"/>
          </a:xfrm>
          <a:prstGeom prst="rect">
            <a:avLst/>
          </a:prstGeom>
          <a:noFill/>
          <a:ln/>
        </p:spPr>
        <p:txBody>
          <a:bodyPr wrap="square" lIns="0" tIns="0" rIns="0" bIns="0" rtlCol="0" anchor="ctr">
            <a:normAutofit/>
          </a:bodyPr>
          <a:lstStyle/>
          <a:p>
            <a:pPr marL="0" indent="0">
              <a:buNone/>
            </a:pPr>
            <a:r>
              <a:rPr lang="en-US" sz="1600" dirty="0">
                <a:solidFill>
                  <a:srgbClr val="111827"/>
                </a:solidFill>
              </a:rPr>
              <a:t>Student at X University</a:t>
            </a:r>
            <a:endParaRPr lang="en-US" sz="1600" dirty="0"/>
          </a:p>
          <a:p>
            <a:pPr marL="0" indent="0">
              <a:buNone/>
            </a:pPr>
            <a:r>
              <a:rPr lang="en-US" sz="1600" dirty="0">
                <a:solidFill>
                  <a:srgbClr val="111827"/>
                </a:solidFill>
              </a:rPr>
              <a:t>Fresh Graduate</a:t>
            </a:r>
            <a:endParaRPr lang="en-US" sz="1600" dirty="0"/>
          </a:p>
          <a:p>
            <a:pPr marL="0" indent="0">
              <a:buNone/>
            </a:pPr>
            <a:r>
              <a:rPr lang="en-US" sz="1600" dirty="0">
                <a:solidFill>
                  <a:srgbClr val="111827"/>
                </a:solidFill>
              </a:rPr>
              <a:t>Looking for Opportunities</a:t>
            </a:r>
            <a:endParaRPr lang="en-US" sz="1600" dirty="0"/>
          </a:p>
        </p:txBody>
      </p:sp>
      <p:sp>
        <p:nvSpPr>
          <p:cNvPr id="12" name="Text 10"/>
          <p:cNvSpPr/>
          <p:nvPr/>
        </p:nvSpPr>
        <p:spPr>
          <a:xfrm>
            <a:off x="6537960" y="1874520"/>
            <a:ext cx="914400" cy="182880"/>
          </a:xfrm>
          <a:prstGeom prst="rect">
            <a:avLst/>
          </a:prstGeom>
          <a:noFill/>
          <a:ln/>
        </p:spPr>
        <p:txBody>
          <a:bodyPr wrap="square" lIns="0" tIns="0" rIns="0" bIns="0" rtlCol="0" anchor="ctr"/>
          <a:lstStyle/>
          <a:p>
            <a:pPr marL="0" indent="0">
              <a:buNone/>
            </a:pPr>
            <a:r>
              <a:rPr lang="en-US" sz="1000" b="1" dirty="0">
                <a:solidFill>
                  <a:srgbClr val="7C3AED"/>
                </a:solidFill>
              </a:rPr>
              <a:t>USE</a:t>
            </a:r>
            <a:endParaRPr lang="en-US" sz="1000" dirty="0"/>
          </a:p>
        </p:txBody>
      </p:sp>
      <p:sp>
        <p:nvSpPr>
          <p:cNvPr id="13" name="Text 11"/>
          <p:cNvSpPr/>
          <p:nvPr/>
        </p:nvSpPr>
        <p:spPr>
          <a:xfrm>
            <a:off x="6537960" y="2331720"/>
            <a:ext cx="4297680" cy="292608"/>
          </a:xfrm>
          <a:prstGeom prst="rect">
            <a:avLst/>
          </a:prstGeom>
          <a:noFill/>
          <a:ln/>
        </p:spPr>
        <p:txBody>
          <a:bodyPr wrap="square" lIns="0" tIns="0" rIns="0" bIns="0" rtlCol="0" anchor="ctr">
            <a:normAutofit/>
          </a:bodyPr>
          <a:lstStyle/>
          <a:p>
            <a:pPr marL="0" indent="0">
              <a:buNone/>
            </a:pPr>
            <a:r>
              <a:rPr lang="en-US" sz="1200" b="1" dirty="0">
                <a:solidFill>
                  <a:srgbClr val="111827"/>
                </a:solidFill>
              </a:rPr>
              <a:t>Target Role | Stack / Skills | Proof Direction</a:t>
            </a:r>
            <a:endParaRPr lang="en-US" sz="1200" dirty="0"/>
          </a:p>
        </p:txBody>
      </p:sp>
      <p:sp>
        <p:nvSpPr>
          <p:cNvPr id="14" name="Text 12"/>
          <p:cNvSpPr/>
          <p:nvPr/>
        </p:nvSpPr>
        <p:spPr>
          <a:xfrm>
            <a:off x="6537960" y="2816352"/>
            <a:ext cx="4297680" cy="749808"/>
          </a:xfrm>
          <a:prstGeom prst="rect">
            <a:avLst/>
          </a:prstGeom>
          <a:noFill/>
          <a:ln/>
        </p:spPr>
        <p:txBody>
          <a:bodyPr wrap="square" lIns="0" tIns="0" rIns="0" bIns="0" rtlCol="0" anchor="ctr">
            <a:normAutofit/>
          </a:bodyPr>
          <a:lstStyle/>
          <a:p>
            <a:pPr marL="0" indent="0">
              <a:buNone/>
            </a:pPr>
            <a:r>
              <a:rPr lang="en-US" sz="950" dirty="0">
                <a:solidFill>
                  <a:srgbClr val="111827"/>
                </a:solidFill>
              </a:rPr>
              <a:t>Junior Backend Engineer | Java • Spring Boot • SQL • REST APIs</a:t>
            </a:r>
            <a:endParaRPr lang="en-US" sz="950" dirty="0"/>
          </a:p>
          <a:p>
            <a:pPr marL="0" indent="0">
              <a:buNone/>
            </a:pPr>
            <a:r>
              <a:rPr lang="en-US" sz="950" dirty="0">
                <a:solidFill>
                  <a:srgbClr val="111827"/>
                </a:solidFill>
              </a:rPr>
              <a:t>AI Engineer | Python • LLMs • RAG • LangChain</a:t>
            </a:r>
            <a:endParaRPr lang="en-US" sz="950" dirty="0"/>
          </a:p>
          <a:p>
            <a:pPr marL="0" indent="0">
              <a:buNone/>
            </a:pPr>
            <a:r>
              <a:rPr lang="en-US" sz="950" dirty="0">
                <a:solidFill>
                  <a:srgbClr val="111827"/>
                </a:solidFill>
              </a:rPr>
              <a:t>Frontend Developer | React • Next.js • TypeScript</a:t>
            </a:r>
            <a:endParaRPr lang="en-US" sz="950" dirty="0"/>
          </a:p>
        </p:txBody>
      </p:sp>
      <p:sp>
        <p:nvSpPr>
          <p:cNvPr id="16" name="Text 13"/>
          <p:cNvSpPr/>
          <p:nvPr/>
        </p:nvSpPr>
        <p:spPr>
          <a:xfrm>
            <a:off x="411480" y="6510528"/>
            <a:ext cx="6400800" cy="164592"/>
          </a:xfrm>
          <a:prstGeom prst="rect">
            <a:avLst/>
          </a:prstGeom>
          <a:noFill/>
          <a:ln/>
        </p:spPr>
        <p:txBody>
          <a:bodyPr wrap="square" lIns="0" tIns="0" rIns="0" bIns="0" rtlCol="0" anchor="ctr"/>
          <a:lstStyle/>
          <a:p>
            <a:pPr marL="0" indent="0">
              <a:buNone/>
            </a:pPr>
            <a:r>
              <a:rPr lang="en-US" sz="600" dirty="0">
                <a:solidFill>
                  <a:srgbClr val="7C7C7C"/>
                </a:solidFill>
                <a:latin typeface="Aptos" pitchFamily="34" charset="0"/>
                <a:ea typeface="Aptos" pitchFamily="34" charset="-122"/>
                <a:cs typeface="Aptos" pitchFamily="34" charset="-120"/>
              </a:rPr>
              <a:t>What's Next After Graduation?  |  Farah Kerbaj</a:t>
            </a:r>
            <a:endParaRPr lang="en-US" sz="600" dirty="0"/>
          </a:p>
        </p:txBody>
      </p:sp>
      <p:sp>
        <p:nvSpPr>
          <p:cNvPr id="17" name="Text 14"/>
          <p:cNvSpPr/>
          <p:nvPr/>
        </p:nvSpPr>
        <p:spPr>
          <a:xfrm>
            <a:off x="11430000" y="6473952"/>
            <a:ext cx="320040" cy="182880"/>
          </a:xfrm>
          <a:prstGeom prst="rect">
            <a:avLst/>
          </a:prstGeom>
          <a:noFill/>
          <a:ln/>
        </p:spPr>
        <p:txBody>
          <a:bodyPr wrap="square" lIns="0" tIns="0" rIns="0" bIns="0" rtlCol="0" anchor="ctr"/>
          <a:lstStyle/>
          <a:p>
            <a:pPr marL="0" indent="0" algn="r">
              <a:buNone/>
            </a:pPr>
            <a:r>
              <a:rPr lang="en-US" sz="700" dirty="0">
                <a:solidFill>
                  <a:srgbClr val="7C7C7C"/>
                </a:solidFill>
              </a:rPr>
              <a:t>24</a:t>
            </a:r>
            <a:endParaRPr lang="en-US" sz="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4F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F2"/>
          </a:solidFill>
          <a:ln w="12700">
            <a:solidFill>
              <a:srgbClr val="F7F4F2">
                <a:alpha val="0"/>
              </a:srgbClr>
            </a:solidFill>
            <a:prstDash val="solid"/>
          </a:ln>
        </p:spPr>
      </p:sp>
      <p:sp>
        <p:nvSpPr>
          <p:cNvPr id="3" name="Shape 1"/>
          <p:cNvSpPr/>
          <p:nvPr/>
        </p:nvSpPr>
        <p:spPr>
          <a:xfrm>
            <a:off x="0" y="0"/>
            <a:ext cx="12191695" cy="73152"/>
          </a:xfrm>
          <a:prstGeom prst="rect">
            <a:avLst/>
          </a:prstGeom>
          <a:solidFill>
            <a:srgbClr val="10B981"/>
          </a:solidFill>
          <a:ln w="12700">
            <a:solidFill>
              <a:srgbClr val="10B981"/>
            </a:solidFill>
            <a:prstDash val="solid"/>
          </a:ln>
        </p:spPr>
      </p:sp>
      <p:sp>
        <p:nvSpPr>
          <p:cNvPr id="4" name="Text 2"/>
          <p:cNvSpPr/>
          <p:nvPr/>
        </p:nvSpPr>
        <p:spPr>
          <a:xfrm>
            <a:off x="667512" y="274320"/>
            <a:ext cx="7315200" cy="201168"/>
          </a:xfrm>
          <a:prstGeom prst="rect">
            <a:avLst/>
          </a:prstGeom>
          <a:noFill/>
          <a:ln/>
        </p:spPr>
        <p:txBody>
          <a:bodyPr wrap="square" lIns="0" tIns="0" rIns="0" bIns="0" rtlCol="0" anchor="ctr"/>
          <a:lstStyle/>
          <a:p>
            <a:pPr marL="0" indent="0">
              <a:buNone/>
            </a:pPr>
            <a:r>
              <a:rPr lang="en-US" sz="750" b="1" dirty="0">
                <a:solidFill>
                  <a:srgbClr val="10B981"/>
                </a:solidFill>
              </a:rPr>
              <a:t>LINKEDIN ABOUT</a:t>
            </a:r>
            <a:endParaRPr lang="en-US" sz="750" dirty="0"/>
          </a:p>
        </p:txBody>
      </p:sp>
      <p:sp>
        <p:nvSpPr>
          <p:cNvPr id="5" name="Text 3"/>
          <p:cNvSpPr/>
          <p:nvPr/>
        </p:nvSpPr>
        <p:spPr>
          <a:xfrm>
            <a:off x="640080" y="502920"/>
            <a:ext cx="10881360" cy="438912"/>
          </a:xfrm>
          <a:prstGeom prst="rect">
            <a:avLst/>
          </a:prstGeom>
          <a:noFill/>
          <a:ln/>
        </p:spPr>
        <p:txBody>
          <a:bodyPr wrap="square" lIns="0" tIns="0" rIns="0" bIns="0" rtlCol="0" anchor="ctr">
            <a:normAutofit/>
          </a:bodyPr>
          <a:lstStyle/>
          <a:p>
            <a:pPr marL="0" indent="0">
              <a:buNone/>
            </a:pPr>
            <a:r>
              <a:rPr lang="en-US" sz="2500" b="1" dirty="0">
                <a:solidFill>
                  <a:srgbClr val="111827"/>
                </a:solidFill>
                <a:latin typeface="Aptos Display" pitchFamily="34" charset="0"/>
                <a:ea typeface="Aptos Display" pitchFamily="34" charset="-122"/>
                <a:cs typeface="Aptos Display" pitchFamily="34" charset="-120"/>
              </a:rPr>
              <a:t>About Section: Short, Human, Targeted</a:t>
            </a:r>
            <a:endParaRPr lang="en-US" sz="2500" dirty="0"/>
          </a:p>
        </p:txBody>
      </p:sp>
      <p:sp>
        <p:nvSpPr>
          <p:cNvPr id="6" name="Text 4"/>
          <p:cNvSpPr/>
          <p:nvPr/>
        </p:nvSpPr>
        <p:spPr>
          <a:xfrm>
            <a:off x="667512" y="987552"/>
            <a:ext cx="10424160" cy="256032"/>
          </a:xfrm>
          <a:prstGeom prst="rect">
            <a:avLst/>
          </a:prstGeom>
          <a:noFill/>
          <a:ln/>
        </p:spPr>
        <p:txBody>
          <a:bodyPr wrap="square" lIns="0" tIns="0" rIns="0" bIns="0" rtlCol="0" anchor="ctr"/>
          <a:lstStyle/>
          <a:p>
            <a:pPr marL="0" indent="0">
              <a:buNone/>
            </a:pPr>
            <a:r>
              <a:rPr lang="en-US" sz="950" dirty="0">
                <a:solidFill>
                  <a:srgbClr val="5B6472"/>
                </a:solidFill>
              </a:rPr>
              <a:t>Make it sound like you — but still searchable</a:t>
            </a:r>
            <a:endParaRPr lang="en-US" sz="950" dirty="0"/>
          </a:p>
        </p:txBody>
      </p:sp>
      <p:sp>
        <p:nvSpPr>
          <p:cNvPr id="7" name="Shape 5"/>
          <p:cNvSpPr/>
          <p:nvPr/>
        </p:nvSpPr>
        <p:spPr>
          <a:xfrm>
            <a:off x="640080" y="1325880"/>
            <a:ext cx="10881360" cy="0"/>
          </a:xfrm>
          <a:prstGeom prst="line">
            <a:avLst/>
          </a:prstGeom>
          <a:noFill/>
          <a:ln w="12700">
            <a:solidFill>
              <a:srgbClr val="D6D3D1"/>
            </a:solidFill>
            <a:prstDash val="solid"/>
          </a:ln>
        </p:spPr>
      </p:sp>
      <p:sp>
        <p:nvSpPr>
          <p:cNvPr id="8" name="Shape 6"/>
          <p:cNvSpPr/>
          <p:nvPr/>
        </p:nvSpPr>
        <p:spPr>
          <a:xfrm>
            <a:off x="914400" y="1600200"/>
            <a:ext cx="10241280" cy="3886200"/>
          </a:xfrm>
          <a:prstGeom prst="roundRect">
            <a:avLst>
              <a:gd name="adj" fmla="val 1882"/>
            </a:avLst>
          </a:prstGeom>
          <a:solidFill>
            <a:srgbClr val="FFFFFF"/>
          </a:solidFill>
          <a:ln w="12700">
            <a:solidFill>
              <a:srgbClr val="E8E2DE"/>
            </a:solidFill>
            <a:prstDash val="solid"/>
          </a:ln>
        </p:spPr>
      </p:sp>
      <p:sp>
        <p:nvSpPr>
          <p:cNvPr id="9" name="Text 7"/>
          <p:cNvSpPr/>
          <p:nvPr/>
        </p:nvSpPr>
        <p:spPr>
          <a:xfrm>
            <a:off x="1234440" y="1920240"/>
            <a:ext cx="2377440" cy="228600"/>
          </a:xfrm>
          <a:prstGeom prst="rect">
            <a:avLst/>
          </a:prstGeom>
          <a:noFill/>
          <a:ln/>
        </p:spPr>
        <p:txBody>
          <a:bodyPr wrap="square" lIns="0" tIns="0" rIns="0" bIns="0" rtlCol="0" anchor="ctr"/>
          <a:lstStyle/>
          <a:p>
            <a:pPr marL="0" indent="0">
              <a:buNone/>
            </a:pPr>
            <a:r>
              <a:rPr lang="en-US" sz="1500" b="1" dirty="0">
                <a:solidFill>
                  <a:srgbClr val="10B981"/>
                </a:solidFill>
              </a:rPr>
              <a:t>Simple Formula</a:t>
            </a:r>
            <a:endParaRPr lang="en-US" sz="1500" dirty="0"/>
          </a:p>
        </p:txBody>
      </p:sp>
      <p:sp>
        <p:nvSpPr>
          <p:cNvPr id="10" name="Text 8"/>
          <p:cNvSpPr/>
          <p:nvPr/>
        </p:nvSpPr>
        <p:spPr>
          <a:xfrm>
            <a:off x="1234440" y="2423160"/>
            <a:ext cx="137160" cy="164592"/>
          </a:xfrm>
          <a:prstGeom prst="rect">
            <a:avLst/>
          </a:prstGeom>
          <a:noFill/>
          <a:ln/>
        </p:spPr>
        <p:txBody>
          <a:bodyPr wrap="square" lIns="0" tIns="0" rIns="0" bIns="0" rtlCol="0" anchor="ctr"/>
          <a:lstStyle/>
          <a:p>
            <a:pPr marL="0" indent="0">
              <a:buNone/>
            </a:pPr>
            <a:r>
              <a:rPr lang="en-US" sz="1000" dirty="0">
                <a:solidFill>
                  <a:srgbClr val="10B981"/>
                </a:solidFill>
              </a:rPr>
              <a:t>•</a:t>
            </a:r>
            <a:endParaRPr lang="en-US" sz="1000" dirty="0"/>
          </a:p>
        </p:txBody>
      </p:sp>
      <p:sp>
        <p:nvSpPr>
          <p:cNvPr id="11" name="Text 9"/>
          <p:cNvSpPr/>
          <p:nvPr/>
        </p:nvSpPr>
        <p:spPr>
          <a:xfrm>
            <a:off x="1435608" y="2432304"/>
            <a:ext cx="3639312" cy="201168"/>
          </a:xfrm>
          <a:prstGeom prst="rect">
            <a:avLst/>
          </a:prstGeom>
          <a:noFill/>
          <a:ln/>
        </p:spPr>
        <p:txBody>
          <a:bodyPr wrap="square" lIns="0" tIns="0" rIns="0" bIns="0" rtlCol="0" anchor="ctr">
            <a:normAutofit/>
          </a:bodyPr>
          <a:lstStyle/>
          <a:p>
            <a:pPr marL="0" indent="0">
              <a:buNone/>
            </a:pPr>
            <a:r>
              <a:rPr lang="en-US" sz="920" dirty="0">
                <a:solidFill>
                  <a:srgbClr val="111827"/>
                </a:solidFill>
              </a:rPr>
              <a:t>Who you are</a:t>
            </a:r>
            <a:endParaRPr lang="en-US" sz="920" dirty="0"/>
          </a:p>
        </p:txBody>
      </p:sp>
      <p:sp>
        <p:nvSpPr>
          <p:cNvPr id="12" name="Text 10"/>
          <p:cNvSpPr/>
          <p:nvPr/>
        </p:nvSpPr>
        <p:spPr>
          <a:xfrm>
            <a:off x="1234440" y="2825496"/>
            <a:ext cx="137160" cy="164592"/>
          </a:xfrm>
          <a:prstGeom prst="rect">
            <a:avLst/>
          </a:prstGeom>
          <a:noFill/>
          <a:ln/>
        </p:spPr>
        <p:txBody>
          <a:bodyPr wrap="square" lIns="0" tIns="0" rIns="0" bIns="0" rtlCol="0" anchor="ctr"/>
          <a:lstStyle/>
          <a:p>
            <a:pPr marL="0" indent="0">
              <a:buNone/>
            </a:pPr>
            <a:r>
              <a:rPr lang="en-US" sz="1000" dirty="0">
                <a:solidFill>
                  <a:srgbClr val="10B981"/>
                </a:solidFill>
              </a:rPr>
              <a:t>•</a:t>
            </a:r>
            <a:endParaRPr lang="en-US" sz="1000" dirty="0"/>
          </a:p>
        </p:txBody>
      </p:sp>
      <p:sp>
        <p:nvSpPr>
          <p:cNvPr id="13" name="Text 11"/>
          <p:cNvSpPr/>
          <p:nvPr/>
        </p:nvSpPr>
        <p:spPr>
          <a:xfrm>
            <a:off x="1435608" y="2834640"/>
            <a:ext cx="3639312" cy="201168"/>
          </a:xfrm>
          <a:prstGeom prst="rect">
            <a:avLst/>
          </a:prstGeom>
          <a:noFill/>
          <a:ln/>
        </p:spPr>
        <p:txBody>
          <a:bodyPr wrap="square" lIns="0" tIns="0" rIns="0" bIns="0" rtlCol="0" anchor="ctr">
            <a:normAutofit/>
          </a:bodyPr>
          <a:lstStyle/>
          <a:p>
            <a:pPr marL="0" indent="0">
              <a:buNone/>
            </a:pPr>
            <a:r>
              <a:rPr lang="en-US" sz="920" dirty="0">
                <a:solidFill>
                  <a:srgbClr val="111827"/>
                </a:solidFill>
              </a:rPr>
              <a:t>What you build / do</a:t>
            </a:r>
            <a:endParaRPr lang="en-US" sz="920" dirty="0"/>
          </a:p>
        </p:txBody>
      </p:sp>
      <p:sp>
        <p:nvSpPr>
          <p:cNvPr id="14" name="Text 12"/>
          <p:cNvSpPr/>
          <p:nvPr/>
        </p:nvSpPr>
        <p:spPr>
          <a:xfrm>
            <a:off x="1234440" y="3227832"/>
            <a:ext cx="137160" cy="164592"/>
          </a:xfrm>
          <a:prstGeom prst="rect">
            <a:avLst/>
          </a:prstGeom>
          <a:noFill/>
          <a:ln/>
        </p:spPr>
        <p:txBody>
          <a:bodyPr wrap="square" lIns="0" tIns="0" rIns="0" bIns="0" rtlCol="0" anchor="ctr"/>
          <a:lstStyle/>
          <a:p>
            <a:pPr marL="0" indent="0">
              <a:buNone/>
            </a:pPr>
            <a:r>
              <a:rPr lang="en-US" sz="1000" dirty="0">
                <a:solidFill>
                  <a:srgbClr val="10B981"/>
                </a:solidFill>
              </a:rPr>
              <a:t>•</a:t>
            </a:r>
            <a:endParaRPr lang="en-US" sz="1000" dirty="0"/>
          </a:p>
        </p:txBody>
      </p:sp>
      <p:sp>
        <p:nvSpPr>
          <p:cNvPr id="15" name="Text 13"/>
          <p:cNvSpPr/>
          <p:nvPr/>
        </p:nvSpPr>
        <p:spPr>
          <a:xfrm>
            <a:off x="1435608" y="3236976"/>
            <a:ext cx="3639312" cy="201168"/>
          </a:xfrm>
          <a:prstGeom prst="rect">
            <a:avLst/>
          </a:prstGeom>
          <a:noFill/>
          <a:ln/>
        </p:spPr>
        <p:txBody>
          <a:bodyPr wrap="square" lIns="0" tIns="0" rIns="0" bIns="0" rtlCol="0" anchor="ctr">
            <a:normAutofit/>
          </a:bodyPr>
          <a:lstStyle/>
          <a:p>
            <a:pPr marL="0" indent="0">
              <a:buNone/>
            </a:pPr>
            <a:r>
              <a:rPr lang="en-US" sz="920" dirty="0">
                <a:solidFill>
                  <a:srgbClr val="111827"/>
                </a:solidFill>
              </a:rPr>
              <a:t>Tools and skills</a:t>
            </a:r>
            <a:endParaRPr lang="en-US" sz="920" dirty="0"/>
          </a:p>
        </p:txBody>
      </p:sp>
      <p:sp>
        <p:nvSpPr>
          <p:cNvPr id="16" name="Text 14"/>
          <p:cNvSpPr/>
          <p:nvPr/>
        </p:nvSpPr>
        <p:spPr>
          <a:xfrm>
            <a:off x="1234440" y="3630168"/>
            <a:ext cx="137160" cy="164592"/>
          </a:xfrm>
          <a:prstGeom prst="rect">
            <a:avLst/>
          </a:prstGeom>
          <a:noFill/>
          <a:ln/>
        </p:spPr>
        <p:txBody>
          <a:bodyPr wrap="square" lIns="0" tIns="0" rIns="0" bIns="0" rtlCol="0" anchor="ctr"/>
          <a:lstStyle/>
          <a:p>
            <a:pPr marL="0" indent="0">
              <a:buNone/>
            </a:pPr>
            <a:r>
              <a:rPr lang="en-US" sz="1000" dirty="0">
                <a:solidFill>
                  <a:srgbClr val="10B981"/>
                </a:solidFill>
              </a:rPr>
              <a:t>•</a:t>
            </a:r>
            <a:endParaRPr lang="en-US" sz="1000" dirty="0"/>
          </a:p>
        </p:txBody>
      </p:sp>
      <p:sp>
        <p:nvSpPr>
          <p:cNvPr id="17" name="Text 15"/>
          <p:cNvSpPr/>
          <p:nvPr/>
        </p:nvSpPr>
        <p:spPr>
          <a:xfrm>
            <a:off x="1435608" y="3639312"/>
            <a:ext cx="3639312" cy="201168"/>
          </a:xfrm>
          <a:prstGeom prst="rect">
            <a:avLst/>
          </a:prstGeom>
          <a:noFill/>
          <a:ln/>
        </p:spPr>
        <p:txBody>
          <a:bodyPr wrap="square" lIns="0" tIns="0" rIns="0" bIns="0" rtlCol="0" anchor="ctr">
            <a:normAutofit/>
          </a:bodyPr>
          <a:lstStyle/>
          <a:p>
            <a:pPr marL="0" indent="0">
              <a:buNone/>
            </a:pPr>
            <a:r>
              <a:rPr lang="en-US" sz="920" dirty="0">
                <a:solidFill>
                  <a:srgbClr val="111827"/>
                </a:solidFill>
              </a:rPr>
              <a:t>Proof: projects, internships, volunteering</a:t>
            </a:r>
            <a:endParaRPr lang="en-US" sz="920" dirty="0"/>
          </a:p>
        </p:txBody>
      </p:sp>
      <p:sp>
        <p:nvSpPr>
          <p:cNvPr id="18" name="Text 16"/>
          <p:cNvSpPr/>
          <p:nvPr/>
        </p:nvSpPr>
        <p:spPr>
          <a:xfrm>
            <a:off x="1234440" y="4032504"/>
            <a:ext cx="137160" cy="164592"/>
          </a:xfrm>
          <a:prstGeom prst="rect">
            <a:avLst/>
          </a:prstGeom>
          <a:noFill/>
          <a:ln/>
        </p:spPr>
        <p:txBody>
          <a:bodyPr wrap="square" lIns="0" tIns="0" rIns="0" bIns="0" rtlCol="0" anchor="ctr"/>
          <a:lstStyle/>
          <a:p>
            <a:pPr marL="0" indent="0">
              <a:buNone/>
            </a:pPr>
            <a:r>
              <a:rPr lang="en-US" sz="1000" dirty="0">
                <a:solidFill>
                  <a:srgbClr val="10B981"/>
                </a:solidFill>
              </a:rPr>
              <a:t>•</a:t>
            </a:r>
            <a:endParaRPr lang="en-US" sz="1000" dirty="0"/>
          </a:p>
        </p:txBody>
      </p:sp>
      <p:sp>
        <p:nvSpPr>
          <p:cNvPr id="19" name="Text 17"/>
          <p:cNvSpPr/>
          <p:nvPr/>
        </p:nvSpPr>
        <p:spPr>
          <a:xfrm>
            <a:off x="1435608" y="4041648"/>
            <a:ext cx="3639312" cy="201168"/>
          </a:xfrm>
          <a:prstGeom prst="rect">
            <a:avLst/>
          </a:prstGeom>
          <a:noFill/>
          <a:ln/>
        </p:spPr>
        <p:txBody>
          <a:bodyPr wrap="square" lIns="0" tIns="0" rIns="0" bIns="0" rtlCol="0" anchor="ctr">
            <a:normAutofit/>
          </a:bodyPr>
          <a:lstStyle/>
          <a:p>
            <a:pPr marL="0" indent="0">
              <a:buNone/>
            </a:pPr>
            <a:r>
              <a:rPr lang="en-US" sz="920" dirty="0">
                <a:solidFill>
                  <a:srgbClr val="111827"/>
                </a:solidFill>
              </a:rPr>
              <a:t>What you’re looking for next</a:t>
            </a:r>
            <a:endParaRPr lang="en-US" sz="920" dirty="0"/>
          </a:p>
        </p:txBody>
      </p:sp>
      <p:sp>
        <p:nvSpPr>
          <p:cNvPr id="20" name="Shape 18"/>
          <p:cNvSpPr/>
          <p:nvPr/>
        </p:nvSpPr>
        <p:spPr>
          <a:xfrm>
            <a:off x="5532120" y="1828800"/>
            <a:ext cx="0" cy="3246120"/>
          </a:xfrm>
          <a:prstGeom prst="line">
            <a:avLst/>
          </a:prstGeom>
          <a:noFill/>
          <a:ln w="12700">
            <a:solidFill>
              <a:srgbClr val="D6D3D1"/>
            </a:solidFill>
            <a:prstDash val="solid"/>
          </a:ln>
        </p:spPr>
      </p:sp>
      <p:sp>
        <p:nvSpPr>
          <p:cNvPr id="21" name="Text 19"/>
          <p:cNvSpPr/>
          <p:nvPr/>
        </p:nvSpPr>
        <p:spPr>
          <a:xfrm>
            <a:off x="5852160" y="1920240"/>
            <a:ext cx="2377440" cy="228600"/>
          </a:xfrm>
          <a:prstGeom prst="rect">
            <a:avLst/>
          </a:prstGeom>
          <a:noFill/>
          <a:ln/>
        </p:spPr>
        <p:txBody>
          <a:bodyPr wrap="square" lIns="0" tIns="0" rIns="0" bIns="0" rtlCol="0" anchor="ctr"/>
          <a:lstStyle/>
          <a:p>
            <a:pPr marL="0" indent="0">
              <a:buNone/>
            </a:pPr>
            <a:r>
              <a:rPr lang="en-US" sz="1500" b="1" dirty="0">
                <a:solidFill>
                  <a:srgbClr val="152238"/>
                </a:solidFill>
              </a:rPr>
              <a:t>Mini Example</a:t>
            </a:r>
            <a:endParaRPr lang="en-US" sz="1500" dirty="0"/>
          </a:p>
        </p:txBody>
      </p:sp>
      <p:sp>
        <p:nvSpPr>
          <p:cNvPr id="22" name="Text 20"/>
          <p:cNvSpPr/>
          <p:nvPr/>
        </p:nvSpPr>
        <p:spPr>
          <a:xfrm>
            <a:off x="5852160" y="2331720"/>
            <a:ext cx="4663440" cy="1737360"/>
          </a:xfrm>
          <a:prstGeom prst="rect">
            <a:avLst/>
          </a:prstGeom>
          <a:noFill/>
          <a:ln/>
        </p:spPr>
        <p:txBody>
          <a:bodyPr wrap="square" lIns="0" tIns="0" rIns="0" bIns="0" rtlCol="0" anchor="ctr">
            <a:normAutofit/>
          </a:bodyPr>
          <a:lstStyle/>
          <a:p>
            <a:pPr marL="0" indent="0">
              <a:buNone/>
            </a:pPr>
            <a:r>
              <a:rPr lang="en-US" sz="950" dirty="0">
                <a:solidFill>
                  <a:srgbClr val="111827"/>
                </a:solidFill>
              </a:rPr>
              <a:t>I’m a junior developer focused on building user-friendly web applications with React, Node.js, and REST APIs.</a:t>
            </a:r>
            <a:endParaRPr lang="en-US" sz="950" dirty="0"/>
          </a:p>
          <a:p>
            <a:pPr marL="0" indent="0">
              <a:buNone/>
            </a:pPr>
            <a:endParaRPr lang="en-US" sz="950" dirty="0"/>
          </a:p>
          <a:p>
            <a:pPr marL="0" indent="0">
              <a:buNone/>
            </a:pPr>
            <a:r>
              <a:rPr lang="en-US" sz="950" dirty="0">
                <a:solidFill>
                  <a:srgbClr val="111827"/>
                </a:solidFill>
              </a:rPr>
              <a:t>Through university projects and internships, I’ve worked on responsive interfaces, API integration, Git workflows, and team collaboration.</a:t>
            </a:r>
            <a:endParaRPr lang="en-US" sz="950" dirty="0"/>
          </a:p>
          <a:p>
            <a:pPr marL="0" indent="0">
              <a:buNone/>
            </a:pPr>
            <a:endParaRPr lang="en-US" sz="950" dirty="0"/>
          </a:p>
          <a:p>
            <a:pPr marL="0" indent="0">
              <a:buNone/>
            </a:pPr>
            <a:r>
              <a:rPr lang="en-US" sz="950" dirty="0">
                <a:solidFill>
                  <a:srgbClr val="111827"/>
                </a:solidFill>
              </a:rPr>
              <a:t>I’m currently seeking junior full-stack or frontend opportunities where I can keep learning while contributing to real products.</a:t>
            </a:r>
            <a:endParaRPr lang="en-US" sz="950" dirty="0"/>
          </a:p>
        </p:txBody>
      </p:sp>
      <p:sp>
        <p:nvSpPr>
          <p:cNvPr id="24" name="Text 21"/>
          <p:cNvSpPr/>
          <p:nvPr/>
        </p:nvSpPr>
        <p:spPr>
          <a:xfrm>
            <a:off x="411480" y="6510528"/>
            <a:ext cx="6400800" cy="164592"/>
          </a:xfrm>
          <a:prstGeom prst="rect">
            <a:avLst/>
          </a:prstGeom>
          <a:noFill/>
          <a:ln/>
        </p:spPr>
        <p:txBody>
          <a:bodyPr wrap="square" lIns="0" tIns="0" rIns="0" bIns="0" rtlCol="0" anchor="ctr"/>
          <a:lstStyle/>
          <a:p>
            <a:pPr marL="0" indent="0">
              <a:buNone/>
            </a:pPr>
            <a:r>
              <a:rPr lang="en-US" sz="600" dirty="0">
                <a:solidFill>
                  <a:srgbClr val="7C7C7C"/>
                </a:solidFill>
                <a:latin typeface="Aptos" pitchFamily="34" charset="0"/>
                <a:ea typeface="Aptos" pitchFamily="34" charset="-122"/>
                <a:cs typeface="Aptos" pitchFamily="34" charset="-120"/>
              </a:rPr>
              <a:t>What's Next After Graduation?  |  Farah Kerbaj</a:t>
            </a:r>
            <a:endParaRPr lang="en-US" sz="600" dirty="0"/>
          </a:p>
        </p:txBody>
      </p:sp>
      <p:sp>
        <p:nvSpPr>
          <p:cNvPr id="25" name="Text 22"/>
          <p:cNvSpPr/>
          <p:nvPr/>
        </p:nvSpPr>
        <p:spPr>
          <a:xfrm>
            <a:off x="11430000" y="6473952"/>
            <a:ext cx="320040" cy="182880"/>
          </a:xfrm>
          <a:prstGeom prst="rect">
            <a:avLst/>
          </a:prstGeom>
          <a:noFill/>
          <a:ln/>
        </p:spPr>
        <p:txBody>
          <a:bodyPr wrap="square" lIns="0" tIns="0" rIns="0" bIns="0" rtlCol="0" anchor="ctr"/>
          <a:lstStyle/>
          <a:p>
            <a:pPr marL="0" indent="0" algn="r">
              <a:buNone/>
            </a:pPr>
            <a:r>
              <a:rPr lang="en-US" sz="700" dirty="0">
                <a:solidFill>
                  <a:srgbClr val="7C7C7C"/>
                </a:solidFill>
              </a:rPr>
              <a:t>25</a:t>
            </a:r>
            <a:endParaRPr lang="en-US" sz="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4F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F2"/>
          </a:solidFill>
          <a:ln w="12700">
            <a:solidFill>
              <a:srgbClr val="F7F4F2">
                <a:alpha val="0"/>
              </a:srgbClr>
            </a:solidFill>
            <a:prstDash val="solid"/>
          </a:ln>
        </p:spPr>
      </p:sp>
      <p:sp>
        <p:nvSpPr>
          <p:cNvPr id="3" name="Shape 1"/>
          <p:cNvSpPr/>
          <p:nvPr/>
        </p:nvSpPr>
        <p:spPr>
          <a:xfrm>
            <a:off x="0" y="0"/>
            <a:ext cx="12191695" cy="73152"/>
          </a:xfrm>
          <a:prstGeom prst="rect">
            <a:avLst/>
          </a:prstGeom>
          <a:solidFill>
            <a:srgbClr val="F59E0B"/>
          </a:solidFill>
          <a:ln w="12700">
            <a:solidFill>
              <a:srgbClr val="F59E0B"/>
            </a:solidFill>
            <a:prstDash val="solid"/>
          </a:ln>
        </p:spPr>
      </p:sp>
      <p:sp>
        <p:nvSpPr>
          <p:cNvPr id="4" name="Text 2"/>
          <p:cNvSpPr/>
          <p:nvPr/>
        </p:nvSpPr>
        <p:spPr>
          <a:xfrm>
            <a:off x="667512" y="274320"/>
            <a:ext cx="7315200" cy="201168"/>
          </a:xfrm>
          <a:prstGeom prst="rect">
            <a:avLst/>
          </a:prstGeom>
          <a:noFill/>
          <a:ln/>
        </p:spPr>
        <p:txBody>
          <a:bodyPr wrap="square" lIns="0" tIns="0" rIns="0" bIns="0" rtlCol="0" anchor="ctr"/>
          <a:lstStyle/>
          <a:p>
            <a:pPr marL="0" indent="0">
              <a:buNone/>
            </a:pPr>
            <a:r>
              <a:rPr lang="en-US" sz="750" b="1" dirty="0">
                <a:solidFill>
                  <a:srgbClr val="F59E0B"/>
                </a:solidFill>
              </a:rPr>
              <a:t>LINKEDIN PROOF</a:t>
            </a:r>
            <a:endParaRPr lang="en-US" sz="750" dirty="0"/>
          </a:p>
        </p:txBody>
      </p:sp>
      <p:sp>
        <p:nvSpPr>
          <p:cNvPr id="5" name="Text 3"/>
          <p:cNvSpPr/>
          <p:nvPr/>
        </p:nvSpPr>
        <p:spPr>
          <a:xfrm>
            <a:off x="640080" y="502920"/>
            <a:ext cx="10881360" cy="438912"/>
          </a:xfrm>
          <a:prstGeom prst="rect">
            <a:avLst/>
          </a:prstGeom>
          <a:noFill/>
          <a:ln/>
        </p:spPr>
        <p:txBody>
          <a:bodyPr wrap="square" lIns="0" tIns="0" rIns="0" bIns="0" rtlCol="0" anchor="ctr">
            <a:normAutofit/>
          </a:bodyPr>
          <a:lstStyle/>
          <a:p>
            <a:pPr marL="0" indent="0">
              <a:buNone/>
            </a:pPr>
            <a:r>
              <a:rPr lang="en-US" sz="2500" b="1" dirty="0">
                <a:solidFill>
                  <a:srgbClr val="111827"/>
                </a:solidFill>
                <a:latin typeface="Aptos Display" pitchFamily="34" charset="0"/>
                <a:ea typeface="Aptos Display" pitchFamily="34" charset="-122"/>
                <a:cs typeface="Aptos Display" pitchFamily="34" charset="-120"/>
              </a:rPr>
              <a:t>Featured Section: Make Proof Easy to Verify</a:t>
            </a:r>
            <a:endParaRPr lang="en-US" sz="2500" dirty="0"/>
          </a:p>
        </p:txBody>
      </p:sp>
      <p:sp>
        <p:nvSpPr>
          <p:cNvPr id="6" name="Text 4"/>
          <p:cNvSpPr/>
          <p:nvPr/>
        </p:nvSpPr>
        <p:spPr>
          <a:xfrm>
            <a:off x="667512" y="987552"/>
            <a:ext cx="10424160" cy="256032"/>
          </a:xfrm>
          <a:prstGeom prst="rect">
            <a:avLst/>
          </a:prstGeom>
          <a:noFill/>
          <a:ln/>
        </p:spPr>
        <p:txBody>
          <a:bodyPr wrap="square" lIns="0" tIns="0" rIns="0" bIns="0" rtlCol="0" anchor="ctr"/>
          <a:lstStyle/>
          <a:p>
            <a:pPr marL="0" indent="0">
              <a:buNone/>
            </a:pPr>
            <a:r>
              <a:rPr lang="en-US" sz="950" dirty="0">
                <a:solidFill>
                  <a:srgbClr val="5B6472"/>
                </a:solidFill>
              </a:rPr>
              <a:t>Recruiters should not have to search for your work</a:t>
            </a:r>
            <a:endParaRPr lang="en-US" sz="950" dirty="0"/>
          </a:p>
        </p:txBody>
      </p:sp>
      <p:sp>
        <p:nvSpPr>
          <p:cNvPr id="7" name="Shape 5"/>
          <p:cNvSpPr/>
          <p:nvPr/>
        </p:nvSpPr>
        <p:spPr>
          <a:xfrm>
            <a:off x="640080" y="1325880"/>
            <a:ext cx="10881360" cy="0"/>
          </a:xfrm>
          <a:prstGeom prst="line">
            <a:avLst/>
          </a:prstGeom>
          <a:noFill/>
          <a:ln w="12700">
            <a:solidFill>
              <a:srgbClr val="D6D3D1"/>
            </a:solidFill>
            <a:prstDash val="solid"/>
          </a:ln>
        </p:spPr>
      </p:sp>
      <p:sp>
        <p:nvSpPr>
          <p:cNvPr id="8" name="Shape 6"/>
          <p:cNvSpPr/>
          <p:nvPr/>
        </p:nvSpPr>
        <p:spPr>
          <a:xfrm>
            <a:off x="777240" y="1874520"/>
            <a:ext cx="2103120" cy="2057400"/>
          </a:xfrm>
          <a:prstGeom prst="roundRect">
            <a:avLst>
              <a:gd name="adj" fmla="val 3556"/>
            </a:avLst>
          </a:prstGeom>
          <a:solidFill>
            <a:srgbClr val="FFFFFF"/>
          </a:solidFill>
          <a:ln w="12700">
            <a:solidFill>
              <a:srgbClr val="E8E2DE"/>
            </a:solidFill>
            <a:prstDash val="solid"/>
          </a:ln>
        </p:spPr>
      </p:sp>
      <p:sp>
        <p:nvSpPr>
          <p:cNvPr id="9" name="Text 7"/>
          <p:cNvSpPr/>
          <p:nvPr/>
        </p:nvSpPr>
        <p:spPr>
          <a:xfrm>
            <a:off x="960120" y="2148840"/>
            <a:ext cx="1737360" cy="228600"/>
          </a:xfrm>
          <a:prstGeom prst="rect">
            <a:avLst/>
          </a:prstGeom>
          <a:noFill/>
          <a:ln/>
        </p:spPr>
        <p:txBody>
          <a:bodyPr wrap="square" lIns="0" tIns="0" rIns="0" bIns="0" rtlCol="0" anchor="ctr"/>
          <a:lstStyle/>
          <a:p>
            <a:pPr marL="0" indent="0" algn="ctr">
              <a:buNone/>
            </a:pPr>
            <a:r>
              <a:rPr lang="en-US" sz="1300" b="1" dirty="0">
                <a:solidFill>
                  <a:srgbClr val="F59E0B"/>
                </a:solidFill>
              </a:rPr>
              <a:t>Portfolio</a:t>
            </a:r>
            <a:endParaRPr lang="en-US" sz="1300" dirty="0"/>
          </a:p>
        </p:txBody>
      </p:sp>
      <p:sp>
        <p:nvSpPr>
          <p:cNvPr id="10" name="Text 8"/>
          <p:cNvSpPr/>
          <p:nvPr/>
        </p:nvSpPr>
        <p:spPr>
          <a:xfrm>
            <a:off x="1033272" y="2743200"/>
            <a:ext cx="1600200" cy="457200"/>
          </a:xfrm>
          <a:prstGeom prst="rect">
            <a:avLst/>
          </a:prstGeom>
          <a:noFill/>
          <a:ln/>
        </p:spPr>
        <p:txBody>
          <a:bodyPr wrap="square" lIns="0" tIns="0" rIns="0" bIns="0" rtlCol="0" anchor="ctr">
            <a:normAutofit/>
          </a:bodyPr>
          <a:lstStyle/>
          <a:p>
            <a:pPr marL="0" indent="0" algn="ctr">
              <a:buNone/>
            </a:pPr>
            <a:r>
              <a:rPr lang="en-US" sz="920" dirty="0">
                <a:solidFill>
                  <a:srgbClr val="5B6472"/>
                </a:solidFill>
              </a:rPr>
              <a:t>Best projects, contact, CV, links</a:t>
            </a:r>
            <a:endParaRPr lang="en-US" sz="920" dirty="0"/>
          </a:p>
        </p:txBody>
      </p:sp>
      <p:sp>
        <p:nvSpPr>
          <p:cNvPr id="11" name="Shape 9"/>
          <p:cNvSpPr/>
          <p:nvPr/>
        </p:nvSpPr>
        <p:spPr>
          <a:xfrm>
            <a:off x="3044952" y="1874520"/>
            <a:ext cx="2103120" cy="2057400"/>
          </a:xfrm>
          <a:prstGeom prst="roundRect">
            <a:avLst>
              <a:gd name="adj" fmla="val 3556"/>
            </a:avLst>
          </a:prstGeom>
          <a:solidFill>
            <a:srgbClr val="FEF3C7"/>
          </a:solidFill>
          <a:ln w="12700">
            <a:solidFill>
              <a:srgbClr val="E8E2DE"/>
            </a:solidFill>
            <a:prstDash val="solid"/>
          </a:ln>
        </p:spPr>
      </p:sp>
      <p:sp>
        <p:nvSpPr>
          <p:cNvPr id="12" name="Text 10"/>
          <p:cNvSpPr/>
          <p:nvPr/>
        </p:nvSpPr>
        <p:spPr>
          <a:xfrm>
            <a:off x="3227832" y="2148840"/>
            <a:ext cx="1737360" cy="228600"/>
          </a:xfrm>
          <a:prstGeom prst="rect">
            <a:avLst/>
          </a:prstGeom>
          <a:noFill/>
          <a:ln/>
        </p:spPr>
        <p:txBody>
          <a:bodyPr wrap="square" lIns="0" tIns="0" rIns="0" bIns="0" rtlCol="0" anchor="ctr"/>
          <a:lstStyle/>
          <a:p>
            <a:pPr marL="0" indent="0" algn="ctr">
              <a:buNone/>
            </a:pPr>
            <a:r>
              <a:rPr lang="en-US" sz="1300" b="1" dirty="0">
                <a:solidFill>
                  <a:srgbClr val="F59E0B"/>
                </a:solidFill>
              </a:rPr>
              <a:t>GitHub</a:t>
            </a:r>
            <a:endParaRPr lang="en-US" sz="1300" dirty="0"/>
          </a:p>
        </p:txBody>
      </p:sp>
      <p:sp>
        <p:nvSpPr>
          <p:cNvPr id="13" name="Text 11"/>
          <p:cNvSpPr/>
          <p:nvPr/>
        </p:nvSpPr>
        <p:spPr>
          <a:xfrm>
            <a:off x="3300984" y="2743200"/>
            <a:ext cx="1600200" cy="457200"/>
          </a:xfrm>
          <a:prstGeom prst="rect">
            <a:avLst/>
          </a:prstGeom>
          <a:noFill/>
          <a:ln/>
        </p:spPr>
        <p:txBody>
          <a:bodyPr wrap="square" lIns="0" tIns="0" rIns="0" bIns="0" rtlCol="0" anchor="ctr">
            <a:normAutofit/>
          </a:bodyPr>
          <a:lstStyle/>
          <a:p>
            <a:pPr marL="0" indent="0" algn="ctr">
              <a:buNone/>
            </a:pPr>
            <a:r>
              <a:rPr lang="en-US" sz="920" dirty="0">
                <a:solidFill>
                  <a:srgbClr val="5B6472"/>
                </a:solidFill>
              </a:rPr>
              <a:t>Pinned repositories + README</a:t>
            </a:r>
            <a:endParaRPr lang="en-US" sz="920" dirty="0"/>
          </a:p>
        </p:txBody>
      </p:sp>
      <p:sp>
        <p:nvSpPr>
          <p:cNvPr id="14" name="Shape 12"/>
          <p:cNvSpPr/>
          <p:nvPr/>
        </p:nvSpPr>
        <p:spPr>
          <a:xfrm>
            <a:off x="5312664" y="1874520"/>
            <a:ext cx="2103120" cy="2057400"/>
          </a:xfrm>
          <a:prstGeom prst="roundRect">
            <a:avLst>
              <a:gd name="adj" fmla="val 3556"/>
            </a:avLst>
          </a:prstGeom>
          <a:solidFill>
            <a:srgbClr val="FFFFFF"/>
          </a:solidFill>
          <a:ln w="12700">
            <a:solidFill>
              <a:srgbClr val="E8E2DE"/>
            </a:solidFill>
            <a:prstDash val="solid"/>
          </a:ln>
        </p:spPr>
      </p:sp>
      <p:sp>
        <p:nvSpPr>
          <p:cNvPr id="15" name="Text 13"/>
          <p:cNvSpPr/>
          <p:nvPr/>
        </p:nvSpPr>
        <p:spPr>
          <a:xfrm>
            <a:off x="5495544" y="2148840"/>
            <a:ext cx="1737360" cy="228600"/>
          </a:xfrm>
          <a:prstGeom prst="rect">
            <a:avLst/>
          </a:prstGeom>
          <a:noFill/>
          <a:ln/>
        </p:spPr>
        <p:txBody>
          <a:bodyPr wrap="square" lIns="0" tIns="0" rIns="0" bIns="0" rtlCol="0" anchor="ctr"/>
          <a:lstStyle/>
          <a:p>
            <a:pPr marL="0" indent="0" algn="ctr">
              <a:buNone/>
            </a:pPr>
            <a:r>
              <a:rPr lang="en-US" sz="1300" b="1" dirty="0">
                <a:solidFill>
                  <a:srgbClr val="F59E0B"/>
                </a:solidFill>
              </a:rPr>
              <a:t>Project Demo</a:t>
            </a:r>
            <a:endParaRPr lang="en-US" sz="1300" dirty="0"/>
          </a:p>
        </p:txBody>
      </p:sp>
      <p:sp>
        <p:nvSpPr>
          <p:cNvPr id="16" name="Text 14"/>
          <p:cNvSpPr/>
          <p:nvPr/>
        </p:nvSpPr>
        <p:spPr>
          <a:xfrm>
            <a:off x="5568696" y="2743200"/>
            <a:ext cx="1600200" cy="457200"/>
          </a:xfrm>
          <a:prstGeom prst="rect">
            <a:avLst/>
          </a:prstGeom>
          <a:noFill/>
          <a:ln/>
        </p:spPr>
        <p:txBody>
          <a:bodyPr wrap="square" lIns="0" tIns="0" rIns="0" bIns="0" rtlCol="0" anchor="ctr">
            <a:normAutofit/>
          </a:bodyPr>
          <a:lstStyle/>
          <a:p>
            <a:pPr marL="0" indent="0" algn="ctr">
              <a:buNone/>
            </a:pPr>
            <a:r>
              <a:rPr lang="en-US" sz="920" dirty="0">
                <a:solidFill>
                  <a:srgbClr val="5B6472"/>
                </a:solidFill>
              </a:rPr>
              <a:t>Live app or walkthrough video</a:t>
            </a:r>
            <a:endParaRPr lang="en-US" sz="920" dirty="0"/>
          </a:p>
        </p:txBody>
      </p:sp>
      <p:sp>
        <p:nvSpPr>
          <p:cNvPr id="17" name="Shape 15"/>
          <p:cNvSpPr/>
          <p:nvPr/>
        </p:nvSpPr>
        <p:spPr>
          <a:xfrm>
            <a:off x="7580376" y="1874520"/>
            <a:ext cx="2103120" cy="2057400"/>
          </a:xfrm>
          <a:prstGeom prst="roundRect">
            <a:avLst>
              <a:gd name="adj" fmla="val 3556"/>
            </a:avLst>
          </a:prstGeom>
          <a:solidFill>
            <a:srgbClr val="FEF3C7"/>
          </a:solidFill>
          <a:ln w="12700">
            <a:solidFill>
              <a:srgbClr val="E8E2DE"/>
            </a:solidFill>
            <a:prstDash val="solid"/>
          </a:ln>
        </p:spPr>
      </p:sp>
      <p:sp>
        <p:nvSpPr>
          <p:cNvPr id="18" name="Text 16"/>
          <p:cNvSpPr/>
          <p:nvPr/>
        </p:nvSpPr>
        <p:spPr>
          <a:xfrm>
            <a:off x="7763256" y="2148840"/>
            <a:ext cx="1737360" cy="228600"/>
          </a:xfrm>
          <a:prstGeom prst="rect">
            <a:avLst/>
          </a:prstGeom>
          <a:noFill/>
          <a:ln/>
        </p:spPr>
        <p:txBody>
          <a:bodyPr wrap="square" lIns="0" tIns="0" rIns="0" bIns="0" rtlCol="0" anchor="ctr"/>
          <a:lstStyle/>
          <a:p>
            <a:pPr marL="0" indent="0" algn="ctr">
              <a:buNone/>
            </a:pPr>
            <a:r>
              <a:rPr lang="en-US" sz="1300" b="1" dirty="0">
                <a:solidFill>
                  <a:srgbClr val="F59E0B"/>
                </a:solidFill>
              </a:rPr>
              <a:t>Certificate</a:t>
            </a:r>
            <a:endParaRPr lang="en-US" sz="1300" dirty="0"/>
          </a:p>
        </p:txBody>
      </p:sp>
      <p:sp>
        <p:nvSpPr>
          <p:cNvPr id="19" name="Text 17"/>
          <p:cNvSpPr/>
          <p:nvPr/>
        </p:nvSpPr>
        <p:spPr>
          <a:xfrm>
            <a:off x="7836408" y="2743200"/>
            <a:ext cx="1600200" cy="457200"/>
          </a:xfrm>
          <a:prstGeom prst="rect">
            <a:avLst/>
          </a:prstGeom>
          <a:noFill/>
          <a:ln/>
        </p:spPr>
        <p:txBody>
          <a:bodyPr wrap="square" lIns="0" tIns="0" rIns="0" bIns="0" rtlCol="0" anchor="ctr">
            <a:normAutofit/>
          </a:bodyPr>
          <a:lstStyle/>
          <a:p>
            <a:pPr marL="0" indent="0" algn="ctr">
              <a:buNone/>
            </a:pPr>
            <a:r>
              <a:rPr lang="en-US" sz="920" dirty="0">
                <a:solidFill>
                  <a:srgbClr val="5B6472"/>
                </a:solidFill>
              </a:rPr>
              <a:t>Relevant proof only</a:t>
            </a:r>
            <a:endParaRPr lang="en-US" sz="920" dirty="0"/>
          </a:p>
        </p:txBody>
      </p:sp>
      <p:sp>
        <p:nvSpPr>
          <p:cNvPr id="20" name="Shape 18"/>
          <p:cNvSpPr/>
          <p:nvPr/>
        </p:nvSpPr>
        <p:spPr>
          <a:xfrm>
            <a:off x="9848088" y="1874520"/>
            <a:ext cx="2103120" cy="2057400"/>
          </a:xfrm>
          <a:prstGeom prst="roundRect">
            <a:avLst>
              <a:gd name="adj" fmla="val 3556"/>
            </a:avLst>
          </a:prstGeom>
          <a:solidFill>
            <a:srgbClr val="FFFFFF"/>
          </a:solidFill>
          <a:ln w="12700">
            <a:solidFill>
              <a:srgbClr val="E8E2DE"/>
            </a:solidFill>
            <a:prstDash val="solid"/>
          </a:ln>
        </p:spPr>
      </p:sp>
      <p:sp>
        <p:nvSpPr>
          <p:cNvPr id="21" name="Text 19"/>
          <p:cNvSpPr/>
          <p:nvPr/>
        </p:nvSpPr>
        <p:spPr>
          <a:xfrm>
            <a:off x="10030968" y="2148840"/>
            <a:ext cx="1737360" cy="228600"/>
          </a:xfrm>
          <a:prstGeom prst="rect">
            <a:avLst/>
          </a:prstGeom>
          <a:noFill/>
          <a:ln/>
        </p:spPr>
        <p:txBody>
          <a:bodyPr wrap="square" lIns="0" tIns="0" rIns="0" bIns="0" rtlCol="0" anchor="ctr"/>
          <a:lstStyle/>
          <a:p>
            <a:pPr marL="0" indent="0" algn="ctr">
              <a:buNone/>
            </a:pPr>
            <a:r>
              <a:rPr lang="en-US" sz="1300" b="1" dirty="0">
                <a:solidFill>
                  <a:srgbClr val="F59E0B"/>
                </a:solidFill>
              </a:rPr>
              <a:t>Post</a:t>
            </a:r>
            <a:endParaRPr lang="en-US" sz="1300" dirty="0"/>
          </a:p>
        </p:txBody>
      </p:sp>
      <p:sp>
        <p:nvSpPr>
          <p:cNvPr id="22" name="Text 20"/>
          <p:cNvSpPr/>
          <p:nvPr/>
        </p:nvSpPr>
        <p:spPr>
          <a:xfrm>
            <a:off x="10104120" y="2743200"/>
            <a:ext cx="1600200" cy="457200"/>
          </a:xfrm>
          <a:prstGeom prst="rect">
            <a:avLst/>
          </a:prstGeom>
          <a:noFill/>
          <a:ln/>
        </p:spPr>
        <p:txBody>
          <a:bodyPr wrap="square" lIns="0" tIns="0" rIns="0" bIns="0" rtlCol="0" anchor="ctr">
            <a:normAutofit/>
          </a:bodyPr>
          <a:lstStyle/>
          <a:p>
            <a:pPr marL="0" indent="0" algn="ctr">
              <a:buNone/>
            </a:pPr>
            <a:r>
              <a:rPr lang="en-US" sz="920" dirty="0">
                <a:solidFill>
                  <a:srgbClr val="5B6472"/>
                </a:solidFill>
              </a:rPr>
              <a:t>What you built + what you learned</a:t>
            </a:r>
            <a:endParaRPr lang="en-US" sz="920" dirty="0"/>
          </a:p>
        </p:txBody>
      </p:sp>
      <p:sp>
        <p:nvSpPr>
          <p:cNvPr id="23" name="Text 21"/>
          <p:cNvSpPr/>
          <p:nvPr/>
        </p:nvSpPr>
        <p:spPr>
          <a:xfrm>
            <a:off x="1097280" y="5074920"/>
            <a:ext cx="9784080" cy="320040"/>
          </a:xfrm>
          <a:prstGeom prst="rect">
            <a:avLst/>
          </a:prstGeom>
          <a:noFill/>
          <a:ln/>
        </p:spPr>
        <p:txBody>
          <a:bodyPr wrap="square" lIns="0" tIns="0" rIns="0" bIns="0" rtlCol="0" anchor="ctr"/>
          <a:lstStyle/>
          <a:p>
            <a:pPr marL="0" indent="0" algn="ctr">
              <a:buNone/>
            </a:pPr>
            <a:r>
              <a:rPr lang="en-US" sz="1600" b="1" dirty="0">
                <a:solidFill>
                  <a:srgbClr val="152238"/>
                </a:solidFill>
              </a:rPr>
              <a:t>Ask yourself: what can I show, not just claim?</a:t>
            </a:r>
            <a:endParaRPr lang="en-US" sz="1600" dirty="0"/>
          </a:p>
        </p:txBody>
      </p:sp>
      <p:sp>
        <p:nvSpPr>
          <p:cNvPr id="25" name="Text 22"/>
          <p:cNvSpPr/>
          <p:nvPr/>
        </p:nvSpPr>
        <p:spPr>
          <a:xfrm>
            <a:off x="411480" y="6510528"/>
            <a:ext cx="6400800" cy="164592"/>
          </a:xfrm>
          <a:prstGeom prst="rect">
            <a:avLst/>
          </a:prstGeom>
          <a:noFill/>
          <a:ln/>
        </p:spPr>
        <p:txBody>
          <a:bodyPr wrap="square" lIns="0" tIns="0" rIns="0" bIns="0" rtlCol="0" anchor="ctr"/>
          <a:lstStyle/>
          <a:p>
            <a:pPr marL="0" indent="0">
              <a:buNone/>
            </a:pPr>
            <a:r>
              <a:rPr lang="en-US" sz="600" dirty="0">
                <a:solidFill>
                  <a:srgbClr val="7C7C7C"/>
                </a:solidFill>
                <a:latin typeface="Aptos" pitchFamily="34" charset="0"/>
                <a:ea typeface="Aptos" pitchFamily="34" charset="-122"/>
                <a:cs typeface="Aptos" pitchFamily="34" charset="-120"/>
              </a:rPr>
              <a:t>What's Next After Graduation?  |  Farah Kerbaj</a:t>
            </a:r>
            <a:endParaRPr lang="en-US" sz="600" dirty="0"/>
          </a:p>
        </p:txBody>
      </p:sp>
      <p:sp>
        <p:nvSpPr>
          <p:cNvPr id="26" name="Text 23"/>
          <p:cNvSpPr/>
          <p:nvPr/>
        </p:nvSpPr>
        <p:spPr>
          <a:xfrm>
            <a:off x="11430000" y="6473952"/>
            <a:ext cx="320040" cy="182880"/>
          </a:xfrm>
          <a:prstGeom prst="rect">
            <a:avLst/>
          </a:prstGeom>
          <a:noFill/>
          <a:ln/>
        </p:spPr>
        <p:txBody>
          <a:bodyPr wrap="square" lIns="0" tIns="0" rIns="0" bIns="0" rtlCol="0" anchor="ctr"/>
          <a:lstStyle/>
          <a:p>
            <a:pPr marL="0" indent="0" algn="r">
              <a:buNone/>
            </a:pPr>
            <a:r>
              <a:rPr lang="en-US" sz="700" dirty="0">
                <a:solidFill>
                  <a:srgbClr val="7C7C7C"/>
                </a:solidFill>
              </a:rPr>
              <a:t>26</a:t>
            </a:r>
            <a:endParaRPr lang="en-US" sz="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4F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F2"/>
          </a:solidFill>
          <a:ln w="12700">
            <a:solidFill>
              <a:srgbClr val="F7F4F2">
                <a:alpha val="0"/>
              </a:srgbClr>
            </a:solidFill>
            <a:prstDash val="solid"/>
          </a:ln>
        </p:spPr>
      </p:sp>
      <p:sp>
        <p:nvSpPr>
          <p:cNvPr id="3" name="Shape 1"/>
          <p:cNvSpPr/>
          <p:nvPr/>
        </p:nvSpPr>
        <p:spPr>
          <a:xfrm>
            <a:off x="0" y="0"/>
            <a:ext cx="12191695" cy="73152"/>
          </a:xfrm>
          <a:prstGeom prst="rect">
            <a:avLst/>
          </a:prstGeom>
          <a:solidFill>
            <a:srgbClr val="00A8CC"/>
          </a:solidFill>
          <a:ln w="12700">
            <a:solidFill>
              <a:srgbClr val="00A8CC"/>
            </a:solidFill>
            <a:prstDash val="solid"/>
          </a:ln>
        </p:spPr>
      </p:sp>
      <p:sp>
        <p:nvSpPr>
          <p:cNvPr id="4" name="Text 2"/>
          <p:cNvSpPr/>
          <p:nvPr/>
        </p:nvSpPr>
        <p:spPr>
          <a:xfrm>
            <a:off x="667512" y="274320"/>
            <a:ext cx="7315200" cy="201168"/>
          </a:xfrm>
          <a:prstGeom prst="rect">
            <a:avLst/>
          </a:prstGeom>
          <a:noFill/>
          <a:ln/>
        </p:spPr>
        <p:txBody>
          <a:bodyPr wrap="square" lIns="0" tIns="0" rIns="0" bIns="0" rtlCol="0" anchor="ctr"/>
          <a:lstStyle/>
          <a:p>
            <a:pPr marL="0" indent="0">
              <a:buNone/>
            </a:pPr>
            <a:r>
              <a:rPr lang="en-US" sz="750" b="1" dirty="0">
                <a:solidFill>
                  <a:srgbClr val="00A8CC"/>
                </a:solidFill>
              </a:rPr>
              <a:t>VISIBILITY HABIT</a:t>
            </a:r>
            <a:endParaRPr lang="en-US" sz="750" dirty="0"/>
          </a:p>
        </p:txBody>
      </p:sp>
      <p:sp>
        <p:nvSpPr>
          <p:cNvPr id="5" name="Text 3"/>
          <p:cNvSpPr/>
          <p:nvPr/>
        </p:nvSpPr>
        <p:spPr>
          <a:xfrm>
            <a:off x="640080" y="502920"/>
            <a:ext cx="10881360" cy="438912"/>
          </a:xfrm>
          <a:prstGeom prst="rect">
            <a:avLst/>
          </a:prstGeom>
          <a:noFill/>
          <a:ln/>
        </p:spPr>
        <p:txBody>
          <a:bodyPr wrap="square" lIns="0" tIns="0" rIns="0" bIns="0" rtlCol="0" anchor="ctr">
            <a:normAutofit/>
          </a:bodyPr>
          <a:lstStyle/>
          <a:p>
            <a:pPr marL="0" indent="0">
              <a:buNone/>
            </a:pPr>
            <a:r>
              <a:rPr lang="en-US" sz="2500" b="1" dirty="0">
                <a:solidFill>
                  <a:srgbClr val="111827"/>
                </a:solidFill>
                <a:latin typeface="Aptos Display" pitchFamily="34" charset="0"/>
                <a:ea typeface="Aptos Display" pitchFamily="34" charset="-122"/>
                <a:cs typeface="Aptos Display" pitchFamily="34" charset="-120"/>
              </a:rPr>
              <a:t>Use LinkedIn Weekly, Not Once a Year</a:t>
            </a:r>
            <a:endParaRPr lang="en-US" sz="2500" dirty="0"/>
          </a:p>
        </p:txBody>
      </p:sp>
      <p:sp>
        <p:nvSpPr>
          <p:cNvPr id="6" name="Text 4"/>
          <p:cNvSpPr/>
          <p:nvPr/>
        </p:nvSpPr>
        <p:spPr>
          <a:xfrm>
            <a:off x="667512" y="987552"/>
            <a:ext cx="10424160" cy="256032"/>
          </a:xfrm>
          <a:prstGeom prst="rect">
            <a:avLst/>
          </a:prstGeom>
          <a:noFill/>
          <a:ln/>
        </p:spPr>
        <p:txBody>
          <a:bodyPr wrap="square" lIns="0" tIns="0" rIns="0" bIns="0" rtlCol="0" anchor="ctr"/>
          <a:lstStyle/>
          <a:p>
            <a:pPr marL="0" indent="0">
              <a:buNone/>
            </a:pPr>
            <a:r>
              <a:rPr lang="en-US" sz="950" dirty="0">
                <a:solidFill>
                  <a:srgbClr val="5B6472"/>
                </a:solidFill>
              </a:rPr>
              <a:t>Visibility grows through small repeated actions</a:t>
            </a:r>
            <a:endParaRPr lang="en-US" sz="950" dirty="0"/>
          </a:p>
        </p:txBody>
      </p:sp>
      <p:sp>
        <p:nvSpPr>
          <p:cNvPr id="7" name="Shape 5"/>
          <p:cNvSpPr/>
          <p:nvPr/>
        </p:nvSpPr>
        <p:spPr>
          <a:xfrm>
            <a:off x="640080" y="1325880"/>
            <a:ext cx="10881360" cy="0"/>
          </a:xfrm>
          <a:prstGeom prst="line">
            <a:avLst/>
          </a:prstGeom>
          <a:noFill/>
          <a:ln w="12700">
            <a:solidFill>
              <a:srgbClr val="D6D3D1"/>
            </a:solidFill>
            <a:prstDash val="solid"/>
          </a:ln>
        </p:spPr>
      </p:sp>
      <p:sp>
        <p:nvSpPr>
          <p:cNvPr id="8" name="Shape 6"/>
          <p:cNvSpPr/>
          <p:nvPr/>
        </p:nvSpPr>
        <p:spPr>
          <a:xfrm>
            <a:off x="914400" y="1554480"/>
            <a:ext cx="10241280" cy="621792"/>
          </a:xfrm>
          <a:prstGeom prst="roundRect">
            <a:avLst>
              <a:gd name="adj" fmla="val 11765"/>
            </a:avLst>
          </a:prstGeom>
          <a:solidFill>
            <a:srgbClr val="E0F2FE"/>
          </a:solidFill>
          <a:ln w="12700">
            <a:solidFill>
              <a:srgbClr val="E8E2DE"/>
            </a:solidFill>
            <a:prstDash val="solid"/>
          </a:ln>
        </p:spPr>
      </p:sp>
      <p:sp>
        <p:nvSpPr>
          <p:cNvPr id="9" name="Text 7"/>
          <p:cNvSpPr/>
          <p:nvPr/>
        </p:nvSpPr>
        <p:spPr>
          <a:xfrm>
            <a:off x="1143000" y="1719072"/>
            <a:ext cx="1325880" cy="164592"/>
          </a:xfrm>
          <a:prstGeom prst="rect">
            <a:avLst/>
          </a:prstGeom>
          <a:noFill/>
          <a:ln/>
        </p:spPr>
        <p:txBody>
          <a:bodyPr wrap="square" lIns="0" tIns="0" rIns="0" bIns="0" rtlCol="0" anchor="ctr"/>
          <a:lstStyle/>
          <a:p>
            <a:pPr marL="0" indent="0">
              <a:buNone/>
            </a:pPr>
            <a:r>
              <a:rPr lang="en-US" sz="1100" b="1" dirty="0">
                <a:solidFill>
                  <a:srgbClr val="00A8CC"/>
                </a:solidFill>
              </a:rPr>
              <a:t>Comment</a:t>
            </a:r>
            <a:endParaRPr lang="en-US" sz="1100" dirty="0"/>
          </a:p>
        </p:txBody>
      </p:sp>
      <p:sp>
        <p:nvSpPr>
          <p:cNvPr id="10" name="Text 8"/>
          <p:cNvSpPr/>
          <p:nvPr/>
        </p:nvSpPr>
        <p:spPr>
          <a:xfrm>
            <a:off x="2743200" y="1719072"/>
            <a:ext cx="7772400" cy="164592"/>
          </a:xfrm>
          <a:prstGeom prst="rect">
            <a:avLst/>
          </a:prstGeom>
          <a:noFill/>
          <a:ln/>
        </p:spPr>
        <p:txBody>
          <a:bodyPr wrap="square" lIns="0" tIns="0" rIns="0" bIns="0" rtlCol="0" anchor="ctr">
            <a:normAutofit/>
          </a:bodyPr>
          <a:lstStyle/>
          <a:p>
            <a:pPr marL="0" indent="0">
              <a:buNone/>
            </a:pPr>
            <a:r>
              <a:rPr lang="en-US" sz="940" dirty="0">
                <a:solidFill>
                  <a:srgbClr val="111827"/>
                </a:solidFill>
              </a:rPr>
              <a:t>Leave thoughtful comments on posts in your field</a:t>
            </a:r>
            <a:endParaRPr lang="en-US" sz="940" dirty="0"/>
          </a:p>
        </p:txBody>
      </p:sp>
      <p:sp>
        <p:nvSpPr>
          <p:cNvPr id="11" name="Shape 9"/>
          <p:cNvSpPr/>
          <p:nvPr/>
        </p:nvSpPr>
        <p:spPr>
          <a:xfrm>
            <a:off x="914400" y="2304288"/>
            <a:ext cx="10241280" cy="621792"/>
          </a:xfrm>
          <a:prstGeom prst="roundRect">
            <a:avLst>
              <a:gd name="adj" fmla="val 11765"/>
            </a:avLst>
          </a:prstGeom>
          <a:solidFill>
            <a:srgbClr val="FFFFFF"/>
          </a:solidFill>
          <a:ln w="12700">
            <a:solidFill>
              <a:srgbClr val="E8E2DE"/>
            </a:solidFill>
            <a:prstDash val="solid"/>
          </a:ln>
        </p:spPr>
      </p:sp>
      <p:sp>
        <p:nvSpPr>
          <p:cNvPr id="12" name="Text 10"/>
          <p:cNvSpPr/>
          <p:nvPr/>
        </p:nvSpPr>
        <p:spPr>
          <a:xfrm>
            <a:off x="1143000" y="2468880"/>
            <a:ext cx="1325880" cy="164592"/>
          </a:xfrm>
          <a:prstGeom prst="rect">
            <a:avLst/>
          </a:prstGeom>
          <a:noFill/>
          <a:ln/>
        </p:spPr>
        <p:txBody>
          <a:bodyPr wrap="square" lIns="0" tIns="0" rIns="0" bIns="0" rtlCol="0" anchor="ctr"/>
          <a:lstStyle/>
          <a:p>
            <a:pPr marL="0" indent="0">
              <a:buNone/>
            </a:pPr>
            <a:r>
              <a:rPr lang="en-US" sz="1100" b="1" dirty="0">
                <a:solidFill>
                  <a:srgbClr val="00A8CC"/>
                </a:solidFill>
              </a:rPr>
              <a:t>Connect</a:t>
            </a:r>
            <a:endParaRPr lang="en-US" sz="1100" dirty="0"/>
          </a:p>
        </p:txBody>
      </p:sp>
      <p:sp>
        <p:nvSpPr>
          <p:cNvPr id="13" name="Text 11"/>
          <p:cNvSpPr/>
          <p:nvPr/>
        </p:nvSpPr>
        <p:spPr>
          <a:xfrm>
            <a:off x="2743200" y="2468880"/>
            <a:ext cx="7772400" cy="164592"/>
          </a:xfrm>
          <a:prstGeom prst="rect">
            <a:avLst/>
          </a:prstGeom>
          <a:noFill/>
          <a:ln/>
        </p:spPr>
        <p:txBody>
          <a:bodyPr wrap="square" lIns="0" tIns="0" rIns="0" bIns="0" rtlCol="0" anchor="ctr">
            <a:normAutofit/>
          </a:bodyPr>
          <a:lstStyle/>
          <a:p>
            <a:pPr marL="0" indent="0">
              <a:buNone/>
            </a:pPr>
            <a:r>
              <a:rPr lang="en-US" sz="940" dirty="0">
                <a:solidFill>
                  <a:srgbClr val="111827"/>
                </a:solidFill>
              </a:rPr>
              <a:t>Add 5–10 relevant people weekly with a message</a:t>
            </a:r>
            <a:endParaRPr lang="en-US" sz="940" dirty="0"/>
          </a:p>
        </p:txBody>
      </p:sp>
      <p:sp>
        <p:nvSpPr>
          <p:cNvPr id="14" name="Shape 12"/>
          <p:cNvSpPr/>
          <p:nvPr/>
        </p:nvSpPr>
        <p:spPr>
          <a:xfrm>
            <a:off x="914400" y="3054096"/>
            <a:ext cx="10241280" cy="621792"/>
          </a:xfrm>
          <a:prstGeom prst="roundRect">
            <a:avLst>
              <a:gd name="adj" fmla="val 11765"/>
            </a:avLst>
          </a:prstGeom>
          <a:solidFill>
            <a:srgbClr val="E0F2FE"/>
          </a:solidFill>
          <a:ln w="12700">
            <a:solidFill>
              <a:srgbClr val="E8E2DE"/>
            </a:solidFill>
            <a:prstDash val="solid"/>
          </a:ln>
        </p:spPr>
      </p:sp>
      <p:sp>
        <p:nvSpPr>
          <p:cNvPr id="15" name="Text 13"/>
          <p:cNvSpPr/>
          <p:nvPr/>
        </p:nvSpPr>
        <p:spPr>
          <a:xfrm>
            <a:off x="1143000" y="3218688"/>
            <a:ext cx="1325880" cy="164592"/>
          </a:xfrm>
          <a:prstGeom prst="rect">
            <a:avLst/>
          </a:prstGeom>
          <a:noFill/>
          <a:ln/>
        </p:spPr>
        <p:txBody>
          <a:bodyPr wrap="square" lIns="0" tIns="0" rIns="0" bIns="0" rtlCol="0" anchor="ctr"/>
          <a:lstStyle/>
          <a:p>
            <a:pPr marL="0" indent="0">
              <a:buNone/>
            </a:pPr>
            <a:r>
              <a:rPr lang="en-US" sz="1100" b="1" dirty="0">
                <a:solidFill>
                  <a:srgbClr val="00A8CC"/>
                </a:solidFill>
              </a:rPr>
              <a:t>Share</a:t>
            </a:r>
            <a:endParaRPr lang="en-US" sz="1100" dirty="0"/>
          </a:p>
        </p:txBody>
      </p:sp>
      <p:sp>
        <p:nvSpPr>
          <p:cNvPr id="16" name="Text 14"/>
          <p:cNvSpPr/>
          <p:nvPr/>
        </p:nvSpPr>
        <p:spPr>
          <a:xfrm>
            <a:off x="2743200" y="3218688"/>
            <a:ext cx="7772400" cy="164592"/>
          </a:xfrm>
          <a:prstGeom prst="rect">
            <a:avLst/>
          </a:prstGeom>
          <a:noFill/>
          <a:ln/>
        </p:spPr>
        <p:txBody>
          <a:bodyPr wrap="square" lIns="0" tIns="0" rIns="0" bIns="0" rtlCol="0" anchor="ctr">
            <a:normAutofit/>
          </a:bodyPr>
          <a:lstStyle/>
          <a:p>
            <a:pPr marL="0" indent="0">
              <a:buNone/>
            </a:pPr>
            <a:r>
              <a:rPr lang="en-US" sz="940" dirty="0">
                <a:solidFill>
                  <a:srgbClr val="111827"/>
                </a:solidFill>
              </a:rPr>
              <a:t>Post one project update or lesson learned</a:t>
            </a:r>
            <a:endParaRPr lang="en-US" sz="940" dirty="0"/>
          </a:p>
        </p:txBody>
      </p:sp>
      <p:sp>
        <p:nvSpPr>
          <p:cNvPr id="17" name="Shape 15"/>
          <p:cNvSpPr/>
          <p:nvPr/>
        </p:nvSpPr>
        <p:spPr>
          <a:xfrm>
            <a:off x="914400" y="3803904"/>
            <a:ext cx="10241280" cy="621792"/>
          </a:xfrm>
          <a:prstGeom prst="roundRect">
            <a:avLst>
              <a:gd name="adj" fmla="val 11765"/>
            </a:avLst>
          </a:prstGeom>
          <a:solidFill>
            <a:srgbClr val="FFFFFF"/>
          </a:solidFill>
          <a:ln w="12700">
            <a:solidFill>
              <a:srgbClr val="E8E2DE"/>
            </a:solidFill>
            <a:prstDash val="solid"/>
          </a:ln>
        </p:spPr>
      </p:sp>
      <p:sp>
        <p:nvSpPr>
          <p:cNvPr id="18" name="Text 16"/>
          <p:cNvSpPr/>
          <p:nvPr/>
        </p:nvSpPr>
        <p:spPr>
          <a:xfrm>
            <a:off x="1143000" y="3968496"/>
            <a:ext cx="1325880" cy="164592"/>
          </a:xfrm>
          <a:prstGeom prst="rect">
            <a:avLst/>
          </a:prstGeom>
          <a:noFill/>
          <a:ln/>
        </p:spPr>
        <p:txBody>
          <a:bodyPr wrap="square" lIns="0" tIns="0" rIns="0" bIns="0" rtlCol="0" anchor="ctr"/>
          <a:lstStyle/>
          <a:p>
            <a:pPr marL="0" indent="0">
              <a:buNone/>
            </a:pPr>
            <a:r>
              <a:rPr lang="en-US" sz="1100" b="1" dirty="0">
                <a:solidFill>
                  <a:srgbClr val="00A8CC"/>
                </a:solidFill>
              </a:rPr>
              <a:t>Search</a:t>
            </a:r>
            <a:endParaRPr lang="en-US" sz="1100" dirty="0"/>
          </a:p>
        </p:txBody>
      </p:sp>
      <p:sp>
        <p:nvSpPr>
          <p:cNvPr id="19" name="Text 17"/>
          <p:cNvSpPr/>
          <p:nvPr/>
        </p:nvSpPr>
        <p:spPr>
          <a:xfrm>
            <a:off x="2743200" y="3968496"/>
            <a:ext cx="7772400" cy="164592"/>
          </a:xfrm>
          <a:prstGeom prst="rect">
            <a:avLst/>
          </a:prstGeom>
          <a:noFill/>
          <a:ln/>
        </p:spPr>
        <p:txBody>
          <a:bodyPr wrap="square" lIns="0" tIns="0" rIns="0" bIns="0" rtlCol="0" anchor="ctr">
            <a:normAutofit/>
          </a:bodyPr>
          <a:lstStyle/>
          <a:p>
            <a:pPr marL="0" indent="0">
              <a:buNone/>
            </a:pPr>
            <a:r>
              <a:rPr lang="en-US" sz="940" dirty="0">
                <a:solidFill>
                  <a:srgbClr val="111827"/>
                </a:solidFill>
              </a:rPr>
              <a:t>Use keywords to find roles, companies, and alumni</a:t>
            </a:r>
            <a:endParaRPr lang="en-US" sz="940" dirty="0"/>
          </a:p>
        </p:txBody>
      </p:sp>
      <p:sp>
        <p:nvSpPr>
          <p:cNvPr id="20" name="Shape 18"/>
          <p:cNvSpPr/>
          <p:nvPr/>
        </p:nvSpPr>
        <p:spPr>
          <a:xfrm>
            <a:off x="914400" y="4553712"/>
            <a:ext cx="10241280" cy="621792"/>
          </a:xfrm>
          <a:prstGeom prst="roundRect">
            <a:avLst>
              <a:gd name="adj" fmla="val 11765"/>
            </a:avLst>
          </a:prstGeom>
          <a:solidFill>
            <a:srgbClr val="E0F2FE"/>
          </a:solidFill>
          <a:ln w="12700">
            <a:solidFill>
              <a:srgbClr val="E8E2DE"/>
            </a:solidFill>
            <a:prstDash val="solid"/>
          </a:ln>
        </p:spPr>
      </p:sp>
      <p:sp>
        <p:nvSpPr>
          <p:cNvPr id="21" name="Text 19"/>
          <p:cNvSpPr/>
          <p:nvPr/>
        </p:nvSpPr>
        <p:spPr>
          <a:xfrm>
            <a:off x="1143000" y="4718304"/>
            <a:ext cx="1325880" cy="164592"/>
          </a:xfrm>
          <a:prstGeom prst="rect">
            <a:avLst/>
          </a:prstGeom>
          <a:noFill/>
          <a:ln/>
        </p:spPr>
        <p:txBody>
          <a:bodyPr wrap="square" lIns="0" tIns="0" rIns="0" bIns="0" rtlCol="0" anchor="ctr"/>
          <a:lstStyle/>
          <a:p>
            <a:pPr marL="0" indent="0">
              <a:buNone/>
            </a:pPr>
            <a:r>
              <a:rPr lang="en-US" sz="1100" b="1" dirty="0">
                <a:solidFill>
                  <a:srgbClr val="00A8CC"/>
                </a:solidFill>
              </a:rPr>
              <a:t>Follow</a:t>
            </a:r>
            <a:endParaRPr lang="en-US" sz="1100" dirty="0"/>
          </a:p>
        </p:txBody>
      </p:sp>
      <p:sp>
        <p:nvSpPr>
          <p:cNvPr id="22" name="Text 20"/>
          <p:cNvSpPr/>
          <p:nvPr/>
        </p:nvSpPr>
        <p:spPr>
          <a:xfrm>
            <a:off x="2743200" y="4718304"/>
            <a:ext cx="7772400" cy="164592"/>
          </a:xfrm>
          <a:prstGeom prst="rect">
            <a:avLst/>
          </a:prstGeom>
          <a:noFill/>
          <a:ln/>
        </p:spPr>
        <p:txBody>
          <a:bodyPr wrap="square" lIns="0" tIns="0" rIns="0" bIns="0" rtlCol="0" anchor="ctr">
            <a:normAutofit/>
          </a:bodyPr>
          <a:lstStyle/>
          <a:p>
            <a:pPr marL="0" indent="0">
              <a:buNone/>
            </a:pPr>
            <a:r>
              <a:rPr lang="en-US" sz="940" dirty="0">
                <a:solidFill>
                  <a:srgbClr val="111827"/>
                </a:solidFill>
              </a:rPr>
              <a:t>Recruiters, engineering leaders, communities, companies</a:t>
            </a:r>
            <a:endParaRPr lang="en-US" sz="940" dirty="0"/>
          </a:p>
        </p:txBody>
      </p:sp>
      <p:sp>
        <p:nvSpPr>
          <p:cNvPr id="24" name="Text 21"/>
          <p:cNvSpPr/>
          <p:nvPr/>
        </p:nvSpPr>
        <p:spPr>
          <a:xfrm>
            <a:off x="411480" y="6510528"/>
            <a:ext cx="6400800" cy="164592"/>
          </a:xfrm>
          <a:prstGeom prst="rect">
            <a:avLst/>
          </a:prstGeom>
          <a:noFill/>
          <a:ln/>
        </p:spPr>
        <p:txBody>
          <a:bodyPr wrap="square" lIns="0" tIns="0" rIns="0" bIns="0" rtlCol="0" anchor="ctr"/>
          <a:lstStyle/>
          <a:p>
            <a:pPr marL="0" indent="0">
              <a:buNone/>
            </a:pPr>
            <a:r>
              <a:rPr lang="en-US" sz="600" dirty="0">
                <a:solidFill>
                  <a:srgbClr val="7C7C7C"/>
                </a:solidFill>
                <a:latin typeface="Aptos" pitchFamily="34" charset="0"/>
                <a:ea typeface="Aptos" pitchFamily="34" charset="-122"/>
                <a:cs typeface="Aptos" pitchFamily="34" charset="-120"/>
              </a:rPr>
              <a:t>What's Next After Graduation?  |  Farah Kerbaj</a:t>
            </a:r>
            <a:endParaRPr lang="en-US" sz="600" dirty="0"/>
          </a:p>
        </p:txBody>
      </p:sp>
      <p:sp>
        <p:nvSpPr>
          <p:cNvPr id="25" name="Text 22"/>
          <p:cNvSpPr/>
          <p:nvPr/>
        </p:nvSpPr>
        <p:spPr>
          <a:xfrm>
            <a:off x="11430000" y="6473952"/>
            <a:ext cx="320040" cy="182880"/>
          </a:xfrm>
          <a:prstGeom prst="rect">
            <a:avLst/>
          </a:prstGeom>
          <a:noFill/>
          <a:ln/>
        </p:spPr>
        <p:txBody>
          <a:bodyPr wrap="square" lIns="0" tIns="0" rIns="0" bIns="0" rtlCol="0" anchor="ctr"/>
          <a:lstStyle/>
          <a:p>
            <a:pPr marL="0" indent="0" algn="r">
              <a:buNone/>
            </a:pPr>
            <a:r>
              <a:rPr lang="en-US" sz="700" dirty="0">
                <a:solidFill>
                  <a:srgbClr val="7C7C7C"/>
                </a:solidFill>
              </a:rPr>
              <a:t>27</a:t>
            </a:r>
            <a:endParaRPr lang="en-US" sz="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4F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F2"/>
          </a:solidFill>
          <a:ln w="12700">
            <a:solidFill>
              <a:srgbClr val="F7F4F2">
                <a:alpha val="0"/>
              </a:srgbClr>
            </a:solidFill>
            <a:prstDash val="solid"/>
          </a:ln>
        </p:spPr>
      </p:sp>
      <p:sp>
        <p:nvSpPr>
          <p:cNvPr id="3" name="Shape 1"/>
          <p:cNvSpPr/>
          <p:nvPr/>
        </p:nvSpPr>
        <p:spPr>
          <a:xfrm>
            <a:off x="0" y="0"/>
            <a:ext cx="12191695" cy="73152"/>
          </a:xfrm>
          <a:prstGeom prst="rect">
            <a:avLst/>
          </a:prstGeom>
          <a:solidFill>
            <a:srgbClr val="7C3AED"/>
          </a:solidFill>
          <a:ln w="12700">
            <a:solidFill>
              <a:srgbClr val="7C3AED"/>
            </a:solidFill>
            <a:prstDash val="solid"/>
          </a:ln>
        </p:spPr>
      </p:sp>
      <p:sp>
        <p:nvSpPr>
          <p:cNvPr id="4" name="Text 2"/>
          <p:cNvSpPr/>
          <p:nvPr/>
        </p:nvSpPr>
        <p:spPr>
          <a:xfrm>
            <a:off x="667512" y="274320"/>
            <a:ext cx="7315200" cy="201168"/>
          </a:xfrm>
          <a:prstGeom prst="rect">
            <a:avLst/>
          </a:prstGeom>
          <a:noFill/>
          <a:ln/>
        </p:spPr>
        <p:txBody>
          <a:bodyPr wrap="square" lIns="0" tIns="0" rIns="0" bIns="0" rtlCol="0" anchor="ctr"/>
          <a:lstStyle/>
          <a:p>
            <a:pPr marL="0" indent="0">
              <a:buNone/>
            </a:pPr>
            <a:r>
              <a:rPr lang="en-US" sz="750" b="1" dirty="0">
                <a:solidFill>
                  <a:srgbClr val="7C3AED"/>
                </a:solidFill>
              </a:rPr>
              <a:t>NETWORKING</a:t>
            </a:r>
            <a:endParaRPr lang="en-US" sz="750" dirty="0"/>
          </a:p>
        </p:txBody>
      </p:sp>
      <p:sp>
        <p:nvSpPr>
          <p:cNvPr id="5" name="Text 3"/>
          <p:cNvSpPr/>
          <p:nvPr/>
        </p:nvSpPr>
        <p:spPr>
          <a:xfrm>
            <a:off x="640080" y="502920"/>
            <a:ext cx="10881360" cy="438912"/>
          </a:xfrm>
          <a:prstGeom prst="rect">
            <a:avLst/>
          </a:prstGeom>
          <a:noFill/>
          <a:ln/>
        </p:spPr>
        <p:txBody>
          <a:bodyPr wrap="square" lIns="0" tIns="0" rIns="0" bIns="0" rtlCol="0" anchor="ctr">
            <a:normAutofit/>
          </a:bodyPr>
          <a:lstStyle/>
          <a:p>
            <a:pPr marL="0" indent="0">
              <a:buNone/>
            </a:pPr>
            <a:r>
              <a:rPr lang="en-US" sz="2500" b="1" dirty="0">
                <a:solidFill>
                  <a:srgbClr val="111827"/>
                </a:solidFill>
                <a:latin typeface="Aptos Display" pitchFamily="34" charset="0"/>
                <a:ea typeface="Aptos Display" pitchFamily="34" charset="-122"/>
                <a:cs typeface="Aptos Display" pitchFamily="34" charset="-120"/>
              </a:rPr>
              <a:t>Networking Is Not Asking for a Job</a:t>
            </a:r>
            <a:endParaRPr lang="en-US" sz="2500" dirty="0"/>
          </a:p>
        </p:txBody>
      </p:sp>
      <p:sp>
        <p:nvSpPr>
          <p:cNvPr id="6" name="Text 4"/>
          <p:cNvSpPr/>
          <p:nvPr/>
        </p:nvSpPr>
        <p:spPr>
          <a:xfrm>
            <a:off x="667512" y="987552"/>
            <a:ext cx="10424160" cy="256032"/>
          </a:xfrm>
          <a:prstGeom prst="rect">
            <a:avLst/>
          </a:prstGeom>
          <a:noFill/>
          <a:ln/>
        </p:spPr>
        <p:txBody>
          <a:bodyPr wrap="square" lIns="0" tIns="0" rIns="0" bIns="0" rtlCol="0" anchor="ctr"/>
          <a:lstStyle/>
          <a:p>
            <a:pPr marL="0" indent="0">
              <a:buNone/>
            </a:pPr>
            <a:r>
              <a:rPr lang="en-US" sz="950" dirty="0">
                <a:solidFill>
                  <a:srgbClr val="5B6472"/>
                </a:solidFill>
              </a:rPr>
              <a:t>It is building relationships before you need something</a:t>
            </a:r>
            <a:endParaRPr lang="en-US" sz="950" dirty="0"/>
          </a:p>
        </p:txBody>
      </p:sp>
      <p:sp>
        <p:nvSpPr>
          <p:cNvPr id="7" name="Shape 5"/>
          <p:cNvSpPr/>
          <p:nvPr/>
        </p:nvSpPr>
        <p:spPr>
          <a:xfrm>
            <a:off x="640080" y="1325880"/>
            <a:ext cx="10881360" cy="0"/>
          </a:xfrm>
          <a:prstGeom prst="line">
            <a:avLst/>
          </a:prstGeom>
          <a:noFill/>
          <a:ln w="12700">
            <a:solidFill>
              <a:srgbClr val="D6D3D1"/>
            </a:solidFill>
            <a:prstDash val="solid"/>
          </a:ln>
        </p:spPr>
      </p:sp>
      <p:sp>
        <p:nvSpPr>
          <p:cNvPr id="8" name="Shape 6"/>
          <p:cNvSpPr/>
          <p:nvPr/>
        </p:nvSpPr>
        <p:spPr>
          <a:xfrm>
            <a:off x="914400" y="1600200"/>
            <a:ext cx="4937760" cy="3291840"/>
          </a:xfrm>
          <a:prstGeom prst="roundRect">
            <a:avLst>
              <a:gd name="adj" fmla="val 2222"/>
            </a:avLst>
          </a:prstGeom>
          <a:solidFill>
            <a:srgbClr val="FFFFFF"/>
          </a:solidFill>
          <a:ln w="12700">
            <a:solidFill>
              <a:srgbClr val="E8E2DE"/>
            </a:solidFill>
            <a:prstDash val="solid"/>
          </a:ln>
        </p:spPr>
      </p:sp>
      <p:sp>
        <p:nvSpPr>
          <p:cNvPr id="9" name="Shape 7"/>
          <p:cNvSpPr/>
          <p:nvPr/>
        </p:nvSpPr>
        <p:spPr>
          <a:xfrm>
            <a:off x="6309360" y="1600200"/>
            <a:ext cx="4937760" cy="3291840"/>
          </a:xfrm>
          <a:prstGeom prst="roundRect">
            <a:avLst>
              <a:gd name="adj" fmla="val 2222"/>
            </a:avLst>
          </a:prstGeom>
          <a:solidFill>
            <a:srgbClr val="EDE9FE"/>
          </a:solidFill>
          <a:ln w="12700">
            <a:solidFill>
              <a:srgbClr val="E8E2DE"/>
            </a:solidFill>
            <a:prstDash val="solid"/>
          </a:ln>
        </p:spPr>
      </p:sp>
      <p:sp>
        <p:nvSpPr>
          <p:cNvPr id="10" name="Text 8"/>
          <p:cNvSpPr/>
          <p:nvPr/>
        </p:nvSpPr>
        <p:spPr>
          <a:xfrm>
            <a:off x="1188720" y="1874520"/>
            <a:ext cx="2743200" cy="182880"/>
          </a:xfrm>
          <a:prstGeom prst="rect">
            <a:avLst/>
          </a:prstGeom>
          <a:noFill/>
          <a:ln/>
        </p:spPr>
        <p:txBody>
          <a:bodyPr wrap="square" lIns="0" tIns="0" rIns="0" bIns="0" rtlCol="0" anchor="ctr"/>
          <a:lstStyle/>
          <a:p>
            <a:pPr marL="0" indent="0">
              <a:buNone/>
            </a:pPr>
            <a:r>
              <a:rPr lang="en-US" sz="1000" b="1" dirty="0">
                <a:solidFill>
                  <a:srgbClr val="7C3AED"/>
                </a:solidFill>
              </a:rPr>
              <a:t>WHO TO TALK TO</a:t>
            </a:r>
            <a:endParaRPr lang="en-US" sz="1000" dirty="0"/>
          </a:p>
        </p:txBody>
      </p:sp>
      <p:sp>
        <p:nvSpPr>
          <p:cNvPr id="11" name="Text 9"/>
          <p:cNvSpPr/>
          <p:nvPr/>
        </p:nvSpPr>
        <p:spPr>
          <a:xfrm>
            <a:off x="1234440" y="2331720"/>
            <a:ext cx="137160" cy="164592"/>
          </a:xfrm>
          <a:prstGeom prst="rect">
            <a:avLst/>
          </a:prstGeom>
          <a:noFill/>
          <a:ln/>
        </p:spPr>
        <p:txBody>
          <a:bodyPr wrap="square" lIns="0" tIns="0" rIns="0" bIns="0" rtlCol="0" anchor="ctr"/>
          <a:lstStyle/>
          <a:p>
            <a:pPr marL="0" indent="0">
              <a:buNone/>
            </a:pPr>
            <a:r>
              <a:rPr lang="en-US" sz="880" dirty="0">
                <a:solidFill>
                  <a:srgbClr val="7C3AED"/>
                </a:solidFill>
              </a:rPr>
              <a:t>•</a:t>
            </a:r>
            <a:endParaRPr lang="en-US" sz="880" dirty="0"/>
          </a:p>
        </p:txBody>
      </p:sp>
      <p:sp>
        <p:nvSpPr>
          <p:cNvPr id="12" name="Text 10"/>
          <p:cNvSpPr/>
          <p:nvPr/>
        </p:nvSpPr>
        <p:spPr>
          <a:xfrm>
            <a:off x="1435608" y="2340864"/>
            <a:ext cx="3639312" cy="201168"/>
          </a:xfrm>
          <a:prstGeom prst="rect">
            <a:avLst/>
          </a:prstGeom>
          <a:noFill/>
          <a:ln/>
        </p:spPr>
        <p:txBody>
          <a:bodyPr wrap="square" lIns="0" tIns="0" rIns="0" bIns="0" rtlCol="0" anchor="ctr">
            <a:normAutofit/>
          </a:bodyPr>
          <a:lstStyle/>
          <a:p>
            <a:pPr marL="0" indent="0">
              <a:buNone/>
            </a:pPr>
            <a:r>
              <a:rPr lang="en-US" sz="880" dirty="0">
                <a:solidFill>
                  <a:srgbClr val="111827"/>
                </a:solidFill>
              </a:rPr>
              <a:t>Alumni</a:t>
            </a:r>
            <a:endParaRPr lang="en-US" sz="880" dirty="0"/>
          </a:p>
        </p:txBody>
      </p:sp>
      <p:sp>
        <p:nvSpPr>
          <p:cNvPr id="13" name="Text 11"/>
          <p:cNvSpPr/>
          <p:nvPr/>
        </p:nvSpPr>
        <p:spPr>
          <a:xfrm>
            <a:off x="1234440" y="2679192"/>
            <a:ext cx="137160" cy="164592"/>
          </a:xfrm>
          <a:prstGeom prst="rect">
            <a:avLst/>
          </a:prstGeom>
          <a:noFill/>
          <a:ln/>
        </p:spPr>
        <p:txBody>
          <a:bodyPr wrap="square" lIns="0" tIns="0" rIns="0" bIns="0" rtlCol="0" anchor="ctr"/>
          <a:lstStyle/>
          <a:p>
            <a:pPr marL="0" indent="0">
              <a:buNone/>
            </a:pPr>
            <a:r>
              <a:rPr lang="en-US" sz="880" dirty="0">
                <a:solidFill>
                  <a:srgbClr val="7C3AED"/>
                </a:solidFill>
              </a:rPr>
              <a:t>•</a:t>
            </a:r>
            <a:endParaRPr lang="en-US" sz="880" dirty="0"/>
          </a:p>
        </p:txBody>
      </p:sp>
      <p:sp>
        <p:nvSpPr>
          <p:cNvPr id="14" name="Text 12"/>
          <p:cNvSpPr/>
          <p:nvPr/>
        </p:nvSpPr>
        <p:spPr>
          <a:xfrm>
            <a:off x="1435608" y="2688336"/>
            <a:ext cx="3639312" cy="201168"/>
          </a:xfrm>
          <a:prstGeom prst="rect">
            <a:avLst/>
          </a:prstGeom>
          <a:noFill/>
          <a:ln/>
        </p:spPr>
        <p:txBody>
          <a:bodyPr wrap="square" lIns="0" tIns="0" rIns="0" bIns="0" rtlCol="0" anchor="ctr">
            <a:normAutofit/>
          </a:bodyPr>
          <a:lstStyle/>
          <a:p>
            <a:pPr marL="0" indent="0">
              <a:buNone/>
            </a:pPr>
            <a:r>
              <a:rPr lang="en-US" sz="880" dirty="0">
                <a:solidFill>
                  <a:srgbClr val="111827"/>
                </a:solidFill>
              </a:rPr>
              <a:t>Junior developers</a:t>
            </a:r>
            <a:endParaRPr lang="en-US" sz="880" dirty="0"/>
          </a:p>
        </p:txBody>
      </p:sp>
      <p:sp>
        <p:nvSpPr>
          <p:cNvPr id="15" name="Text 13"/>
          <p:cNvSpPr/>
          <p:nvPr/>
        </p:nvSpPr>
        <p:spPr>
          <a:xfrm>
            <a:off x="1234440" y="3026664"/>
            <a:ext cx="137160" cy="164592"/>
          </a:xfrm>
          <a:prstGeom prst="rect">
            <a:avLst/>
          </a:prstGeom>
          <a:noFill/>
          <a:ln/>
        </p:spPr>
        <p:txBody>
          <a:bodyPr wrap="square" lIns="0" tIns="0" rIns="0" bIns="0" rtlCol="0" anchor="ctr"/>
          <a:lstStyle/>
          <a:p>
            <a:pPr marL="0" indent="0">
              <a:buNone/>
            </a:pPr>
            <a:r>
              <a:rPr lang="en-US" sz="880" dirty="0">
                <a:solidFill>
                  <a:srgbClr val="7C3AED"/>
                </a:solidFill>
              </a:rPr>
              <a:t>•</a:t>
            </a:r>
            <a:endParaRPr lang="en-US" sz="880" dirty="0"/>
          </a:p>
        </p:txBody>
      </p:sp>
      <p:sp>
        <p:nvSpPr>
          <p:cNvPr id="16" name="Text 14"/>
          <p:cNvSpPr/>
          <p:nvPr/>
        </p:nvSpPr>
        <p:spPr>
          <a:xfrm>
            <a:off x="1435608" y="3035808"/>
            <a:ext cx="3639312" cy="201168"/>
          </a:xfrm>
          <a:prstGeom prst="rect">
            <a:avLst/>
          </a:prstGeom>
          <a:noFill/>
          <a:ln/>
        </p:spPr>
        <p:txBody>
          <a:bodyPr wrap="square" lIns="0" tIns="0" rIns="0" bIns="0" rtlCol="0" anchor="ctr">
            <a:normAutofit/>
          </a:bodyPr>
          <a:lstStyle/>
          <a:p>
            <a:pPr marL="0" indent="0">
              <a:buNone/>
            </a:pPr>
            <a:r>
              <a:rPr lang="en-US" sz="880" dirty="0">
                <a:solidFill>
                  <a:srgbClr val="111827"/>
                </a:solidFill>
              </a:rPr>
              <a:t>Recruiters</a:t>
            </a:r>
            <a:endParaRPr lang="en-US" sz="880" dirty="0"/>
          </a:p>
        </p:txBody>
      </p:sp>
      <p:sp>
        <p:nvSpPr>
          <p:cNvPr id="17" name="Text 15"/>
          <p:cNvSpPr/>
          <p:nvPr/>
        </p:nvSpPr>
        <p:spPr>
          <a:xfrm>
            <a:off x="1234440" y="3374136"/>
            <a:ext cx="137160" cy="164592"/>
          </a:xfrm>
          <a:prstGeom prst="rect">
            <a:avLst/>
          </a:prstGeom>
          <a:noFill/>
          <a:ln/>
        </p:spPr>
        <p:txBody>
          <a:bodyPr wrap="square" lIns="0" tIns="0" rIns="0" bIns="0" rtlCol="0" anchor="ctr"/>
          <a:lstStyle/>
          <a:p>
            <a:pPr marL="0" indent="0">
              <a:buNone/>
            </a:pPr>
            <a:r>
              <a:rPr lang="en-US" sz="880" dirty="0">
                <a:solidFill>
                  <a:srgbClr val="7C3AED"/>
                </a:solidFill>
              </a:rPr>
              <a:t>•</a:t>
            </a:r>
            <a:endParaRPr lang="en-US" sz="880" dirty="0"/>
          </a:p>
        </p:txBody>
      </p:sp>
      <p:sp>
        <p:nvSpPr>
          <p:cNvPr id="18" name="Text 16"/>
          <p:cNvSpPr/>
          <p:nvPr/>
        </p:nvSpPr>
        <p:spPr>
          <a:xfrm>
            <a:off x="1435608" y="3383280"/>
            <a:ext cx="3639312" cy="201168"/>
          </a:xfrm>
          <a:prstGeom prst="rect">
            <a:avLst/>
          </a:prstGeom>
          <a:noFill/>
          <a:ln/>
        </p:spPr>
        <p:txBody>
          <a:bodyPr wrap="square" lIns="0" tIns="0" rIns="0" bIns="0" rtlCol="0" anchor="ctr">
            <a:normAutofit/>
          </a:bodyPr>
          <a:lstStyle/>
          <a:p>
            <a:pPr marL="0" indent="0">
              <a:buNone/>
            </a:pPr>
            <a:r>
              <a:rPr lang="en-US" sz="880" dirty="0">
                <a:solidFill>
                  <a:srgbClr val="111827"/>
                </a:solidFill>
              </a:rPr>
              <a:t>Community organizers</a:t>
            </a:r>
            <a:endParaRPr lang="en-US" sz="880" dirty="0"/>
          </a:p>
        </p:txBody>
      </p:sp>
      <p:sp>
        <p:nvSpPr>
          <p:cNvPr id="19" name="Text 17"/>
          <p:cNvSpPr/>
          <p:nvPr/>
        </p:nvSpPr>
        <p:spPr>
          <a:xfrm>
            <a:off x="1234440" y="3721608"/>
            <a:ext cx="137160" cy="164592"/>
          </a:xfrm>
          <a:prstGeom prst="rect">
            <a:avLst/>
          </a:prstGeom>
          <a:noFill/>
          <a:ln/>
        </p:spPr>
        <p:txBody>
          <a:bodyPr wrap="square" lIns="0" tIns="0" rIns="0" bIns="0" rtlCol="0" anchor="ctr"/>
          <a:lstStyle/>
          <a:p>
            <a:pPr marL="0" indent="0">
              <a:buNone/>
            </a:pPr>
            <a:r>
              <a:rPr lang="en-US" sz="880" dirty="0">
                <a:solidFill>
                  <a:srgbClr val="7C3AED"/>
                </a:solidFill>
              </a:rPr>
              <a:t>•</a:t>
            </a:r>
            <a:endParaRPr lang="en-US" sz="880" dirty="0"/>
          </a:p>
        </p:txBody>
      </p:sp>
      <p:sp>
        <p:nvSpPr>
          <p:cNvPr id="20" name="Text 18"/>
          <p:cNvSpPr/>
          <p:nvPr/>
        </p:nvSpPr>
        <p:spPr>
          <a:xfrm>
            <a:off x="1435608" y="3730752"/>
            <a:ext cx="3639312" cy="201168"/>
          </a:xfrm>
          <a:prstGeom prst="rect">
            <a:avLst/>
          </a:prstGeom>
          <a:noFill/>
          <a:ln/>
        </p:spPr>
        <p:txBody>
          <a:bodyPr wrap="square" lIns="0" tIns="0" rIns="0" bIns="0" rtlCol="0" anchor="ctr">
            <a:normAutofit/>
          </a:bodyPr>
          <a:lstStyle/>
          <a:p>
            <a:pPr marL="0" indent="0">
              <a:buNone/>
            </a:pPr>
            <a:r>
              <a:rPr lang="en-US" sz="880" dirty="0">
                <a:solidFill>
                  <a:srgbClr val="111827"/>
                </a:solidFill>
              </a:rPr>
              <a:t>Mentors</a:t>
            </a:r>
            <a:endParaRPr lang="en-US" sz="880" dirty="0"/>
          </a:p>
        </p:txBody>
      </p:sp>
      <p:sp>
        <p:nvSpPr>
          <p:cNvPr id="21" name="Text 19"/>
          <p:cNvSpPr/>
          <p:nvPr/>
        </p:nvSpPr>
        <p:spPr>
          <a:xfrm>
            <a:off x="1234440" y="4069080"/>
            <a:ext cx="137160" cy="164592"/>
          </a:xfrm>
          <a:prstGeom prst="rect">
            <a:avLst/>
          </a:prstGeom>
          <a:noFill/>
          <a:ln/>
        </p:spPr>
        <p:txBody>
          <a:bodyPr wrap="square" lIns="0" tIns="0" rIns="0" bIns="0" rtlCol="0" anchor="ctr"/>
          <a:lstStyle/>
          <a:p>
            <a:pPr marL="0" indent="0">
              <a:buNone/>
            </a:pPr>
            <a:r>
              <a:rPr lang="en-US" sz="880" dirty="0">
                <a:solidFill>
                  <a:srgbClr val="7C3AED"/>
                </a:solidFill>
              </a:rPr>
              <a:t>•</a:t>
            </a:r>
            <a:endParaRPr lang="en-US" sz="880" dirty="0"/>
          </a:p>
        </p:txBody>
      </p:sp>
      <p:sp>
        <p:nvSpPr>
          <p:cNvPr id="22" name="Text 20"/>
          <p:cNvSpPr/>
          <p:nvPr/>
        </p:nvSpPr>
        <p:spPr>
          <a:xfrm>
            <a:off x="1435608" y="4078224"/>
            <a:ext cx="3639312" cy="201168"/>
          </a:xfrm>
          <a:prstGeom prst="rect">
            <a:avLst/>
          </a:prstGeom>
          <a:noFill/>
          <a:ln/>
        </p:spPr>
        <p:txBody>
          <a:bodyPr wrap="square" lIns="0" tIns="0" rIns="0" bIns="0" rtlCol="0" anchor="ctr">
            <a:normAutofit/>
          </a:bodyPr>
          <a:lstStyle/>
          <a:p>
            <a:pPr marL="0" indent="0">
              <a:buNone/>
            </a:pPr>
            <a:r>
              <a:rPr lang="en-US" sz="880" dirty="0">
                <a:solidFill>
                  <a:srgbClr val="111827"/>
                </a:solidFill>
              </a:rPr>
              <a:t>Open-source contributors</a:t>
            </a:r>
            <a:endParaRPr lang="en-US" sz="880" dirty="0"/>
          </a:p>
        </p:txBody>
      </p:sp>
      <p:sp>
        <p:nvSpPr>
          <p:cNvPr id="23" name="Text 21"/>
          <p:cNvSpPr/>
          <p:nvPr/>
        </p:nvSpPr>
        <p:spPr>
          <a:xfrm>
            <a:off x="6583680" y="1874520"/>
            <a:ext cx="2743200" cy="182880"/>
          </a:xfrm>
          <a:prstGeom prst="rect">
            <a:avLst/>
          </a:prstGeom>
          <a:noFill/>
          <a:ln/>
        </p:spPr>
        <p:txBody>
          <a:bodyPr wrap="square" lIns="0" tIns="0" rIns="0" bIns="0" rtlCol="0" anchor="ctr"/>
          <a:lstStyle/>
          <a:p>
            <a:pPr marL="0" indent="0">
              <a:buNone/>
            </a:pPr>
            <a:r>
              <a:rPr lang="en-US" sz="1000" b="1" dirty="0">
                <a:solidFill>
                  <a:srgbClr val="7C3AED"/>
                </a:solidFill>
              </a:rPr>
              <a:t>MESSAGE TEMPLATE</a:t>
            </a:r>
            <a:endParaRPr lang="en-US" sz="1000" dirty="0"/>
          </a:p>
        </p:txBody>
      </p:sp>
      <p:sp>
        <p:nvSpPr>
          <p:cNvPr id="24" name="Text 22"/>
          <p:cNvSpPr/>
          <p:nvPr/>
        </p:nvSpPr>
        <p:spPr>
          <a:xfrm>
            <a:off x="6583680" y="2331720"/>
            <a:ext cx="4160520" cy="1417320"/>
          </a:xfrm>
          <a:prstGeom prst="rect">
            <a:avLst/>
          </a:prstGeom>
          <a:noFill/>
          <a:ln/>
        </p:spPr>
        <p:txBody>
          <a:bodyPr wrap="square" lIns="0" tIns="0" rIns="0" bIns="0" rtlCol="0" anchor="ctr">
            <a:normAutofit/>
          </a:bodyPr>
          <a:lstStyle/>
          <a:p>
            <a:pPr marL="0" indent="0">
              <a:buNone/>
            </a:pPr>
            <a:r>
              <a:rPr lang="en-US" sz="1050" dirty="0">
                <a:solidFill>
                  <a:srgbClr val="111827"/>
                </a:solidFill>
              </a:rPr>
              <a:t>Hi [Name],</a:t>
            </a:r>
            <a:endParaRPr lang="en-US" sz="1050" dirty="0"/>
          </a:p>
          <a:p>
            <a:pPr marL="0" indent="0">
              <a:buNone/>
            </a:pPr>
            <a:endParaRPr lang="en-US" sz="1050" dirty="0"/>
          </a:p>
          <a:p>
            <a:pPr marL="0" indent="0">
              <a:buNone/>
            </a:pPr>
            <a:r>
              <a:rPr lang="en-US" sz="1050" dirty="0">
                <a:solidFill>
                  <a:srgbClr val="111827"/>
                </a:solidFill>
              </a:rPr>
              <a:t>I came across your profile while exploring [target role]. I’m currently building my skills in [skill/stack] and would love to connect and learn from your journey.</a:t>
            </a:r>
            <a:endParaRPr lang="en-US" sz="1050" dirty="0"/>
          </a:p>
          <a:p>
            <a:pPr marL="0" indent="0">
              <a:buNone/>
            </a:pPr>
            <a:endParaRPr lang="en-US" sz="1050" dirty="0"/>
          </a:p>
          <a:p>
            <a:pPr marL="0" indent="0">
              <a:buNone/>
            </a:pPr>
            <a:r>
              <a:rPr lang="en-US" sz="1050" dirty="0">
                <a:solidFill>
                  <a:srgbClr val="111827"/>
                </a:solidFill>
              </a:rPr>
              <a:t>Thank you!</a:t>
            </a:r>
            <a:endParaRPr lang="en-US" sz="1050" dirty="0"/>
          </a:p>
        </p:txBody>
      </p:sp>
      <p:sp>
        <p:nvSpPr>
          <p:cNvPr id="26" name="Text 23"/>
          <p:cNvSpPr/>
          <p:nvPr/>
        </p:nvSpPr>
        <p:spPr>
          <a:xfrm>
            <a:off x="411480" y="6510528"/>
            <a:ext cx="6400800" cy="164592"/>
          </a:xfrm>
          <a:prstGeom prst="rect">
            <a:avLst/>
          </a:prstGeom>
          <a:noFill/>
          <a:ln/>
        </p:spPr>
        <p:txBody>
          <a:bodyPr wrap="square" lIns="0" tIns="0" rIns="0" bIns="0" rtlCol="0" anchor="ctr"/>
          <a:lstStyle/>
          <a:p>
            <a:pPr marL="0" indent="0">
              <a:buNone/>
            </a:pPr>
            <a:r>
              <a:rPr lang="en-US" sz="600" dirty="0">
                <a:solidFill>
                  <a:srgbClr val="7C7C7C"/>
                </a:solidFill>
                <a:latin typeface="Aptos" pitchFamily="34" charset="0"/>
                <a:ea typeface="Aptos" pitchFamily="34" charset="-122"/>
                <a:cs typeface="Aptos" pitchFamily="34" charset="-120"/>
              </a:rPr>
              <a:t>What's Next After Graduation?  |  Farah Kerbaj</a:t>
            </a:r>
            <a:endParaRPr lang="en-US" sz="600" dirty="0"/>
          </a:p>
        </p:txBody>
      </p:sp>
      <p:sp>
        <p:nvSpPr>
          <p:cNvPr id="27" name="Text 24"/>
          <p:cNvSpPr/>
          <p:nvPr/>
        </p:nvSpPr>
        <p:spPr>
          <a:xfrm>
            <a:off x="11430000" y="6473952"/>
            <a:ext cx="320040" cy="182880"/>
          </a:xfrm>
          <a:prstGeom prst="rect">
            <a:avLst/>
          </a:prstGeom>
          <a:noFill/>
          <a:ln/>
        </p:spPr>
        <p:txBody>
          <a:bodyPr wrap="square" lIns="0" tIns="0" rIns="0" bIns="0" rtlCol="0" anchor="ctr"/>
          <a:lstStyle/>
          <a:p>
            <a:pPr marL="0" indent="0" algn="r">
              <a:buNone/>
            </a:pPr>
            <a:r>
              <a:rPr lang="en-US" sz="700" dirty="0">
                <a:solidFill>
                  <a:srgbClr val="7C7C7C"/>
                </a:solidFill>
              </a:rPr>
              <a:t>28</a:t>
            </a:r>
            <a:endParaRPr lang="en-US" sz="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4F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F2"/>
          </a:solidFill>
          <a:ln w="12700">
            <a:solidFill>
              <a:srgbClr val="F7F4F2">
                <a:alpha val="0"/>
              </a:srgbClr>
            </a:solidFill>
            <a:prstDash val="solid"/>
          </a:ln>
        </p:spPr>
      </p:sp>
      <p:sp>
        <p:nvSpPr>
          <p:cNvPr id="3" name="Shape 1"/>
          <p:cNvSpPr/>
          <p:nvPr/>
        </p:nvSpPr>
        <p:spPr>
          <a:xfrm>
            <a:off x="0" y="0"/>
            <a:ext cx="12191695" cy="73152"/>
          </a:xfrm>
          <a:prstGeom prst="rect">
            <a:avLst/>
          </a:prstGeom>
          <a:solidFill>
            <a:srgbClr val="2563EB"/>
          </a:solidFill>
          <a:ln w="12700">
            <a:solidFill>
              <a:srgbClr val="2563EB"/>
            </a:solidFill>
            <a:prstDash val="solid"/>
          </a:ln>
        </p:spPr>
      </p:sp>
      <p:sp>
        <p:nvSpPr>
          <p:cNvPr id="4" name="Text 2"/>
          <p:cNvSpPr/>
          <p:nvPr/>
        </p:nvSpPr>
        <p:spPr>
          <a:xfrm>
            <a:off x="667512" y="274320"/>
            <a:ext cx="7315200" cy="201168"/>
          </a:xfrm>
          <a:prstGeom prst="rect">
            <a:avLst/>
          </a:prstGeom>
          <a:noFill/>
          <a:ln/>
        </p:spPr>
        <p:txBody>
          <a:bodyPr wrap="square" lIns="0" tIns="0" rIns="0" bIns="0" rtlCol="0" anchor="ctr"/>
          <a:lstStyle/>
          <a:p>
            <a:pPr marL="0" indent="0">
              <a:buNone/>
            </a:pPr>
            <a:r>
              <a:rPr lang="en-US" sz="750" b="1" dirty="0">
                <a:solidFill>
                  <a:srgbClr val="2563EB"/>
                </a:solidFill>
              </a:rPr>
              <a:t>APPLICATION STRATEGY</a:t>
            </a:r>
            <a:endParaRPr lang="en-US" sz="750" dirty="0"/>
          </a:p>
        </p:txBody>
      </p:sp>
      <p:sp>
        <p:nvSpPr>
          <p:cNvPr id="5" name="Text 3"/>
          <p:cNvSpPr/>
          <p:nvPr/>
        </p:nvSpPr>
        <p:spPr>
          <a:xfrm>
            <a:off x="640080" y="502920"/>
            <a:ext cx="10881360" cy="438912"/>
          </a:xfrm>
          <a:prstGeom prst="rect">
            <a:avLst/>
          </a:prstGeom>
          <a:noFill/>
          <a:ln/>
        </p:spPr>
        <p:txBody>
          <a:bodyPr wrap="square" lIns="0" tIns="0" rIns="0" bIns="0" rtlCol="0" anchor="ctr">
            <a:normAutofit/>
          </a:bodyPr>
          <a:lstStyle/>
          <a:p>
            <a:pPr marL="0" indent="0">
              <a:buNone/>
            </a:pPr>
            <a:r>
              <a:rPr lang="en-US" sz="2500" b="1" dirty="0">
                <a:solidFill>
                  <a:srgbClr val="111827"/>
                </a:solidFill>
                <a:latin typeface="Aptos Display" pitchFamily="34" charset="0"/>
                <a:ea typeface="Aptos Display" pitchFamily="34" charset="-122"/>
                <a:cs typeface="Aptos Display" pitchFamily="34" charset="-120"/>
              </a:rPr>
              <a:t>20 Great Applications Beat 1,000 Generic Ones</a:t>
            </a:r>
            <a:endParaRPr lang="en-US" sz="2500" dirty="0"/>
          </a:p>
        </p:txBody>
      </p:sp>
      <p:sp>
        <p:nvSpPr>
          <p:cNvPr id="6" name="Text 4"/>
          <p:cNvSpPr/>
          <p:nvPr/>
        </p:nvSpPr>
        <p:spPr>
          <a:xfrm>
            <a:off x="667512" y="987552"/>
            <a:ext cx="10424160" cy="256032"/>
          </a:xfrm>
          <a:prstGeom prst="rect">
            <a:avLst/>
          </a:prstGeom>
          <a:noFill/>
          <a:ln/>
        </p:spPr>
        <p:txBody>
          <a:bodyPr wrap="square" lIns="0" tIns="0" rIns="0" bIns="0" rtlCol="0" anchor="ctr"/>
          <a:lstStyle/>
          <a:p>
            <a:pPr marL="0" indent="0">
              <a:buNone/>
            </a:pPr>
            <a:r>
              <a:rPr lang="en-US" sz="950" dirty="0">
                <a:solidFill>
                  <a:srgbClr val="5B6472"/>
                </a:solidFill>
              </a:rPr>
              <a:t>Tailor, track, follow up</a:t>
            </a:r>
            <a:endParaRPr lang="en-US" sz="950" dirty="0"/>
          </a:p>
        </p:txBody>
      </p:sp>
      <p:sp>
        <p:nvSpPr>
          <p:cNvPr id="7" name="Shape 5"/>
          <p:cNvSpPr/>
          <p:nvPr/>
        </p:nvSpPr>
        <p:spPr>
          <a:xfrm>
            <a:off x="640080" y="1325880"/>
            <a:ext cx="10881360" cy="0"/>
          </a:xfrm>
          <a:prstGeom prst="line">
            <a:avLst/>
          </a:prstGeom>
          <a:noFill/>
          <a:ln w="12700">
            <a:solidFill>
              <a:srgbClr val="D6D3D1"/>
            </a:solidFill>
            <a:prstDash val="solid"/>
          </a:ln>
        </p:spPr>
      </p:sp>
      <p:sp>
        <p:nvSpPr>
          <p:cNvPr id="8" name="Shape 6"/>
          <p:cNvSpPr/>
          <p:nvPr/>
        </p:nvSpPr>
        <p:spPr>
          <a:xfrm>
            <a:off x="868680" y="1645920"/>
            <a:ext cx="5074920" cy="2971800"/>
          </a:xfrm>
          <a:prstGeom prst="roundRect">
            <a:avLst>
              <a:gd name="adj" fmla="val 2462"/>
            </a:avLst>
          </a:prstGeom>
          <a:solidFill>
            <a:srgbClr val="FEE2E2"/>
          </a:solidFill>
          <a:ln w="12700">
            <a:solidFill>
              <a:srgbClr val="E8E2DE"/>
            </a:solidFill>
            <a:prstDash val="solid"/>
          </a:ln>
        </p:spPr>
      </p:sp>
      <p:sp>
        <p:nvSpPr>
          <p:cNvPr id="9" name="Shape 7"/>
          <p:cNvSpPr/>
          <p:nvPr/>
        </p:nvSpPr>
        <p:spPr>
          <a:xfrm>
            <a:off x="6263640" y="1645920"/>
            <a:ext cx="5074920" cy="2971800"/>
          </a:xfrm>
          <a:prstGeom prst="roundRect">
            <a:avLst>
              <a:gd name="adj" fmla="val 2462"/>
            </a:avLst>
          </a:prstGeom>
          <a:solidFill>
            <a:srgbClr val="D1FAE5"/>
          </a:solidFill>
          <a:ln w="12700">
            <a:solidFill>
              <a:srgbClr val="E8E2DE"/>
            </a:solidFill>
            <a:prstDash val="solid"/>
          </a:ln>
        </p:spPr>
      </p:sp>
      <p:sp>
        <p:nvSpPr>
          <p:cNvPr id="10" name="Text 8"/>
          <p:cNvSpPr/>
          <p:nvPr/>
        </p:nvSpPr>
        <p:spPr>
          <a:xfrm>
            <a:off x="1143000" y="1965960"/>
            <a:ext cx="3108960" cy="320040"/>
          </a:xfrm>
          <a:prstGeom prst="rect">
            <a:avLst/>
          </a:prstGeom>
          <a:noFill/>
          <a:ln/>
        </p:spPr>
        <p:txBody>
          <a:bodyPr wrap="square" lIns="0" tIns="0" rIns="0" bIns="0" rtlCol="0" anchor="ctr"/>
          <a:lstStyle/>
          <a:p>
            <a:pPr marL="0" indent="0">
              <a:buNone/>
            </a:pPr>
            <a:r>
              <a:rPr lang="en-US" sz="1800" b="1" dirty="0">
                <a:solidFill>
                  <a:srgbClr val="FF6B4A"/>
                </a:solidFill>
              </a:rPr>
              <a:t>1,000 GENERIC</a:t>
            </a:r>
            <a:endParaRPr lang="en-US" sz="1800" dirty="0"/>
          </a:p>
        </p:txBody>
      </p:sp>
      <p:sp>
        <p:nvSpPr>
          <p:cNvPr id="11" name="Text 9"/>
          <p:cNvSpPr/>
          <p:nvPr/>
        </p:nvSpPr>
        <p:spPr>
          <a:xfrm>
            <a:off x="1234440" y="2514600"/>
            <a:ext cx="137160" cy="164592"/>
          </a:xfrm>
          <a:prstGeom prst="rect">
            <a:avLst/>
          </a:prstGeom>
          <a:noFill/>
          <a:ln/>
        </p:spPr>
        <p:txBody>
          <a:bodyPr wrap="square" lIns="0" tIns="0" rIns="0" bIns="0" rtlCol="0" anchor="ctr"/>
          <a:lstStyle/>
          <a:p>
            <a:pPr marL="0" indent="0">
              <a:buNone/>
            </a:pPr>
            <a:r>
              <a:rPr lang="en-US" sz="880" dirty="0">
                <a:solidFill>
                  <a:srgbClr val="FF6B4A"/>
                </a:solidFill>
              </a:rPr>
              <a:t>•</a:t>
            </a:r>
            <a:endParaRPr lang="en-US" sz="880" dirty="0"/>
          </a:p>
        </p:txBody>
      </p:sp>
      <p:sp>
        <p:nvSpPr>
          <p:cNvPr id="12" name="Text 10"/>
          <p:cNvSpPr/>
          <p:nvPr/>
        </p:nvSpPr>
        <p:spPr>
          <a:xfrm>
            <a:off x="1435608" y="2523744"/>
            <a:ext cx="3639312" cy="201168"/>
          </a:xfrm>
          <a:prstGeom prst="rect">
            <a:avLst/>
          </a:prstGeom>
          <a:noFill/>
          <a:ln/>
        </p:spPr>
        <p:txBody>
          <a:bodyPr wrap="square" lIns="0" tIns="0" rIns="0" bIns="0" rtlCol="0" anchor="ctr">
            <a:normAutofit/>
          </a:bodyPr>
          <a:lstStyle/>
          <a:p>
            <a:pPr marL="0" indent="0">
              <a:buNone/>
            </a:pPr>
            <a:r>
              <a:rPr lang="en-US" sz="880" dirty="0">
                <a:solidFill>
                  <a:srgbClr val="111827"/>
                </a:solidFill>
              </a:rPr>
              <a:t>Same CV every time</a:t>
            </a:r>
            <a:endParaRPr lang="en-US" sz="880" dirty="0"/>
          </a:p>
        </p:txBody>
      </p:sp>
      <p:sp>
        <p:nvSpPr>
          <p:cNvPr id="13" name="Text 11"/>
          <p:cNvSpPr/>
          <p:nvPr/>
        </p:nvSpPr>
        <p:spPr>
          <a:xfrm>
            <a:off x="1234440" y="2862072"/>
            <a:ext cx="137160" cy="164592"/>
          </a:xfrm>
          <a:prstGeom prst="rect">
            <a:avLst/>
          </a:prstGeom>
          <a:noFill/>
          <a:ln/>
        </p:spPr>
        <p:txBody>
          <a:bodyPr wrap="square" lIns="0" tIns="0" rIns="0" bIns="0" rtlCol="0" anchor="ctr"/>
          <a:lstStyle/>
          <a:p>
            <a:pPr marL="0" indent="0">
              <a:buNone/>
            </a:pPr>
            <a:r>
              <a:rPr lang="en-US" sz="880" dirty="0">
                <a:solidFill>
                  <a:srgbClr val="FF6B4A"/>
                </a:solidFill>
              </a:rPr>
              <a:t>•</a:t>
            </a:r>
            <a:endParaRPr lang="en-US" sz="880" dirty="0"/>
          </a:p>
        </p:txBody>
      </p:sp>
      <p:sp>
        <p:nvSpPr>
          <p:cNvPr id="14" name="Text 12"/>
          <p:cNvSpPr/>
          <p:nvPr/>
        </p:nvSpPr>
        <p:spPr>
          <a:xfrm>
            <a:off x="1435608" y="2871216"/>
            <a:ext cx="3639312" cy="201168"/>
          </a:xfrm>
          <a:prstGeom prst="rect">
            <a:avLst/>
          </a:prstGeom>
          <a:noFill/>
          <a:ln/>
        </p:spPr>
        <p:txBody>
          <a:bodyPr wrap="square" lIns="0" tIns="0" rIns="0" bIns="0" rtlCol="0" anchor="ctr">
            <a:normAutofit/>
          </a:bodyPr>
          <a:lstStyle/>
          <a:p>
            <a:pPr marL="0" indent="0">
              <a:buNone/>
            </a:pPr>
            <a:r>
              <a:rPr lang="en-US" sz="880" dirty="0">
                <a:solidFill>
                  <a:srgbClr val="111827"/>
                </a:solidFill>
              </a:rPr>
              <a:t>No company research</a:t>
            </a:r>
            <a:endParaRPr lang="en-US" sz="880" dirty="0"/>
          </a:p>
        </p:txBody>
      </p:sp>
      <p:sp>
        <p:nvSpPr>
          <p:cNvPr id="15" name="Text 13"/>
          <p:cNvSpPr/>
          <p:nvPr/>
        </p:nvSpPr>
        <p:spPr>
          <a:xfrm>
            <a:off x="1234440" y="3209544"/>
            <a:ext cx="137160" cy="164592"/>
          </a:xfrm>
          <a:prstGeom prst="rect">
            <a:avLst/>
          </a:prstGeom>
          <a:noFill/>
          <a:ln/>
        </p:spPr>
        <p:txBody>
          <a:bodyPr wrap="square" lIns="0" tIns="0" rIns="0" bIns="0" rtlCol="0" anchor="ctr"/>
          <a:lstStyle/>
          <a:p>
            <a:pPr marL="0" indent="0">
              <a:buNone/>
            </a:pPr>
            <a:r>
              <a:rPr lang="en-US" sz="880" dirty="0">
                <a:solidFill>
                  <a:srgbClr val="FF6B4A"/>
                </a:solidFill>
              </a:rPr>
              <a:t>•</a:t>
            </a:r>
            <a:endParaRPr lang="en-US" sz="880" dirty="0"/>
          </a:p>
        </p:txBody>
      </p:sp>
      <p:sp>
        <p:nvSpPr>
          <p:cNvPr id="16" name="Text 14"/>
          <p:cNvSpPr/>
          <p:nvPr/>
        </p:nvSpPr>
        <p:spPr>
          <a:xfrm>
            <a:off x="1435608" y="3218688"/>
            <a:ext cx="3639312" cy="201168"/>
          </a:xfrm>
          <a:prstGeom prst="rect">
            <a:avLst/>
          </a:prstGeom>
          <a:noFill/>
          <a:ln/>
        </p:spPr>
        <p:txBody>
          <a:bodyPr wrap="square" lIns="0" tIns="0" rIns="0" bIns="0" rtlCol="0" anchor="ctr">
            <a:normAutofit/>
          </a:bodyPr>
          <a:lstStyle/>
          <a:p>
            <a:pPr marL="0" indent="0">
              <a:buNone/>
            </a:pPr>
            <a:r>
              <a:rPr lang="en-US" sz="880" dirty="0">
                <a:solidFill>
                  <a:srgbClr val="111827"/>
                </a:solidFill>
              </a:rPr>
              <a:t>No keywords</a:t>
            </a:r>
            <a:endParaRPr lang="en-US" sz="880" dirty="0"/>
          </a:p>
        </p:txBody>
      </p:sp>
      <p:sp>
        <p:nvSpPr>
          <p:cNvPr id="17" name="Text 15"/>
          <p:cNvSpPr/>
          <p:nvPr/>
        </p:nvSpPr>
        <p:spPr>
          <a:xfrm>
            <a:off x="1234440" y="3557016"/>
            <a:ext cx="137160" cy="164592"/>
          </a:xfrm>
          <a:prstGeom prst="rect">
            <a:avLst/>
          </a:prstGeom>
          <a:noFill/>
          <a:ln/>
        </p:spPr>
        <p:txBody>
          <a:bodyPr wrap="square" lIns="0" tIns="0" rIns="0" bIns="0" rtlCol="0" anchor="ctr"/>
          <a:lstStyle/>
          <a:p>
            <a:pPr marL="0" indent="0">
              <a:buNone/>
            </a:pPr>
            <a:r>
              <a:rPr lang="en-US" sz="880" dirty="0">
                <a:solidFill>
                  <a:srgbClr val="FF6B4A"/>
                </a:solidFill>
              </a:rPr>
              <a:t>•</a:t>
            </a:r>
            <a:endParaRPr lang="en-US" sz="880" dirty="0"/>
          </a:p>
        </p:txBody>
      </p:sp>
      <p:sp>
        <p:nvSpPr>
          <p:cNvPr id="18" name="Text 16"/>
          <p:cNvSpPr/>
          <p:nvPr/>
        </p:nvSpPr>
        <p:spPr>
          <a:xfrm>
            <a:off x="1435608" y="3566160"/>
            <a:ext cx="3639312" cy="201168"/>
          </a:xfrm>
          <a:prstGeom prst="rect">
            <a:avLst/>
          </a:prstGeom>
          <a:noFill/>
          <a:ln/>
        </p:spPr>
        <p:txBody>
          <a:bodyPr wrap="square" lIns="0" tIns="0" rIns="0" bIns="0" rtlCol="0" anchor="ctr">
            <a:normAutofit/>
          </a:bodyPr>
          <a:lstStyle/>
          <a:p>
            <a:pPr marL="0" indent="0">
              <a:buNone/>
            </a:pPr>
            <a:r>
              <a:rPr lang="en-US" sz="880" dirty="0">
                <a:solidFill>
                  <a:srgbClr val="111827"/>
                </a:solidFill>
              </a:rPr>
              <a:t>No follow-up</a:t>
            </a:r>
            <a:endParaRPr lang="en-US" sz="880" dirty="0"/>
          </a:p>
        </p:txBody>
      </p:sp>
      <p:sp>
        <p:nvSpPr>
          <p:cNvPr id="19" name="Text 17"/>
          <p:cNvSpPr/>
          <p:nvPr/>
        </p:nvSpPr>
        <p:spPr>
          <a:xfrm>
            <a:off x="1234440" y="3904488"/>
            <a:ext cx="137160" cy="164592"/>
          </a:xfrm>
          <a:prstGeom prst="rect">
            <a:avLst/>
          </a:prstGeom>
          <a:noFill/>
          <a:ln/>
        </p:spPr>
        <p:txBody>
          <a:bodyPr wrap="square" lIns="0" tIns="0" rIns="0" bIns="0" rtlCol="0" anchor="ctr"/>
          <a:lstStyle/>
          <a:p>
            <a:pPr marL="0" indent="0">
              <a:buNone/>
            </a:pPr>
            <a:r>
              <a:rPr lang="en-US" sz="880" dirty="0">
                <a:solidFill>
                  <a:srgbClr val="FF6B4A"/>
                </a:solidFill>
              </a:rPr>
              <a:t>•</a:t>
            </a:r>
            <a:endParaRPr lang="en-US" sz="880" dirty="0"/>
          </a:p>
        </p:txBody>
      </p:sp>
      <p:sp>
        <p:nvSpPr>
          <p:cNvPr id="20" name="Text 18"/>
          <p:cNvSpPr/>
          <p:nvPr/>
        </p:nvSpPr>
        <p:spPr>
          <a:xfrm>
            <a:off x="1435608" y="3913632"/>
            <a:ext cx="3639312" cy="201168"/>
          </a:xfrm>
          <a:prstGeom prst="rect">
            <a:avLst/>
          </a:prstGeom>
          <a:noFill/>
          <a:ln/>
        </p:spPr>
        <p:txBody>
          <a:bodyPr wrap="square" lIns="0" tIns="0" rIns="0" bIns="0" rtlCol="0" anchor="ctr">
            <a:normAutofit/>
          </a:bodyPr>
          <a:lstStyle/>
          <a:p>
            <a:pPr marL="0" indent="0">
              <a:buNone/>
            </a:pPr>
            <a:r>
              <a:rPr lang="en-US" sz="880" dirty="0">
                <a:solidFill>
                  <a:srgbClr val="111827"/>
                </a:solidFill>
              </a:rPr>
              <a:t>Low reply rate</a:t>
            </a:r>
            <a:endParaRPr lang="en-US" sz="880" dirty="0"/>
          </a:p>
        </p:txBody>
      </p:sp>
      <p:sp>
        <p:nvSpPr>
          <p:cNvPr id="21" name="Text 19"/>
          <p:cNvSpPr/>
          <p:nvPr/>
        </p:nvSpPr>
        <p:spPr>
          <a:xfrm>
            <a:off x="6537960" y="1965960"/>
            <a:ext cx="3108960" cy="320040"/>
          </a:xfrm>
          <a:prstGeom prst="rect">
            <a:avLst/>
          </a:prstGeom>
          <a:noFill/>
          <a:ln/>
        </p:spPr>
        <p:txBody>
          <a:bodyPr wrap="square" lIns="0" tIns="0" rIns="0" bIns="0" rtlCol="0" anchor="ctr"/>
          <a:lstStyle/>
          <a:p>
            <a:pPr marL="0" indent="0">
              <a:buNone/>
            </a:pPr>
            <a:r>
              <a:rPr lang="en-US" sz="1800" b="1" dirty="0">
                <a:solidFill>
                  <a:srgbClr val="10B981"/>
                </a:solidFill>
              </a:rPr>
              <a:t>20 STRATEGIC</a:t>
            </a:r>
            <a:endParaRPr lang="en-US" sz="1800" dirty="0"/>
          </a:p>
        </p:txBody>
      </p:sp>
      <p:sp>
        <p:nvSpPr>
          <p:cNvPr id="22" name="Text 20"/>
          <p:cNvSpPr/>
          <p:nvPr/>
        </p:nvSpPr>
        <p:spPr>
          <a:xfrm>
            <a:off x="6629400" y="2514600"/>
            <a:ext cx="137160" cy="164592"/>
          </a:xfrm>
          <a:prstGeom prst="rect">
            <a:avLst/>
          </a:prstGeom>
          <a:noFill/>
          <a:ln/>
        </p:spPr>
        <p:txBody>
          <a:bodyPr wrap="square" lIns="0" tIns="0" rIns="0" bIns="0" rtlCol="0" anchor="ctr"/>
          <a:lstStyle/>
          <a:p>
            <a:pPr marL="0" indent="0">
              <a:buNone/>
            </a:pPr>
            <a:r>
              <a:rPr lang="en-US" sz="880" dirty="0">
                <a:solidFill>
                  <a:srgbClr val="10B981"/>
                </a:solidFill>
              </a:rPr>
              <a:t>•</a:t>
            </a:r>
            <a:endParaRPr lang="en-US" sz="880" dirty="0"/>
          </a:p>
        </p:txBody>
      </p:sp>
      <p:sp>
        <p:nvSpPr>
          <p:cNvPr id="23" name="Text 21"/>
          <p:cNvSpPr/>
          <p:nvPr/>
        </p:nvSpPr>
        <p:spPr>
          <a:xfrm>
            <a:off x="6830568" y="2523744"/>
            <a:ext cx="3639312" cy="201168"/>
          </a:xfrm>
          <a:prstGeom prst="rect">
            <a:avLst/>
          </a:prstGeom>
          <a:noFill/>
          <a:ln/>
        </p:spPr>
        <p:txBody>
          <a:bodyPr wrap="square" lIns="0" tIns="0" rIns="0" bIns="0" rtlCol="0" anchor="ctr">
            <a:normAutofit/>
          </a:bodyPr>
          <a:lstStyle/>
          <a:p>
            <a:pPr marL="0" indent="0">
              <a:buNone/>
            </a:pPr>
            <a:r>
              <a:rPr lang="en-US" sz="880" dirty="0">
                <a:solidFill>
                  <a:srgbClr val="111827"/>
                </a:solidFill>
              </a:rPr>
              <a:t>CV matched to role</a:t>
            </a:r>
            <a:endParaRPr lang="en-US" sz="880" dirty="0"/>
          </a:p>
        </p:txBody>
      </p:sp>
      <p:sp>
        <p:nvSpPr>
          <p:cNvPr id="24" name="Text 22"/>
          <p:cNvSpPr/>
          <p:nvPr/>
        </p:nvSpPr>
        <p:spPr>
          <a:xfrm>
            <a:off x="6629400" y="2862072"/>
            <a:ext cx="137160" cy="164592"/>
          </a:xfrm>
          <a:prstGeom prst="rect">
            <a:avLst/>
          </a:prstGeom>
          <a:noFill/>
          <a:ln/>
        </p:spPr>
        <p:txBody>
          <a:bodyPr wrap="square" lIns="0" tIns="0" rIns="0" bIns="0" rtlCol="0" anchor="ctr"/>
          <a:lstStyle/>
          <a:p>
            <a:pPr marL="0" indent="0">
              <a:buNone/>
            </a:pPr>
            <a:r>
              <a:rPr lang="en-US" sz="880" dirty="0">
                <a:solidFill>
                  <a:srgbClr val="10B981"/>
                </a:solidFill>
              </a:rPr>
              <a:t>•</a:t>
            </a:r>
            <a:endParaRPr lang="en-US" sz="880" dirty="0"/>
          </a:p>
        </p:txBody>
      </p:sp>
      <p:sp>
        <p:nvSpPr>
          <p:cNvPr id="25" name="Text 23"/>
          <p:cNvSpPr/>
          <p:nvPr/>
        </p:nvSpPr>
        <p:spPr>
          <a:xfrm>
            <a:off x="6830568" y="2871216"/>
            <a:ext cx="3639312" cy="201168"/>
          </a:xfrm>
          <a:prstGeom prst="rect">
            <a:avLst/>
          </a:prstGeom>
          <a:noFill/>
          <a:ln/>
        </p:spPr>
        <p:txBody>
          <a:bodyPr wrap="square" lIns="0" tIns="0" rIns="0" bIns="0" rtlCol="0" anchor="ctr">
            <a:normAutofit/>
          </a:bodyPr>
          <a:lstStyle/>
          <a:p>
            <a:pPr marL="0" indent="0">
              <a:buNone/>
            </a:pPr>
            <a:r>
              <a:rPr lang="en-US" sz="880" dirty="0">
                <a:solidFill>
                  <a:srgbClr val="111827"/>
                </a:solidFill>
              </a:rPr>
              <a:t>Company researched</a:t>
            </a:r>
            <a:endParaRPr lang="en-US" sz="880" dirty="0"/>
          </a:p>
        </p:txBody>
      </p:sp>
      <p:sp>
        <p:nvSpPr>
          <p:cNvPr id="26" name="Text 24"/>
          <p:cNvSpPr/>
          <p:nvPr/>
        </p:nvSpPr>
        <p:spPr>
          <a:xfrm>
            <a:off x="6629400" y="3209544"/>
            <a:ext cx="137160" cy="164592"/>
          </a:xfrm>
          <a:prstGeom prst="rect">
            <a:avLst/>
          </a:prstGeom>
          <a:noFill/>
          <a:ln/>
        </p:spPr>
        <p:txBody>
          <a:bodyPr wrap="square" lIns="0" tIns="0" rIns="0" bIns="0" rtlCol="0" anchor="ctr"/>
          <a:lstStyle/>
          <a:p>
            <a:pPr marL="0" indent="0">
              <a:buNone/>
            </a:pPr>
            <a:r>
              <a:rPr lang="en-US" sz="880" dirty="0">
                <a:solidFill>
                  <a:srgbClr val="10B981"/>
                </a:solidFill>
              </a:rPr>
              <a:t>•</a:t>
            </a:r>
            <a:endParaRPr lang="en-US" sz="880" dirty="0"/>
          </a:p>
        </p:txBody>
      </p:sp>
      <p:sp>
        <p:nvSpPr>
          <p:cNvPr id="27" name="Text 25"/>
          <p:cNvSpPr/>
          <p:nvPr/>
        </p:nvSpPr>
        <p:spPr>
          <a:xfrm>
            <a:off x="6830568" y="3218688"/>
            <a:ext cx="3639312" cy="201168"/>
          </a:xfrm>
          <a:prstGeom prst="rect">
            <a:avLst/>
          </a:prstGeom>
          <a:noFill/>
          <a:ln/>
        </p:spPr>
        <p:txBody>
          <a:bodyPr wrap="square" lIns="0" tIns="0" rIns="0" bIns="0" rtlCol="0" anchor="ctr">
            <a:normAutofit/>
          </a:bodyPr>
          <a:lstStyle/>
          <a:p>
            <a:pPr marL="0" indent="0">
              <a:buNone/>
            </a:pPr>
            <a:r>
              <a:rPr lang="en-US" sz="880" dirty="0">
                <a:solidFill>
                  <a:srgbClr val="111827"/>
                </a:solidFill>
              </a:rPr>
              <a:t>Project proof highlighted</a:t>
            </a:r>
            <a:endParaRPr lang="en-US" sz="880" dirty="0"/>
          </a:p>
        </p:txBody>
      </p:sp>
      <p:sp>
        <p:nvSpPr>
          <p:cNvPr id="28" name="Text 26"/>
          <p:cNvSpPr/>
          <p:nvPr/>
        </p:nvSpPr>
        <p:spPr>
          <a:xfrm>
            <a:off x="6629400" y="3557016"/>
            <a:ext cx="137160" cy="164592"/>
          </a:xfrm>
          <a:prstGeom prst="rect">
            <a:avLst/>
          </a:prstGeom>
          <a:noFill/>
          <a:ln/>
        </p:spPr>
        <p:txBody>
          <a:bodyPr wrap="square" lIns="0" tIns="0" rIns="0" bIns="0" rtlCol="0" anchor="ctr"/>
          <a:lstStyle/>
          <a:p>
            <a:pPr marL="0" indent="0">
              <a:buNone/>
            </a:pPr>
            <a:r>
              <a:rPr lang="en-US" sz="880" dirty="0">
                <a:solidFill>
                  <a:srgbClr val="10B981"/>
                </a:solidFill>
              </a:rPr>
              <a:t>•</a:t>
            </a:r>
            <a:endParaRPr lang="en-US" sz="880" dirty="0"/>
          </a:p>
        </p:txBody>
      </p:sp>
      <p:sp>
        <p:nvSpPr>
          <p:cNvPr id="29" name="Text 27"/>
          <p:cNvSpPr/>
          <p:nvPr/>
        </p:nvSpPr>
        <p:spPr>
          <a:xfrm>
            <a:off x="6830568" y="3566160"/>
            <a:ext cx="3639312" cy="201168"/>
          </a:xfrm>
          <a:prstGeom prst="rect">
            <a:avLst/>
          </a:prstGeom>
          <a:noFill/>
          <a:ln/>
        </p:spPr>
        <p:txBody>
          <a:bodyPr wrap="square" lIns="0" tIns="0" rIns="0" bIns="0" rtlCol="0" anchor="ctr">
            <a:normAutofit/>
          </a:bodyPr>
          <a:lstStyle/>
          <a:p>
            <a:pPr marL="0" indent="0">
              <a:buNone/>
            </a:pPr>
            <a:r>
              <a:rPr lang="en-US" sz="880" dirty="0">
                <a:solidFill>
                  <a:srgbClr val="111827"/>
                </a:solidFill>
              </a:rPr>
              <a:t>Short tailored note</a:t>
            </a:r>
            <a:endParaRPr lang="en-US" sz="880" dirty="0"/>
          </a:p>
        </p:txBody>
      </p:sp>
      <p:sp>
        <p:nvSpPr>
          <p:cNvPr id="30" name="Text 28"/>
          <p:cNvSpPr/>
          <p:nvPr/>
        </p:nvSpPr>
        <p:spPr>
          <a:xfrm>
            <a:off x="6629400" y="3904488"/>
            <a:ext cx="137160" cy="164592"/>
          </a:xfrm>
          <a:prstGeom prst="rect">
            <a:avLst/>
          </a:prstGeom>
          <a:noFill/>
          <a:ln/>
        </p:spPr>
        <p:txBody>
          <a:bodyPr wrap="square" lIns="0" tIns="0" rIns="0" bIns="0" rtlCol="0" anchor="ctr"/>
          <a:lstStyle/>
          <a:p>
            <a:pPr marL="0" indent="0">
              <a:buNone/>
            </a:pPr>
            <a:r>
              <a:rPr lang="en-US" sz="880" dirty="0">
                <a:solidFill>
                  <a:srgbClr val="10B981"/>
                </a:solidFill>
              </a:rPr>
              <a:t>•</a:t>
            </a:r>
            <a:endParaRPr lang="en-US" sz="880" dirty="0"/>
          </a:p>
        </p:txBody>
      </p:sp>
      <p:sp>
        <p:nvSpPr>
          <p:cNvPr id="31" name="Text 29"/>
          <p:cNvSpPr/>
          <p:nvPr/>
        </p:nvSpPr>
        <p:spPr>
          <a:xfrm>
            <a:off x="6830568" y="3913632"/>
            <a:ext cx="3639312" cy="201168"/>
          </a:xfrm>
          <a:prstGeom prst="rect">
            <a:avLst/>
          </a:prstGeom>
          <a:noFill/>
          <a:ln/>
        </p:spPr>
        <p:txBody>
          <a:bodyPr wrap="square" lIns="0" tIns="0" rIns="0" bIns="0" rtlCol="0" anchor="ctr">
            <a:normAutofit/>
          </a:bodyPr>
          <a:lstStyle/>
          <a:p>
            <a:pPr marL="0" indent="0">
              <a:buNone/>
            </a:pPr>
            <a:r>
              <a:rPr lang="en-US" sz="880" dirty="0">
                <a:solidFill>
                  <a:srgbClr val="111827"/>
                </a:solidFill>
              </a:rPr>
              <a:t>Real conversations</a:t>
            </a:r>
            <a:endParaRPr lang="en-US" sz="880" dirty="0"/>
          </a:p>
        </p:txBody>
      </p:sp>
      <p:sp>
        <p:nvSpPr>
          <p:cNvPr id="32" name="Text 30"/>
          <p:cNvSpPr/>
          <p:nvPr/>
        </p:nvSpPr>
        <p:spPr>
          <a:xfrm>
            <a:off x="1051560" y="5303520"/>
            <a:ext cx="10012680" cy="201168"/>
          </a:xfrm>
          <a:prstGeom prst="rect">
            <a:avLst/>
          </a:prstGeom>
          <a:noFill/>
          <a:ln/>
        </p:spPr>
        <p:txBody>
          <a:bodyPr wrap="square" lIns="0" tIns="0" rIns="0" bIns="0" rtlCol="0" anchor="ctr">
            <a:normAutofit/>
          </a:bodyPr>
          <a:lstStyle/>
          <a:p>
            <a:pPr marL="0" indent="0" algn="ctr">
              <a:buNone/>
            </a:pPr>
            <a:r>
              <a:rPr lang="en-US" sz="1150" b="1" dirty="0">
                <a:solidFill>
                  <a:srgbClr val="2563EB"/>
                </a:solidFill>
              </a:rPr>
              <a:t>Track: Role | Company | Date | Status | Link | Contact | Notes</a:t>
            </a:r>
            <a:endParaRPr lang="en-US" sz="1150" dirty="0"/>
          </a:p>
        </p:txBody>
      </p:sp>
      <p:sp>
        <p:nvSpPr>
          <p:cNvPr id="34" name="Text 31"/>
          <p:cNvSpPr/>
          <p:nvPr/>
        </p:nvSpPr>
        <p:spPr>
          <a:xfrm>
            <a:off x="411480" y="6510528"/>
            <a:ext cx="6400800" cy="164592"/>
          </a:xfrm>
          <a:prstGeom prst="rect">
            <a:avLst/>
          </a:prstGeom>
          <a:noFill/>
          <a:ln/>
        </p:spPr>
        <p:txBody>
          <a:bodyPr wrap="square" lIns="0" tIns="0" rIns="0" bIns="0" rtlCol="0" anchor="ctr"/>
          <a:lstStyle/>
          <a:p>
            <a:pPr marL="0" indent="0">
              <a:buNone/>
            </a:pPr>
            <a:r>
              <a:rPr lang="en-US" sz="600" dirty="0">
                <a:solidFill>
                  <a:srgbClr val="7C7C7C"/>
                </a:solidFill>
                <a:latin typeface="Aptos" pitchFamily="34" charset="0"/>
                <a:ea typeface="Aptos" pitchFamily="34" charset="-122"/>
                <a:cs typeface="Aptos" pitchFamily="34" charset="-120"/>
              </a:rPr>
              <a:t>What's Next After Graduation?  |  Farah Kerbaj</a:t>
            </a:r>
            <a:endParaRPr lang="en-US" sz="600" dirty="0"/>
          </a:p>
        </p:txBody>
      </p:sp>
      <p:sp>
        <p:nvSpPr>
          <p:cNvPr id="35" name="Text 32"/>
          <p:cNvSpPr/>
          <p:nvPr/>
        </p:nvSpPr>
        <p:spPr>
          <a:xfrm>
            <a:off x="11430000" y="6473952"/>
            <a:ext cx="320040" cy="182880"/>
          </a:xfrm>
          <a:prstGeom prst="rect">
            <a:avLst/>
          </a:prstGeom>
          <a:noFill/>
          <a:ln/>
        </p:spPr>
        <p:txBody>
          <a:bodyPr wrap="square" lIns="0" tIns="0" rIns="0" bIns="0" rtlCol="0" anchor="ctr"/>
          <a:lstStyle/>
          <a:p>
            <a:pPr marL="0" indent="0" algn="r">
              <a:buNone/>
            </a:pPr>
            <a:r>
              <a:rPr lang="en-US" sz="700" dirty="0">
                <a:solidFill>
                  <a:srgbClr val="7C7C7C"/>
                </a:solidFill>
              </a:rPr>
              <a:t>29</a:t>
            </a:r>
            <a:endParaRPr lang="en-US" sz="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4F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F2"/>
          </a:solidFill>
          <a:ln w="12700">
            <a:solidFill>
              <a:srgbClr val="F7F4F2">
                <a:alpha val="0"/>
              </a:srgbClr>
            </a:solidFill>
            <a:prstDash val="solid"/>
          </a:ln>
        </p:spPr>
      </p:sp>
      <p:sp>
        <p:nvSpPr>
          <p:cNvPr id="3" name="Shape 1"/>
          <p:cNvSpPr/>
          <p:nvPr/>
        </p:nvSpPr>
        <p:spPr>
          <a:xfrm>
            <a:off x="0" y="0"/>
            <a:ext cx="12191695" cy="73152"/>
          </a:xfrm>
          <a:prstGeom prst="rect">
            <a:avLst/>
          </a:prstGeom>
          <a:solidFill>
            <a:srgbClr val="152238"/>
          </a:solidFill>
          <a:ln w="12700">
            <a:solidFill>
              <a:srgbClr val="152238"/>
            </a:solidFill>
            <a:prstDash val="solid"/>
          </a:ln>
        </p:spPr>
      </p:sp>
      <p:sp>
        <p:nvSpPr>
          <p:cNvPr id="4" name="Text 2"/>
          <p:cNvSpPr/>
          <p:nvPr/>
        </p:nvSpPr>
        <p:spPr>
          <a:xfrm>
            <a:off x="667512" y="274320"/>
            <a:ext cx="7315200" cy="201168"/>
          </a:xfrm>
          <a:prstGeom prst="rect">
            <a:avLst/>
          </a:prstGeom>
          <a:noFill/>
          <a:ln/>
        </p:spPr>
        <p:txBody>
          <a:bodyPr wrap="square" lIns="0" tIns="0" rIns="0" bIns="0" rtlCol="0" anchor="ctr"/>
          <a:lstStyle/>
          <a:p>
            <a:pPr marL="0" indent="0">
              <a:buNone/>
            </a:pPr>
            <a:r>
              <a:rPr lang="en-US" sz="750" b="1" dirty="0">
                <a:solidFill>
                  <a:srgbClr val="00A8CC"/>
                </a:solidFill>
              </a:rPr>
              <a:t>YOUR UNFAIR ADVANTAGE</a:t>
            </a:r>
            <a:endParaRPr lang="en-US" sz="750" dirty="0"/>
          </a:p>
        </p:txBody>
      </p:sp>
      <p:sp>
        <p:nvSpPr>
          <p:cNvPr id="5" name="Text 3"/>
          <p:cNvSpPr/>
          <p:nvPr/>
        </p:nvSpPr>
        <p:spPr>
          <a:xfrm>
            <a:off x="640080" y="502920"/>
            <a:ext cx="10881360" cy="438912"/>
          </a:xfrm>
          <a:prstGeom prst="rect">
            <a:avLst/>
          </a:prstGeom>
          <a:noFill/>
          <a:ln/>
        </p:spPr>
        <p:txBody>
          <a:bodyPr wrap="square" lIns="0" tIns="0" rIns="0" bIns="0" rtlCol="0" anchor="ctr">
            <a:normAutofit/>
          </a:bodyPr>
          <a:lstStyle/>
          <a:p>
            <a:pPr marL="0" indent="0">
              <a:buNone/>
            </a:pPr>
            <a:r>
              <a:rPr lang="en-US" sz="2500" b="1" dirty="0">
                <a:solidFill>
                  <a:srgbClr val="FFFFFF"/>
                </a:solidFill>
                <a:latin typeface="Aptos Display" pitchFamily="34" charset="0"/>
                <a:ea typeface="Aptos Display" pitchFamily="34" charset="-122"/>
                <a:cs typeface="Aptos Display" pitchFamily="34" charset="-120"/>
              </a:rPr>
              <a:t>Use AI Throughout Your Job Search</a:t>
            </a:r>
            <a:endParaRPr lang="en-US" sz="2500" dirty="0"/>
          </a:p>
        </p:txBody>
      </p:sp>
      <p:sp>
        <p:nvSpPr>
          <p:cNvPr id="6" name="Text 4"/>
          <p:cNvSpPr/>
          <p:nvPr/>
        </p:nvSpPr>
        <p:spPr>
          <a:xfrm>
            <a:off x="667512" y="987552"/>
            <a:ext cx="10424160" cy="256032"/>
          </a:xfrm>
          <a:prstGeom prst="rect">
            <a:avLst/>
          </a:prstGeom>
          <a:noFill/>
          <a:ln/>
        </p:spPr>
        <p:txBody>
          <a:bodyPr wrap="square" lIns="0" tIns="0" rIns="0" bIns="0" rtlCol="0" anchor="ctr"/>
          <a:lstStyle/>
          <a:p>
            <a:pPr marL="0" indent="0">
              <a:buNone/>
            </a:pPr>
            <a:r>
              <a:rPr lang="en-US" sz="950" dirty="0">
                <a:solidFill>
                  <a:srgbClr val="C7D2FE"/>
                </a:solidFill>
              </a:rPr>
              <a:t>Don’t let AI replace your story — let it sharpen it</a:t>
            </a:r>
            <a:endParaRPr lang="en-US" sz="950" dirty="0"/>
          </a:p>
        </p:txBody>
      </p:sp>
      <p:sp>
        <p:nvSpPr>
          <p:cNvPr id="7" name="Shape 5"/>
          <p:cNvSpPr/>
          <p:nvPr/>
        </p:nvSpPr>
        <p:spPr>
          <a:xfrm>
            <a:off x="640080" y="1325880"/>
            <a:ext cx="10881360" cy="0"/>
          </a:xfrm>
          <a:prstGeom prst="line">
            <a:avLst/>
          </a:prstGeom>
          <a:noFill/>
          <a:ln w="12700">
            <a:solidFill>
              <a:srgbClr val="D6D3D1"/>
            </a:solidFill>
            <a:prstDash val="solid"/>
          </a:ln>
        </p:spPr>
      </p:sp>
      <p:sp>
        <p:nvSpPr>
          <p:cNvPr id="8" name="Shape 6"/>
          <p:cNvSpPr/>
          <p:nvPr/>
        </p:nvSpPr>
        <p:spPr>
          <a:xfrm>
            <a:off x="777240" y="1508760"/>
            <a:ext cx="3520440" cy="960120"/>
          </a:xfrm>
          <a:prstGeom prst="roundRect">
            <a:avLst>
              <a:gd name="adj" fmla="val 7619"/>
            </a:avLst>
          </a:prstGeom>
          <a:solidFill>
            <a:srgbClr val="FFFFFF"/>
          </a:solidFill>
          <a:ln w="12700">
            <a:solidFill>
              <a:srgbClr val="E8E2DE"/>
            </a:solidFill>
            <a:prstDash val="solid"/>
          </a:ln>
        </p:spPr>
      </p:sp>
      <p:sp>
        <p:nvSpPr>
          <p:cNvPr id="9" name="Text 7"/>
          <p:cNvSpPr/>
          <p:nvPr/>
        </p:nvSpPr>
        <p:spPr>
          <a:xfrm>
            <a:off x="1005840" y="1691640"/>
            <a:ext cx="2926080" cy="182880"/>
          </a:xfrm>
          <a:prstGeom prst="rect">
            <a:avLst/>
          </a:prstGeom>
          <a:noFill/>
          <a:ln/>
        </p:spPr>
        <p:txBody>
          <a:bodyPr wrap="square" lIns="0" tIns="0" rIns="0" bIns="0" rtlCol="0" anchor="ctr"/>
          <a:lstStyle/>
          <a:p>
            <a:pPr marL="0" indent="0">
              <a:buNone/>
            </a:pPr>
            <a:r>
              <a:rPr lang="en-US" sz="1080" b="1" dirty="0">
                <a:solidFill>
                  <a:srgbClr val="152238"/>
                </a:solidFill>
              </a:rPr>
              <a:t>CV review</a:t>
            </a:r>
            <a:endParaRPr lang="en-US" sz="1080" dirty="0"/>
          </a:p>
        </p:txBody>
      </p:sp>
      <p:sp>
        <p:nvSpPr>
          <p:cNvPr id="10" name="Text 8"/>
          <p:cNvSpPr/>
          <p:nvPr/>
        </p:nvSpPr>
        <p:spPr>
          <a:xfrm>
            <a:off x="1005840" y="2011680"/>
            <a:ext cx="2926080" cy="182880"/>
          </a:xfrm>
          <a:prstGeom prst="rect">
            <a:avLst/>
          </a:prstGeom>
          <a:noFill/>
          <a:ln/>
        </p:spPr>
        <p:txBody>
          <a:bodyPr wrap="square" lIns="0" tIns="0" rIns="0" bIns="0" rtlCol="0" anchor="ctr">
            <a:normAutofit/>
          </a:bodyPr>
          <a:lstStyle/>
          <a:p>
            <a:pPr marL="0" indent="0">
              <a:buNone/>
            </a:pPr>
            <a:r>
              <a:rPr lang="en-US" sz="860" dirty="0">
                <a:solidFill>
                  <a:srgbClr val="5B6472"/>
                </a:solidFill>
              </a:rPr>
              <a:t>Ask for ATS gaps and clearer bullets</a:t>
            </a:r>
            <a:endParaRPr lang="en-US" sz="860" dirty="0"/>
          </a:p>
        </p:txBody>
      </p:sp>
      <p:sp>
        <p:nvSpPr>
          <p:cNvPr id="11" name="Shape 9"/>
          <p:cNvSpPr/>
          <p:nvPr/>
        </p:nvSpPr>
        <p:spPr>
          <a:xfrm>
            <a:off x="4480560" y="1508760"/>
            <a:ext cx="3520440" cy="960120"/>
          </a:xfrm>
          <a:prstGeom prst="roundRect">
            <a:avLst>
              <a:gd name="adj" fmla="val 7619"/>
            </a:avLst>
          </a:prstGeom>
          <a:solidFill>
            <a:srgbClr val="1F2937"/>
          </a:solidFill>
          <a:ln w="12700">
            <a:solidFill>
              <a:srgbClr val="E8E2DE"/>
            </a:solidFill>
            <a:prstDash val="solid"/>
          </a:ln>
        </p:spPr>
      </p:sp>
      <p:sp>
        <p:nvSpPr>
          <p:cNvPr id="12" name="Text 10"/>
          <p:cNvSpPr/>
          <p:nvPr/>
        </p:nvSpPr>
        <p:spPr>
          <a:xfrm>
            <a:off x="4709160" y="1691640"/>
            <a:ext cx="2926080" cy="182880"/>
          </a:xfrm>
          <a:prstGeom prst="rect">
            <a:avLst/>
          </a:prstGeom>
          <a:noFill/>
          <a:ln/>
        </p:spPr>
        <p:txBody>
          <a:bodyPr wrap="square" lIns="0" tIns="0" rIns="0" bIns="0" rtlCol="0" anchor="ctr"/>
          <a:lstStyle/>
          <a:p>
            <a:pPr marL="0" indent="0">
              <a:buNone/>
            </a:pPr>
            <a:r>
              <a:rPr lang="en-US" sz="1080" b="1" dirty="0">
                <a:solidFill>
                  <a:srgbClr val="FFFFFF"/>
                </a:solidFill>
              </a:rPr>
              <a:t>Job description scanner</a:t>
            </a:r>
            <a:endParaRPr lang="en-US" sz="1080" dirty="0"/>
          </a:p>
        </p:txBody>
      </p:sp>
      <p:sp>
        <p:nvSpPr>
          <p:cNvPr id="13" name="Text 11"/>
          <p:cNvSpPr/>
          <p:nvPr/>
        </p:nvSpPr>
        <p:spPr>
          <a:xfrm>
            <a:off x="4709160" y="2011680"/>
            <a:ext cx="2926080" cy="182880"/>
          </a:xfrm>
          <a:prstGeom prst="rect">
            <a:avLst/>
          </a:prstGeom>
          <a:noFill/>
          <a:ln/>
        </p:spPr>
        <p:txBody>
          <a:bodyPr wrap="square" lIns="0" tIns="0" rIns="0" bIns="0" rtlCol="0" anchor="ctr">
            <a:normAutofit/>
          </a:bodyPr>
          <a:lstStyle/>
          <a:p>
            <a:pPr marL="0" indent="0">
              <a:buNone/>
            </a:pPr>
            <a:r>
              <a:rPr lang="en-US" sz="860" dirty="0">
                <a:solidFill>
                  <a:srgbClr val="CBD5E1"/>
                </a:solidFill>
              </a:rPr>
              <a:t>Extract must-have skills and keywords</a:t>
            </a:r>
            <a:endParaRPr lang="en-US" sz="860" dirty="0"/>
          </a:p>
        </p:txBody>
      </p:sp>
      <p:sp>
        <p:nvSpPr>
          <p:cNvPr id="14" name="Shape 12"/>
          <p:cNvSpPr/>
          <p:nvPr/>
        </p:nvSpPr>
        <p:spPr>
          <a:xfrm>
            <a:off x="8183880" y="1508760"/>
            <a:ext cx="3520440" cy="960120"/>
          </a:xfrm>
          <a:prstGeom prst="roundRect">
            <a:avLst>
              <a:gd name="adj" fmla="val 7619"/>
            </a:avLst>
          </a:prstGeom>
          <a:solidFill>
            <a:srgbClr val="FFFFFF"/>
          </a:solidFill>
          <a:ln w="12700">
            <a:solidFill>
              <a:srgbClr val="E8E2DE"/>
            </a:solidFill>
            <a:prstDash val="solid"/>
          </a:ln>
        </p:spPr>
      </p:sp>
      <p:sp>
        <p:nvSpPr>
          <p:cNvPr id="15" name="Text 13"/>
          <p:cNvSpPr/>
          <p:nvPr/>
        </p:nvSpPr>
        <p:spPr>
          <a:xfrm>
            <a:off x="8412480" y="1691640"/>
            <a:ext cx="2926080" cy="182880"/>
          </a:xfrm>
          <a:prstGeom prst="rect">
            <a:avLst/>
          </a:prstGeom>
          <a:noFill/>
          <a:ln/>
        </p:spPr>
        <p:txBody>
          <a:bodyPr wrap="square" lIns="0" tIns="0" rIns="0" bIns="0" rtlCol="0" anchor="ctr"/>
          <a:lstStyle/>
          <a:p>
            <a:pPr marL="0" indent="0">
              <a:buNone/>
            </a:pPr>
            <a:r>
              <a:rPr lang="en-US" sz="1080" b="1" dirty="0">
                <a:solidFill>
                  <a:srgbClr val="152238"/>
                </a:solidFill>
              </a:rPr>
              <a:t>Mock interview</a:t>
            </a:r>
            <a:endParaRPr lang="en-US" sz="1080" dirty="0"/>
          </a:p>
        </p:txBody>
      </p:sp>
      <p:sp>
        <p:nvSpPr>
          <p:cNvPr id="16" name="Text 14"/>
          <p:cNvSpPr/>
          <p:nvPr/>
        </p:nvSpPr>
        <p:spPr>
          <a:xfrm>
            <a:off x="8412480" y="2011680"/>
            <a:ext cx="2926080" cy="182880"/>
          </a:xfrm>
          <a:prstGeom prst="rect">
            <a:avLst/>
          </a:prstGeom>
          <a:noFill/>
          <a:ln/>
        </p:spPr>
        <p:txBody>
          <a:bodyPr wrap="square" lIns="0" tIns="0" rIns="0" bIns="0" rtlCol="0" anchor="ctr">
            <a:normAutofit/>
          </a:bodyPr>
          <a:lstStyle/>
          <a:p>
            <a:pPr marL="0" indent="0">
              <a:buNone/>
            </a:pPr>
            <a:r>
              <a:rPr lang="en-US" sz="860" dirty="0">
                <a:solidFill>
                  <a:srgbClr val="5B6472"/>
                </a:solidFill>
              </a:rPr>
              <a:t>Practice STAR answers and technical explanations</a:t>
            </a:r>
            <a:endParaRPr lang="en-US" sz="860" dirty="0"/>
          </a:p>
        </p:txBody>
      </p:sp>
      <p:sp>
        <p:nvSpPr>
          <p:cNvPr id="17" name="Shape 15"/>
          <p:cNvSpPr/>
          <p:nvPr/>
        </p:nvSpPr>
        <p:spPr>
          <a:xfrm>
            <a:off x="777240" y="2651760"/>
            <a:ext cx="3520440" cy="960120"/>
          </a:xfrm>
          <a:prstGeom prst="roundRect">
            <a:avLst>
              <a:gd name="adj" fmla="val 7619"/>
            </a:avLst>
          </a:prstGeom>
          <a:solidFill>
            <a:srgbClr val="1F2937"/>
          </a:solidFill>
          <a:ln w="12700">
            <a:solidFill>
              <a:srgbClr val="E8E2DE"/>
            </a:solidFill>
            <a:prstDash val="solid"/>
          </a:ln>
        </p:spPr>
      </p:sp>
      <p:sp>
        <p:nvSpPr>
          <p:cNvPr id="18" name="Text 16"/>
          <p:cNvSpPr/>
          <p:nvPr/>
        </p:nvSpPr>
        <p:spPr>
          <a:xfrm>
            <a:off x="1005840" y="2834640"/>
            <a:ext cx="2926080" cy="182880"/>
          </a:xfrm>
          <a:prstGeom prst="rect">
            <a:avLst/>
          </a:prstGeom>
          <a:noFill/>
          <a:ln/>
        </p:spPr>
        <p:txBody>
          <a:bodyPr wrap="square" lIns="0" tIns="0" rIns="0" bIns="0" rtlCol="0" anchor="ctr"/>
          <a:lstStyle/>
          <a:p>
            <a:pPr marL="0" indent="0">
              <a:buNone/>
            </a:pPr>
            <a:r>
              <a:rPr lang="en-US" sz="1080" b="1" dirty="0">
                <a:solidFill>
                  <a:srgbClr val="FFFFFF"/>
                </a:solidFill>
              </a:rPr>
              <a:t>README generator</a:t>
            </a:r>
            <a:endParaRPr lang="en-US" sz="1080" dirty="0"/>
          </a:p>
        </p:txBody>
      </p:sp>
      <p:sp>
        <p:nvSpPr>
          <p:cNvPr id="19" name="Text 17"/>
          <p:cNvSpPr/>
          <p:nvPr/>
        </p:nvSpPr>
        <p:spPr>
          <a:xfrm>
            <a:off x="1005840" y="3154680"/>
            <a:ext cx="2926080" cy="182880"/>
          </a:xfrm>
          <a:prstGeom prst="rect">
            <a:avLst/>
          </a:prstGeom>
          <a:noFill/>
          <a:ln/>
        </p:spPr>
        <p:txBody>
          <a:bodyPr wrap="square" lIns="0" tIns="0" rIns="0" bIns="0" rtlCol="0" anchor="ctr">
            <a:normAutofit/>
          </a:bodyPr>
          <a:lstStyle/>
          <a:p>
            <a:pPr marL="0" indent="0">
              <a:buNone/>
            </a:pPr>
            <a:r>
              <a:rPr lang="en-US" sz="860" dirty="0">
                <a:solidFill>
                  <a:srgbClr val="CBD5E1"/>
                </a:solidFill>
              </a:rPr>
              <a:t>Turn projects into recruiter-friendly documentation</a:t>
            </a:r>
            <a:endParaRPr lang="en-US" sz="860" dirty="0"/>
          </a:p>
        </p:txBody>
      </p:sp>
      <p:sp>
        <p:nvSpPr>
          <p:cNvPr id="20" name="Shape 18"/>
          <p:cNvSpPr/>
          <p:nvPr/>
        </p:nvSpPr>
        <p:spPr>
          <a:xfrm>
            <a:off x="4480560" y="2651760"/>
            <a:ext cx="3520440" cy="960120"/>
          </a:xfrm>
          <a:prstGeom prst="roundRect">
            <a:avLst>
              <a:gd name="adj" fmla="val 7619"/>
            </a:avLst>
          </a:prstGeom>
          <a:solidFill>
            <a:srgbClr val="FFFFFF"/>
          </a:solidFill>
          <a:ln w="12700">
            <a:solidFill>
              <a:srgbClr val="E8E2DE"/>
            </a:solidFill>
            <a:prstDash val="solid"/>
          </a:ln>
        </p:spPr>
      </p:sp>
      <p:sp>
        <p:nvSpPr>
          <p:cNvPr id="21" name="Text 19"/>
          <p:cNvSpPr/>
          <p:nvPr/>
        </p:nvSpPr>
        <p:spPr>
          <a:xfrm>
            <a:off x="4709160" y="2834640"/>
            <a:ext cx="2926080" cy="182880"/>
          </a:xfrm>
          <a:prstGeom prst="rect">
            <a:avLst/>
          </a:prstGeom>
          <a:noFill/>
          <a:ln/>
        </p:spPr>
        <p:txBody>
          <a:bodyPr wrap="square" lIns="0" tIns="0" rIns="0" bIns="0" rtlCol="0" anchor="ctr"/>
          <a:lstStyle/>
          <a:p>
            <a:pPr marL="0" indent="0">
              <a:buNone/>
            </a:pPr>
            <a:r>
              <a:rPr lang="en-US" sz="1080" b="1" dirty="0">
                <a:solidFill>
                  <a:srgbClr val="152238"/>
                </a:solidFill>
              </a:rPr>
              <a:t>LinkedIn support</a:t>
            </a:r>
            <a:endParaRPr lang="en-US" sz="1080" dirty="0"/>
          </a:p>
        </p:txBody>
      </p:sp>
      <p:sp>
        <p:nvSpPr>
          <p:cNvPr id="22" name="Text 20"/>
          <p:cNvSpPr/>
          <p:nvPr/>
        </p:nvSpPr>
        <p:spPr>
          <a:xfrm>
            <a:off x="4709160" y="3154680"/>
            <a:ext cx="2926080" cy="182880"/>
          </a:xfrm>
          <a:prstGeom prst="rect">
            <a:avLst/>
          </a:prstGeom>
          <a:noFill/>
          <a:ln/>
        </p:spPr>
        <p:txBody>
          <a:bodyPr wrap="square" lIns="0" tIns="0" rIns="0" bIns="0" rtlCol="0" anchor="ctr">
            <a:normAutofit/>
          </a:bodyPr>
          <a:lstStyle/>
          <a:p>
            <a:pPr marL="0" indent="0">
              <a:buNone/>
            </a:pPr>
            <a:r>
              <a:rPr lang="en-US" sz="860" dirty="0">
                <a:solidFill>
                  <a:srgbClr val="5B6472"/>
                </a:solidFill>
              </a:rPr>
              <a:t>Improve headline, About, and posts</a:t>
            </a:r>
            <a:endParaRPr lang="en-US" sz="860" dirty="0"/>
          </a:p>
        </p:txBody>
      </p:sp>
      <p:sp>
        <p:nvSpPr>
          <p:cNvPr id="23" name="Shape 21"/>
          <p:cNvSpPr/>
          <p:nvPr/>
        </p:nvSpPr>
        <p:spPr>
          <a:xfrm>
            <a:off x="8183880" y="2651760"/>
            <a:ext cx="3520440" cy="960120"/>
          </a:xfrm>
          <a:prstGeom prst="roundRect">
            <a:avLst>
              <a:gd name="adj" fmla="val 7619"/>
            </a:avLst>
          </a:prstGeom>
          <a:solidFill>
            <a:srgbClr val="1F2937"/>
          </a:solidFill>
          <a:ln w="12700">
            <a:solidFill>
              <a:srgbClr val="E8E2DE"/>
            </a:solidFill>
            <a:prstDash val="solid"/>
          </a:ln>
        </p:spPr>
      </p:sp>
      <p:sp>
        <p:nvSpPr>
          <p:cNvPr id="24" name="Text 22"/>
          <p:cNvSpPr/>
          <p:nvPr/>
        </p:nvSpPr>
        <p:spPr>
          <a:xfrm>
            <a:off x="8412480" y="2834640"/>
            <a:ext cx="2926080" cy="182880"/>
          </a:xfrm>
          <a:prstGeom prst="rect">
            <a:avLst/>
          </a:prstGeom>
          <a:noFill/>
          <a:ln/>
        </p:spPr>
        <p:txBody>
          <a:bodyPr wrap="square" lIns="0" tIns="0" rIns="0" bIns="0" rtlCol="0" anchor="ctr"/>
          <a:lstStyle/>
          <a:p>
            <a:pPr marL="0" indent="0">
              <a:buNone/>
            </a:pPr>
            <a:r>
              <a:rPr lang="en-US" sz="1080" b="1" dirty="0">
                <a:solidFill>
                  <a:srgbClr val="FFFFFF"/>
                </a:solidFill>
              </a:rPr>
              <a:t>Learning roadmap</a:t>
            </a:r>
            <a:endParaRPr lang="en-US" sz="1080" dirty="0"/>
          </a:p>
        </p:txBody>
      </p:sp>
      <p:sp>
        <p:nvSpPr>
          <p:cNvPr id="25" name="Text 23"/>
          <p:cNvSpPr/>
          <p:nvPr/>
        </p:nvSpPr>
        <p:spPr>
          <a:xfrm>
            <a:off x="8412480" y="3154680"/>
            <a:ext cx="2926080" cy="182880"/>
          </a:xfrm>
          <a:prstGeom prst="rect">
            <a:avLst/>
          </a:prstGeom>
          <a:noFill/>
          <a:ln/>
        </p:spPr>
        <p:txBody>
          <a:bodyPr wrap="square" lIns="0" tIns="0" rIns="0" bIns="0" rtlCol="0" anchor="ctr">
            <a:normAutofit/>
          </a:bodyPr>
          <a:lstStyle/>
          <a:p>
            <a:pPr marL="0" indent="0">
              <a:buNone/>
            </a:pPr>
            <a:r>
              <a:rPr lang="en-US" sz="860" dirty="0">
                <a:solidFill>
                  <a:srgbClr val="CBD5E1"/>
                </a:solidFill>
              </a:rPr>
              <a:t>Create a 30-day plan for your target role</a:t>
            </a:r>
            <a:endParaRPr lang="en-US" sz="860" dirty="0"/>
          </a:p>
        </p:txBody>
      </p:sp>
      <p:sp>
        <p:nvSpPr>
          <p:cNvPr id="27" name="Text 24"/>
          <p:cNvSpPr/>
          <p:nvPr/>
        </p:nvSpPr>
        <p:spPr>
          <a:xfrm>
            <a:off x="411480" y="6510528"/>
            <a:ext cx="6400800" cy="164592"/>
          </a:xfrm>
          <a:prstGeom prst="rect">
            <a:avLst/>
          </a:prstGeom>
          <a:noFill/>
          <a:ln/>
        </p:spPr>
        <p:txBody>
          <a:bodyPr wrap="square" lIns="0" tIns="0" rIns="0" bIns="0" rtlCol="0" anchor="ctr"/>
          <a:lstStyle/>
          <a:p>
            <a:pPr marL="0" indent="0">
              <a:buNone/>
            </a:pPr>
            <a:r>
              <a:rPr lang="en-US" sz="600" dirty="0">
                <a:solidFill>
                  <a:srgbClr val="7C7C7C"/>
                </a:solidFill>
                <a:latin typeface="Aptos" pitchFamily="34" charset="0"/>
                <a:ea typeface="Aptos" pitchFamily="34" charset="-122"/>
                <a:cs typeface="Aptos" pitchFamily="34" charset="-120"/>
              </a:rPr>
              <a:t>What's Next After Graduation?  |  Farah Kerbaj</a:t>
            </a:r>
            <a:endParaRPr lang="en-US" sz="600" dirty="0"/>
          </a:p>
        </p:txBody>
      </p:sp>
      <p:sp>
        <p:nvSpPr>
          <p:cNvPr id="28" name="Text 25"/>
          <p:cNvSpPr/>
          <p:nvPr/>
        </p:nvSpPr>
        <p:spPr>
          <a:xfrm>
            <a:off x="11430000" y="6473952"/>
            <a:ext cx="320040" cy="182880"/>
          </a:xfrm>
          <a:prstGeom prst="rect">
            <a:avLst/>
          </a:prstGeom>
          <a:noFill/>
          <a:ln/>
        </p:spPr>
        <p:txBody>
          <a:bodyPr wrap="square" lIns="0" tIns="0" rIns="0" bIns="0" rtlCol="0" anchor="ctr"/>
          <a:lstStyle/>
          <a:p>
            <a:pPr marL="0" indent="0" algn="r">
              <a:buNone/>
            </a:pPr>
            <a:r>
              <a:rPr lang="en-US" sz="700" dirty="0">
                <a:solidFill>
                  <a:srgbClr val="7C7C7C"/>
                </a:solidFill>
              </a:rPr>
              <a:t>30</a:t>
            </a:r>
            <a:endParaRPr lang="en-US" sz="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4F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F2"/>
          </a:solidFill>
          <a:ln w="12700">
            <a:solidFill>
              <a:srgbClr val="F7F4F2">
                <a:alpha val="0"/>
              </a:srgbClr>
            </a:solidFill>
            <a:prstDash val="solid"/>
          </a:ln>
        </p:spPr>
      </p:sp>
      <p:sp>
        <p:nvSpPr>
          <p:cNvPr id="3" name="Shape 1"/>
          <p:cNvSpPr/>
          <p:nvPr/>
        </p:nvSpPr>
        <p:spPr>
          <a:xfrm>
            <a:off x="0" y="0"/>
            <a:ext cx="12191695" cy="73152"/>
          </a:xfrm>
          <a:prstGeom prst="rect">
            <a:avLst/>
          </a:prstGeom>
          <a:solidFill>
            <a:srgbClr val="10B981"/>
          </a:solidFill>
          <a:ln w="12700">
            <a:solidFill>
              <a:srgbClr val="10B981"/>
            </a:solidFill>
            <a:prstDash val="solid"/>
          </a:ln>
        </p:spPr>
      </p:sp>
      <p:sp>
        <p:nvSpPr>
          <p:cNvPr id="4" name="Text 2"/>
          <p:cNvSpPr/>
          <p:nvPr/>
        </p:nvSpPr>
        <p:spPr>
          <a:xfrm>
            <a:off x="667512" y="274320"/>
            <a:ext cx="7315200" cy="201168"/>
          </a:xfrm>
          <a:prstGeom prst="rect">
            <a:avLst/>
          </a:prstGeom>
          <a:noFill/>
          <a:ln/>
        </p:spPr>
        <p:txBody>
          <a:bodyPr wrap="square" lIns="0" tIns="0" rIns="0" bIns="0" rtlCol="0" anchor="ctr"/>
          <a:lstStyle/>
          <a:p>
            <a:pPr marL="0" indent="0">
              <a:buNone/>
            </a:pPr>
            <a:r>
              <a:rPr lang="en-US" sz="750" b="1" dirty="0">
                <a:solidFill>
                  <a:srgbClr val="10B981"/>
                </a:solidFill>
              </a:rPr>
              <a:t>INTERVIEW PREP</a:t>
            </a:r>
            <a:endParaRPr lang="en-US" sz="750" dirty="0"/>
          </a:p>
        </p:txBody>
      </p:sp>
      <p:sp>
        <p:nvSpPr>
          <p:cNvPr id="5" name="Text 3"/>
          <p:cNvSpPr/>
          <p:nvPr/>
        </p:nvSpPr>
        <p:spPr>
          <a:xfrm>
            <a:off x="640080" y="502920"/>
            <a:ext cx="10881360" cy="438912"/>
          </a:xfrm>
          <a:prstGeom prst="rect">
            <a:avLst/>
          </a:prstGeom>
          <a:noFill/>
          <a:ln/>
        </p:spPr>
        <p:txBody>
          <a:bodyPr wrap="square" lIns="0" tIns="0" rIns="0" bIns="0" rtlCol="0" anchor="ctr">
            <a:normAutofit/>
          </a:bodyPr>
          <a:lstStyle/>
          <a:p>
            <a:pPr marL="0" indent="0">
              <a:buNone/>
            </a:pPr>
            <a:r>
              <a:rPr lang="en-US" sz="2500" b="1" dirty="0">
                <a:solidFill>
                  <a:srgbClr val="111827"/>
                </a:solidFill>
                <a:latin typeface="Aptos Display" pitchFamily="34" charset="0"/>
                <a:ea typeface="Aptos Display" pitchFamily="34" charset="-122"/>
                <a:cs typeface="Aptos Display" pitchFamily="34" charset="-120"/>
              </a:rPr>
              <a:t>Every Interview Needs Two Tools</a:t>
            </a:r>
            <a:endParaRPr lang="en-US" sz="2500" dirty="0"/>
          </a:p>
        </p:txBody>
      </p:sp>
      <p:sp>
        <p:nvSpPr>
          <p:cNvPr id="6" name="Text 4"/>
          <p:cNvSpPr/>
          <p:nvPr/>
        </p:nvSpPr>
        <p:spPr>
          <a:xfrm>
            <a:off x="667512" y="987552"/>
            <a:ext cx="10424160" cy="256032"/>
          </a:xfrm>
          <a:prstGeom prst="rect">
            <a:avLst/>
          </a:prstGeom>
          <a:noFill/>
          <a:ln/>
        </p:spPr>
        <p:txBody>
          <a:bodyPr wrap="square" lIns="0" tIns="0" rIns="0" bIns="0" rtlCol="0" anchor="ctr"/>
          <a:lstStyle/>
          <a:p>
            <a:pPr marL="0" indent="0">
              <a:buNone/>
            </a:pPr>
            <a:r>
              <a:rPr lang="en-US" sz="950" dirty="0">
                <a:solidFill>
                  <a:srgbClr val="5B6472"/>
                </a:solidFill>
              </a:rPr>
              <a:t>STAR for evidence + Present/Past/Future for your intro</a:t>
            </a:r>
            <a:endParaRPr lang="en-US" sz="950" dirty="0"/>
          </a:p>
        </p:txBody>
      </p:sp>
      <p:sp>
        <p:nvSpPr>
          <p:cNvPr id="7" name="Shape 5"/>
          <p:cNvSpPr/>
          <p:nvPr/>
        </p:nvSpPr>
        <p:spPr>
          <a:xfrm>
            <a:off x="640080" y="1325880"/>
            <a:ext cx="10881360" cy="0"/>
          </a:xfrm>
          <a:prstGeom prst="line">
            <a:avLst/>
          </a:prstGeom>
          <a:noFill/>
          <a:ln w="12700">
            <a:solidFill>
              <a:srgbClr val="D6D3D1"/>
            </a:solidFill>
            <a:prstDash val="solid"/>
          </a:ln>
        </p:spPr>
      </p:sp>
      <p:sp>
        <p:nvSpPr>
          <p:cNvPr id="8" name="Shape 6"/>
          <p:cNvSpPr/>
          <p:nvPr/>
        </p:nvSpPr>
        <p:spPr>
          <a:xfrm>
            <a:off x="868680" y="1600200"/>
            <a:ext cx="5120640" cy="3520440"/>
          </a:xfrm>
          <a:prstGeom prst="roundRect">
            <a:avLst>
              <a:gd name="adj" fmla="val 2078"/>
            </a:avLst>
          </a:prstGeom>
          <a:solidFill>
            <a:srgbClr val="D1FAE5"/>
          </a:solidFill>
          <a:ln w="12700">
            <a:solidFill>
              <a:srgbClr val="E8E2DE"/>
            </a:solidFill>
            <a:prstDash val="solid"/>
          </a:ln>
        </p:spPr>
      </p:sp>
      <p:sp>
        <p:nvSpPr>
          <p:cNvPr id="9" name="Shape 7"/>
          <p:cNvSpPr/>
          <p:nvPr/>
        </p:nvSpPr>
        <p:spPr>
          <a:xfrm>
            <a:off x="6263640" y="1600200"/>
            <a:ext cx="5074920" cy="3520440"/>
          </a:xfrm>
          <a:prstGeom prst="roundRect">
            <a:avLst>
              <a:gd name="adj" fmla="val 2078"/>
            </a:avLst>
          </a:prstGeom>
          <a:solidFill>
            <a:srgbClr val="FFFFFF"/>
          </a:solidFill>
          <a:ln w="12700">
            <a:solidFill>
              <a:srgbClr val="E8E2DE"/>
            </a:solidFill>
            <a:prstDash val="solid"/>
          </a:ln>
        </p:spPr>
      </p:sp>
      <p:sp>
        <p:nvSpPr>
          <p:cNvPr id="10" name="Text 8"/>
          <p:cNvSpPr/>
          <p:nvPr/>
        </p:nvSpPr>
        <p:spPr>
          <a:xfrm>
            <a:off x="1143000" y="1874520"/>
            <a:ext cx="2743200" cy="274320"/>
          </a:xfrm>
          <a:prstGeom prst="rect">
            <a:avLst/>
          </a:prstGeom>
          <a:noFill/>
          <a:ln/>
        </p:spPr>
        <p:txBody>
          <a:bodyPr wrap="square" lIns="0" tIns="0" rIns="0" bIns="0" rtlCol="0" anchor="ctr"/>
          <a:lstStyle/>
          <a:p>
            <a:pPr marL="0" indent="0">
              <a:buNone/>
            </a:pPr>
            <a:r>
              <a:rPr lang="en-US" sz="1600" b="1" dirty="0">
                <a:solidFill>
                  <a:srgbClr val="10B981"/>
                </a:solidFill>
              </a:rPr>
              <a:t>STAR METHOD</a:t>
            </a:r>
            <a:endParaRPr lang="en-US" sz="1600" dirty="0"/>
          </a:p>
        </p:txBody>
      </p:sp>
      <p:sp>
        <p:nvSpPr>
          <p:cNvPr id="11" name="Text 9"/>
          <p:cNvSpPr/>
          <p:nvPr/>
        </p:nvSpPr>
        <p:spPr>
          <a:xfrm>
            <a:off x="1234440" y="2395728"/>
            <a:ext cx="320040" cy="228600"/>
          </a:xfrm>
          <a:prstGeom prst="rect">
            <a:avLst/>
          </a:prstGeom>
          <a:noFill/>
          <a:ln/>
        </p:spPr>
        <p:txBody>
          <a:bodyPr wrap="square" lIns="0" tIns="0" rIns="0" bIns="0" rtlCol="0" anchor="ctr"/>
          <a:lstStyle/>
          <a:p>
            <a:pPr marL="0" indent="0">
              <a:buNone/>
            </a:pPr>
            <a:r>
              <a:rPr lang="en-US" sz="1500" b="1" dirty="0">
                <a:solidFill>
                  <a:srgbClr val="10B981"/>
                </a:solidFill>
              </a:rPr>
              <a:t>S</a:t>
            </a:r>
            <a:endParaRPr lang="en-US" sz="1500" dirty="0"/>
          </a:p>
        </p:txBody>
      </p:sp>
      <p:sp>
        <p:nvSpPr>
          <p:cNvPr id="12" name="Text 10"/>
          <p:cNvSpPr/>
          <p:nvPr/>
        </p:nvSpPr>
        <p:spPr>
          <a:xfrm>
            <a:off x="1691640" y="2441448"/>
            <a:ext cx="2926080" cy="182880"/>
          </a:xfrm>
          <a:prstGeom prst="rect">
            <a:avLst/>
          </a:prstGeom>
          <a:noFill/>
          <a:ln/>
        </p:spPr>
        <p:txBody>
          <a:bodyPr wrap="square" lIns="0" tIns="0" rIns="0" bIns="0" rtlCol="0" anchor="ctr"/>
          <a:lstStyle/>
          <a:p>
            <a:pPr marL="0" indent="0">
              <a:buNone/>
            </a:pPr>
            <a:r>
              <a:rPr lang="en-US" sz="1080" dirty="0">
                <a:solidFill>
                  <a:srgbClr val="111827"/>
                </a:solidFill>
              </a:rPr>
              <a:t>Situation</a:t>
            </a:r>
            <a:endParaRPr lang="en-US" sz="1080" dirty="0"/>
          </a:p>
        </p:txBody>
      </p:sp>
      <p:sp>
        <p:nvSpPr>
          <p:cNvPr id="13" name="Text 11"/>
          <p:cNvSpPr/>
          <p:nvPr/>
        </p:nvSpPr>
        <p:spPr>
          <a:xfrm>
            <a:off x="1234440" y="2898648"/>
            <a:ext cx="320040" cy="228600"/>
          </a:xfrm>
          <a:prstGeom prst="rect">
            <a:avLst/>
          </a:prstGeom>
          <a:noFill/>
          <a:ln/>
        </p:spPr>
        <p:txBody>
          <a:bodyPr wrap="square" lIns="0" tIns="0" rIns="0" bIns="0" rtlCol="0" anchor="ctr"/>
          <a:lstStyle/>
          <a:p>
            <a:pPr marL="0" indent="0">
              <a:buNone/>
            </a:pPr>
            <a:r>
              <a:rPr lang="en-US" sz="1500" b="1" dirty="0">
                <a:solidFill>
                  <a:srgbClr val="10B981"/>
                </a:solidFill>
              </a:rPr>
              <a:t>T</a:t>
            </a:r>
            <a:endParaRPr lang="en-US" sz="1500" dirty="0"/>
          </a:p>
        </p:txBody>
      </p:sp>
      <p:sp>
        <p:nvSpPr>
          <p:cNvPr id="14" name="Text 12"/>
          <p:cNvSpPr/>
          <p:nvPr/>
        </p:nvSpPr>
        <p:spPr>
          <a:xfrm>
            <a:off x="1691640" y="2944368"/>
            <a:ext cx="2926080" cy="182880"/>
          </a:xfrm>
          <a:prstGeom prst="rect">
            <a:avLst/>
          </a:prstGeom>
          <a:noFill/>
          <a:ln/>
        </p:spPr>
        <p:txBody>
          <a:bodyPr wrap="square" lIns="0" tIns="0" rIns="0" bIns="0" rtlCol="0" anchor="ctr"/>
          <a:lstStyle/>
          <a:p>
            <a:pPr marL="0" indent="0">
              <a:buNone/>
            </a:pPr>
            <a:r>
              <a:rPr lang="en-US" sz="1080" dirty="0">
                <a:solidFill>
                  <a:srgbClr val="111827"/>
                </a:solidFill>
              </a:rPr>
              <a:t>Task</a:t>
            </a:r>
            <a:endParaRPr lang="en-US" sz="1080" dirty="0"/>
          </a:p>
        </p:txBody>
      </p:sp>
      <p:sp>
        <p:nvSpPr>
          <p:cNvPr id="15" name="Text 13"/>
          <p:cNvSpPr/>
          <p:nvPr/>
        </p:nvSpPr>
        <p:spPr>
          <a:xfrm>
            <a:off x="1234440" y="3401568"/>
            <a:ext cx="320040" cy="228600"/>
          </a:xfrm>
          <a:prstGeom prst="rect">
            <a:avLst/>
          </a:prstGeom>
          <a:noFill/>
          <a:ln/>
        </p:spPr>
        <p:txBody>
          <a:bodyPr wrap="square" lIns="0" tIns="0" rIns="0" bIns="0" rtlCol="0" anchor="ctr"/>
          <a:lstStyle/>
          <a:p>
            <a:pPr marL="0" indent="0">
              <a:buNone/>
            </a:pPr>
            <a:r>
              <a:rPr lang="en-US" sz="1500" b="1" dirty="0">
                <a:solidFill>
                  <a:srgbClr val="10B981"/>
                </a:solidFill>
              </a:rPr>
              <a:t>A</a:t>
            </a:r>
            <a:endParaRPr lang="en-US" sz="1500" dirty="0"/>
          </a:p>
        </p:txBody>
      </p:sp>
      <p:sp>
        <p:nvSpPr>
          <p:cNvPr id="16" name="Text 14"/>
          <p:cNvSpPr/>
          <p:nvPr/>
        </p:nvSpPr>
        <p:spPr>
          <a:xfrm>
            <a:off x="1691640" y="3447288"/>
            <a:ext cx="2926080" cy="182880"/>
          </a:xfrm>
          <a:prstGeom prst="rect">
            <a:avLst/>
          </a:prstGeom>
          <a:noFill/>
          <a:ln/>
        </p:spPr>
        <p:txBody>
          <a:bodyPr wrap="square" lIns="0" tIns="0" rIns="0" bIns="0" rtlCol="0" anchor="ctr"/>
          <a:lstStyle/>
          <a:p>
            <a:pPr marL="0" indent="0">
              <a:buNone/>
            </a:pPr>
            <a:r>
              <a:rPr lang="en-US" sz="1080" dirty="0">
                <a:solidFill>
                  <a:srgbClr val="111827"/>
                </a:solidFill>
              </a:rPr>
              <a:t>Action</a:t>
            </a:r>
            <a:endParaRPr lang="en-US" sz="1080" dirty="0"/>
          </a:p>
        </p:txBody>
      </p:sp>
      <p:sp>
        <p:nvSpPr>
          <p:cNvPr id="17" name="Text 15"/>
          <p:cNvSpPr/>
          <p:nvPr/>
        </p:nvSpPr>
        <p:spPr>
          <a:xfrm>
            <a:off x="1234440" y="3904488"/>
            <a:ext cx="320040" cy="228600"/>
          </a:xfrm>
          <a:prstGeom prst="rect">
            <a:avLst/>
          </a:prstGeom>
          <a:noFill/>
          <a:ln/>
        </p:spPr>
        <p:txBody>
          <a:bodyPr wrap="square" lIns="0" tIns="0" rIns="0" bIns="0" rtlCol="0" anchor="ctr"/>
          <a:lstStyle/>
          <a:p>
            <a:pPr marL="0" indent="0">
              <a:buNone/>
            </a:pPr>
            <a:r>
              <a:rPr lang="en-US" sz="1500" b="1" dirty="0">
                <a:solidFill>
                  <a:srgbClr val="10B981"/>
                </a:solidFill>
              </a:rPr>
              <a:t>R</a:t>
            </a:r>
            <a:endParaRPr lang="en-US" sz="1500" dirty="0"/>
          </a:p>
        </p:txBody>
      </p:sp>
      <p:sp>
        <p:nvSpPr>
          <p:cNvPr id="18" name="Text 16"/>
          <p:cNvSpPr/>
          <p:nvPr/>
        </p:nvSpPr>
        <p:spPr>
          <a:xfrm>
            <a:off x="1691640" y="3950208"/>
            <a:ext cx="2926080" cy="182880"/>
          </a:xfrm>
          <a:prstGeom prst="rect">
            <a:avLst/>
          </a:prstGeom>
          <a:noFill/>
          <a:ln/>
        </p:spPr>
        <p:txBody>
          <a:bodyPr wrap="square" lIns="0" tIns="0" rIns="0" bIns="0" rtlCol="0" anchor="ctr"/>
          <a:lstStyle/>
          <a:p>
            <a:pPr marL="0" indent="0">
              <a:buNone/>
            </a:pPr>
            <a:r>
              <a:rPr lang="en-US" sz="1080" dirty="0">
                <a:solidFill>
                  <a:srgbClr val="111827"/>
                </a:solidFill>
              </a:rPr>
              <a:t>Result</a:t>
            </a:r>
            <a:endParaRPr lang="en-US" sz="1080" dirty="0"/>
          </a:p>
        </p:txBody>
      </p:sp>
      <p:sp>
        <p:nvSpPr>
          <p:cNvPr id="19" name="Text 17"/>
          <p:cNvSpPr/>
          <p:nvPr/>
        </p:nvSpPr>
        <p:spPr>
          <a:xfrm>
            <a:off x="6537960" y="1874520"/>
            <a:ext cx="3931920" cy="274320"/>
          </a:xfrm>
          <a:prstGeom prst="rect">
            <a:avLst/>
          </a:prstGeom>
          <a:noFill/>
          <a:ln/>
        </p:spPr>
        <p:txBody>
          <a:bodyPr wrap="square" lIns="0" tIns="0" rIns="0" bIns="0" rtlCol="0" anchor="ctr"/>
          <a:lstStyle/>
          <a:p>
            <a:pPr marL="0" indent="0">
              <a:buNone/>
            </a:pPr>
            <a:r>
              <a:rPr lang="en-US" sz="1500" b="1" dirty="0">
                <a:solidFill>
                  <a:srgbClr val="152238"/>
                </a:solidFill>
              </a:rPr>
              <a:t>TELL ME ABOUT YOURSELF</a:t>
            </a:r>
            <a:endParaRPr lang="en-US" sz="1500" dirty="0"/>
          </a:p>
        </p:txBody>
      </p:sp>
      <p:sp>
        <p:nvSpPr>
          <p:cNvPr id="20" name="Text 18"/>
          <p:cNvSpPr/>
          <p:nvPr/>
        </p:nvSpPr>
        <p:spPr>
          <a:xfrm>
            <a:off x="6629400" y="2487168"/>
            <a:ext cx="1143000" cy="182880"/>
          </a:xfrm>
          <a:prstGeom prst="rect">
            <a:avLst/>
          </a:prstGeom>
          <a:noFill/>
          <a:ln/>
        </p:spPr>
        <p:txBody>
          <a:bodyPr wrap="square" lIns="0" tIns="0" rIns="0" bIns="0" rtlCol="0" anchor="ctr"/>
          <a:lstStyle/>
          <a:p>
            <a:pPr marL="0" indent="0">
              <a:buNone/>
            </a:pPr>
            <a:r>
              <a:rPr lang="en-US" sz="1050" b="1" dirty="0">
                <a:solidFill>
                  <a:srgbClr val="10B981"/>
                </a:solidFill>
              </a:rPr>
              <a:t>Present</a:t>
            </a:r>
            <a:endParaRPr lang="en-US" sz="1050" dirty="0"/>
          </a:p>
        </p:txBody>
      </p:sp>
      <p:sp>
        <p:nvSpPr>
          <p:cNvPr id="21" name="Text 19"/>
          <p:cNvSpPr/>
          <p:nvPr/>
        </p:nvSpPr>
        <p:spPr>
          <a:xfrm>
            <a:off x="7955280" y="2487168"/>
            <a:ext cx="2560320" cy="182880"/>
          </a:xfrm>
          <a:prstGeom prst="rect">
            <a:avLst/>
          </a:prstGeom>
          <a:noFill/>
          <a:ln/>
        </p:spPr>
        <p:txBody>
          <a:bodyPr wrap="square" lIns="0" tIns="0" rIns="0" bIns="0" rtlCol="0" anchor="ctr">
            <a:normAutofit/>
          </a:bodyPr>
          <a:lstStyle/>
          <a:p>
            <a:pPr marL="0" indent="0">
              <a:buNone/>
            </a:pPr>
            <a:r>
              <a:rPr lang="en-US" sz="1020" dirty="0">
                <a:solidFill>
                  <a:srgbClr val="5B6472"/>
                </a:solidFill>
              </a:rPr>
              <a:t>Where you are now</a:t>
            </a:r>
            <a:endParaRPr lang="en-US" sz="1020" dirty="0"/>
          </a:p>
        </p:txBody>
      </p:sp>
      <p:sp>
        <p:nvSpPr>
          <p:cNvPr id="22" name="Text 20"/>
          <p:cNvSpPr/>
          <p:nvPr/>
        </p:nvSpPr>
        <p:spPr>
          <a:xfrm>
            <a:off x="6629400" y="3127248"/>
            <a:ext cx="1143000" cy="182880"/>
          </a:xfrm>
          <a:prstGeom prst="rect">
            <a:avLst/>
          </a:prstGeom>
          <a:noFill/>
          <a:ln/>
        </p:spPr>
        <p:txBody>
          <a:bodyPr wrap="square" lIns="0" tIns="0" rIns="0" bIns="0" rtlCol="0" anchor="ctr"/>
          <a:lstStyle/>
          <a:p>
            <a:pPr marL="0" indent="0">
              <a:buNone/>
            </a:pPr>
            <a:r>
              <a:rPr lang="en-US" sz="1050" b="1" dirty="0">
                <a:solidFill>
                  <a:srgbClr val="10B981"/>
                </a:solidFill>
              </a:rPr>
              <a:t>Past</a:t>
            </a:r>
            <a:endParaRPr lang="en-US" sz="1050" dirty="0"/>
          </a:p>
        </p:txBody>
      </p:sp>
      <p:sp>
        <p:nvSpPr>
          <p:cNvPr id="23" name="Text 21"/>
          <p:cNvSpPr/>
          <p:nvPr/>
        </p:nvSpPr>
        <p:spPr>
          <a:xfrm>
            <a:off x="7955280" y="3127248"/>
            <a:ext cx="2560320" cy="182880"/>
          </a:xfrm>
          <a:prstGeom prst="rect">
            <a:avLst/>
          </a:prstGeom>
          <a:noFill/>
          <a:ln/>
        </p:spPr>
        <p:txBody>
          <a:bodyPr wrap="square" lIns="0" tIns="0" rIns="0" bIns="0" rtlCol="0" anchor="ctr">
            <a:normAutofit/>
          </a:bodyPr>
          <a:lstStyle/>
          <a:p>
            <a:pPr marL="0" indent="0">
              <a:buNone/>
            </a:pPr>
            <a:r>
              <a:rPr lang="en-US" sz="1020" dirty="0">
                <a:solidFill>
                  <a:srgbClr val="5B6472"/>
                </a:solidFill>
              </a:rPr>
              <a:t>What prepared you</a:t>
            </a:r>
            <a:endParaRPr lang="en-US" sz="1020" dirty="0"/>
          </a:p>
        </p:txBody>
      </p:sp>
      <p:sp>
        <p:nvSpPr>
          <p:cNvPr id="24" name="Text 22"/>
          <p:cNvSpPr/>
          <p:nvPr/>
        </p:nvSpPr>
        <p:spPr>
          <a:xfrm>
            <a:off x="6629400" y="3767328"/>
            <a:ext cx="1143000" cy="182880"/>
          </a:xfrm>
          <a:prstGeom prst="rect">
            <a:avLst/>
          </a:prstGeom>
          <a:noFill/>
          <a:ln/>
        </p:spPr>
        <p:txBody>
          <a:bodyPr wrap="square" lIns="0" tIns="0" rIns="0" bIns="0" rtlCol="0" anchor="ctr"/>
          <a:lstStyle/>
          <a:p>
            <a:pPr marL="0" indent="0">
              <a:buNone/>
            </a:pPr>
            <a:r>
              <a:rPr lang="en-US" sz="1050" b="1" dirty="0">
                <a:solidFill>
                  <a:srgbClr val="10B981"/>
                </a:solidFill>
              </a:rPr>
              <a:t>Future</a:t>
            </a:r>
            <a:endParaRPr lang="en-US" sz="1050" dirty="0"/>
          </a:p>
        </p:txBody>
      </p:sp>
      <p:sp>
        <p:nvSpPr>
          <p:cNvPr id="25" name="Text 23"/>
          <p:cNvSpPr/>
          <p:nvPr/>
        </p:nvSpPr>
        <p:spPr>
          <a:xfrm>
            <a:off x="7955280" y="3767328"/>
            <a:ext cx="2560320" cy="182880"/>
          </a:xfrm>
          <a:prstGeom prst="rect">
            <a:avLst/>
          </a:prstGeom>
          <a:noFill/>
          <a:ln/>
        </p:spPr>
        <p:txBody>
          <a:bodyPr wrap="square" lIns="0" tIns="0" rIns="0" bIns="0" rtlCol="0" anchor="ctr">
            <a:normAutofit/>
          </a:bodyPr>
          <a:lstStyle/>
          <a:p>
            <a:pPr marL="0" indent="0">
              <a:buNone/>
            </a:pPr>
            <a:r>
              <a:rPr lang="en-US" sz="1020" dirty="0">
                <a:solidFill>
                  <a:srgbClr val="5B6472"/>
                </a:solidFill>
              </a:rPr>
              <a:t>What you want next</a:t>
            </a:r>
            <a:endParaRPr lang="en-US" sz="1020" dirty="0"/>
          </a:p>
        </p:txBody>
      </p:sp>
      <p:sp>
        <p:nvSpPr>
          <p:cNvPr id="27" name="Text 24"/>
          <p:cNvSpPr/>
          <p:nvPr/>
        </p:nvSpPr>
        <p:spPr>
          <a:xfrm>
            <a:off x="411480" y="6510528"/>
            <a:ext cx="6400800" cy="164592"/>
          </a:xfrm>
          <a:prstGeom prst="rect">
            <a:avLst/>
          </a:prstGeom>
          <a:noFill/>
          <a:ln/>
        </p:spPr>
        <p:txBody>
          <a:bodyPr wrap="square" lIns="0" tIns="0" rIns="0" bIns="0" rtlCol="0" anchor="ctr"/>
          <a:lstStyle/>
          <a:p>
            <a:pPr marL="0" indent="0">
              <a:buNone/>
            </a:pPr>
            <a:r>
              <a:rPr lang="en-US" sz="600" dirty="0">
                <a:solidFill>
                  <a:srgbClr val="7C7C7C"/>
                </a:solidFill>
                <a:latin typeface="Aptos" pitchFamily="34" charset="0"/>
                <a:ea typeface="Aptos" pitchFamily="34" charset="-122"/>
                <a:cs typeface="Aptos" pitchFamily="34" charset="-120"/>
              </a:rPr>
              <a:t>What's Next After Graduation?  |  Farah Kerbaj</a:t>
            </a:r>
            <a:endParaRPr lang="en-US" sz="600" dirty="0"/>
          </a:p>
        </p:txBody>
      </p:sp>
      <p:sp>
        <p:nvSpPr>
          <p:cNvPr id="28" name="Text 25"/>
          <p:cNvSpPr/>
          <p:nvPr/>
        </p:nvSpPr>
        <p:spPr>
          <a:xfrm>
            <a:off x="11430000" y="6473952"/>
            <a:ext cx="320040" cy="182880"/>
          </a:xfrm>
          <a:prstGeom prst="rect">
            <a:avLst/>
          </a:prstGeom>
          <a:noFill/>
          <a:ln/>
        </p:spPr>
        <p:txBody>
          <a:bodyPr wrap="square" lIns="0" tIns="0" rIns="0" bIns="0" rtlCol="0" anchor="ctr"/>
          <a:lstStyle/>
          <a:p>
            <a:pPr marL="0" indent="0" algn="r">
              <a:buNone/>
            </a:pPr>
            <a:r>
              <a:rPr lang="en-US" sz="700" dirty="0">
                <a:solidFill>
                  <a:srgbClr val="7C7C7C"/>
                </a:solidFill>
              </a:rPr>
              <a:t>31</a:t>
            </a:r>
            <a:endParaRPr lang="en-US" sz="7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4F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F2"/>
          </a:solidFill>
          <a:ln w="12700">
            <a:solidFill>
              <a:srgbClr val="F7F4F2">
                <a:alpha val="0"/>
              </a:srgbClr>
            </a:solidFill>
            <a:prstDash val="solid"/>
          </a:ln>
        </p:spPr>
      </p:sp>
      <p:sp>
        <p:nvSpPr>
          <p:cNvPr id="3" name="Shape 1"/>
          <p:cNvSpPr/>
          <p:nvPr/>
        </p:nvSpPr>
        <p:spPr>
          <a:xfrm>
            <a:off x="0" y="0"/>
            <a:ext cx="12191695" cy="73152"/>
          </a:xfrm>
          <a:prstGeom prst="rect">
            <a:avLst/>
          </a:prstGeom>
          <a:solidFill>
            <a:srgbClr val="F59E0B"/>
          </a:solidFill>
          <a:ln w="12700">
            <a:solidFill>
              <a:srgbClr val="F59E0B"/>
            </a:solidFill>
            <a:prstDash val="solid"/>
          </a:ln>
        </p:spPr>
      </p:sp>
      <p:sp>
        <p:nvSpPr>
          <p:cNvPr id="4" name="Text 2"/>
          <p:cNvSpPr/>
          <p:nvPr/>
        </p:nvSpPr>
        <p:spPr>
          <a:xfrm>
            <a:off x="667512" y="274320"/>
            <a:ext cx="7315200" cy="201168"/>
          </a:xfrm>
          <a:prstGeom prst="rect">
            <a:avLst/>
          </a:prstGeom>
          <a:noFill/>
          <a:ln/>
        </p:spPr>
        <p:txBody>
          <a:bodyPr wrap="square" lIns="0" tIns="0" rIns="0" bIns="0" rtlCol="0" anchor="ctr"/>
          <a:lstStyle/>
          <a:p>
            <a:pPr marL="0" indent="0">
              <a:buNone/>
            </a:pPr>
            <a:r>
              <a:rPr lang="en-US" sz="750" b="1" dirty="0">
                <a:solidFill>
                  <a:srgbClr val="F59E0B"/>
                </a:solidFill>
              </a:rPr>
              <a:t>INTERVIEW EXAMPLE</a:t>
            </a:r>
            <a:endParaRPr lang="en-US" sz="750" dirty="0"/>
          </a:p>
        </p:txBody>
      </p:sp>
      <p:sp>
        <p:nvSpPr>
          <p:cNvPr id="5" name="Text 3"/>
          <p:cNvSpPr/>
          <p:nvPr/>
        </p:nvSpPr>
        <p:spPr>
          <a:xfrm>
            <a:off x="640080" y="502920"/>
            <a:ext cx="10881360" cy="438912"/>
          </a:xfrm>
          <a:prstGeom prst="rect">
            <a:avLst/>
          </a:prstGeom>
          <a:noFill/>
          <a:ln/>
        </p:spPr>
        <p:txBody>
          <a:bodyPr wrap="square" lIns="0" tIns="0" rIns="0" bIns="0" rtlCol="0" anchor="ctr">
            <a:normAutofit/>
          </a:bodyPr>
          <a:lstStyle/>
          <a:p>
            <a:pPr marL="0" indent="0">
              <a:buNone/>
            </a:pPr>
            <a:r>
              <a:rPr lang="en-US" sz="2500" b="1" dirty="0">
                <a:solidFill>
                  <a:srgbClr val="111827"/>
                </a:solidFill>
                <a:latin typeface="Aptos Display" pitchFamily="34" charset="0"/>
                <a:ea typeface="Aptos Display" pitchFamily="34" charset="-122"/>
                <a:cs typeface="Aptos Display" pitchFamily="34" charset="-120"/>
              </a:rPr>
              <a:t>“Tell Me About Yourself” — Tech Version</a:t>
            </a:r>
            <a:endParaRPr lang="en-US" sz="2500" dirty="0"/>
          </a:p>
        </p:txBody>
      </p:sp>
      <p:sp>
        <p:nvSpPr>
          <p:cNvPr id="6" name="Text 4"/>
          <p:cNvSpPr/>
          <p:nvPr/>
        </p:nvSpPr>
        <p:spPr>
          <a:xfrm>
            <a:off x="667512" y="987552"/>
            <a:ext cx="10424160" cy="256032"/>
          </a:xfrm>
          <a:prstGeom prst="rect">
            <a:avLst/>
          </a:prstGeom>
          <a:noFill/>
          <a:ln/>
        </p:spPr>
        <p:txBody>
          <a:bodyPr wrap="square" lIns="0" tIns="0" rIns="0" bIns="0" rtlCol="0" anchor="ctr"/>
          <a:lstStyle/>
          <a:p>
            <a:pPr marL="0" indent="0">
              <a:buNone/>
            </a:pPr>
            <a:r>
              <a:rPr lang="en-US" sz="950" dirty="0">
                <a:solidFill>
                  <a:srgbClr val="5B6472"/>
                </a:solidFill>
              </a:rPr>
              <a:t>Clear, short, and connected to the role</a:t>
            </a:r>
            <a:endParaRPr lang="en-US" sz="950" dirty="0"/>
          </a:p>
        </p:txBody>
      </p:sp>
      <p:sp>
        <p:nvSpPr>
          <p:cNvPr id="7" name="Shape 5"/>
          <p:cNvSpPr/>
          <p:nvPr/>
        </p:nvSpPr>
        <p:spPr>
          <a:xfrm>
            <a:off x="640080" y="1325880"/>
            <a:ext cx="10881360" cy="0"/>
          </a:xfrm>
          <a:prstGeom prst="line">
            <a:avLst/>
          </a:prstGeom>
          <a:noFill/>
          <a:ln w="12700">
            <a:solidFill>
              <a:srgbClr val="D6D3D1"/>
            </a:solidFill>
            <a:prstDash val="solid"/>
          </a:ln>
        </p:spPr>
      </p:sp>
      <p:sp>
        <p:nvSpPr>
          <p:cNvPr id="8" name="Shape 6"/>
          <p:cNvSpPr/>
          <p:nvPr/>
        </p:nvSpPr>
        <p:spPr>
          <a:xfrm>
            <a:off x="914400" y="1600200"/>
            <a:ext cx="10241280" cy="3977640"/>
          </a:xfrm>
          <a:prstGeom prst="roundRect">
            <a:avLst>
              <a:gd name="adj" fmla="val 1839"/>
            </a:avLst>
          </a:prstGeom>
          <a:solidFill>
            <a:srgbClr val="FFFFFF"/>
          </a:solidFill>
          <a:ln w="12700">
            <a:solidFill>
              <a:srgbClr val="E8E2DE"/>
            </a:solidFill>
            <a:prstDash val="solid"/>
          </a:ln>
        </p:spPr>
      </p:sp>
      <p:sp>
        <p:nvSpPr>
          <p:cNvPr id="9" name="Text 7"/>
          <p:cNvSpPr/>
          <p:nvPr/>
        </p:nvSpPr>
        <p:spPr>
          <a:xfrm>
            <a:off x="1234440" y="1920240"/>
            <a:ext cx="1280160" cy="201168"/>
          </a:xfrm>
          <a:prstGeom prst="rect">
            <a:avLst/>
          </a:prstGeom>
          <a:noFill/>
          <a:ln/>
        </p:spPr>
        <p:txBody>
          <a:bodyPr wrap="square" lIns="0" tIns="0" rIns="0" bIns="0" rtlCol="0" anchor="ctr"/>
          <a:lstStyle/>
          <a:p>
            <a:pPr marL="0" indent="0">
              <a:buNone/>
            </a:pPr>
            <a:r>
              <a:rPr lang="en-US" sz="1200" b="1" dirty="0">
                <a:solidFill>
                  <a:srgbClr val="F59E0B"/>
                </a:solidFill>
              </a:rPr>
              <a:t>Present</a:t>
            </a:r>
            <a:endParaRPr lang="en-US" sz="1200" dirty="0"/>
          </a:p>
        </p:txBody>
      </p:sp>
      <p:sp>
        <p:nvSpPr>
          <p:cNvPr id="10" name="Text 8"/>
          <p:cNvSpPr/>
          <p:nvPr/>
        </p:nvSpPr>
        <p:spPr>
          <a:xfrm>
            <a:off x="2651760" y="1920240"/>
            <a:ext cx="7772400" cy="201168"/>
          </a:xfrm>
          <a:prstGeom prst="rect">
            <a:avLst/>
          </a:prstGeom>
          <a:noFill/>
          <a:ln/>
        </p:spPr>
        <p:txBody>
          <a:bodyPr wrap="square" lIns="0" tIns="0" rIns="0" bIns="0" rtlCol="0" anchor="ctr">
            <a:normAutofit/>
          </a:bodyPr>
          <a:lstStyle/>
          <a:p>
            <a:pPr marL="0" indent="0">
              <a:buNone/>
            </a:pPr>
            <a:r>
              <a:rPr lang="en-US" sz="1030" dirty="0">
                <a:solidFill>
                  <a:srgbClr val="111827"/>
                </a:solidFill>
              </a:rPr>
              <a:t>I’m a computer science graduate focused on full-stack web development, mainly using React, Node.js, and PostgreSQL.</a:t>
            </a:r>
            <a:endParaRPr lang="en-US" sz="1030" dirty="0"/>
          </a:p>
        </p:txBody>
      </p:sp>
      <p:sp>
        <p:nvSpPr>
          <p:cNvPr id="11" name="Text 9"/>
          <p:cNvSpPr/>
          <p:nvPr/>
        </p:nvSpPr>
        <p:spPr>
          <a:xfrm>
            <a:off x="1234440" y="2743200"/>
            <a:ext cx="1280160" cy="201168"/>
          </a:xfrm>
          <a:prstGeom prst="rect">
            <a:avLst/>
          </a:prstGeom>
          <a:noFill/>
          <a:ln/>
        </p:spPr>
        <p:txBody>
          <a:bodyPr wrap="square" lIns="0" tIns="0" rIns="0" bIns="0" rtlCol="0" anchor="ctr"/>
          <a:lstStyle/>
          <a:p>
            <a:pPr marL="0" indent="0">
              <a:buNone/>
            </a:pPr>
            <a:r>
              <a:rPr lang="en-US" sz="1200" b="1" dirty="0">
                <a:solidFill>
                  <a:srgbClr val="F59E0B"/>
                </a:solidFill>
              </a:rPr>
              <a:t>Past</a:t>
            </a:r>
            <a:endParaRPr lang="en-US" sz="1200" dirty="0"/>
          </a:p>
        </p:txBody>
      </p:sp>
      <p:sp>
        <p:nvSpPr>
          <p:cNvPr id="12" name="Text 10"/>
          <p:cNvSpPr/>
          <p:nvPr/>
        </p:nvSpPr>
        <p:spPr>
          <a:xfrm>
            <a:off x="2651760" y="2743200"/>
            <a:ext cx="7772400" cy="201168"/>
          </a:xfrm>
          <a:prstGeom prst="rect">
            <a:avLst/>
          </a:prstGeom>
          <a:noFill/>
          <a:ln/>
        </p:spPr>
        <p:txBody>
          <a:bodyPr wrap="square" lIns="0" tIns="0" rIns="0" bIns="0" rtlCol="0" anchor="ctr">
            <a:normAutofit/>
          </a:bodyPr>
          <a:lstStyle/>
          <a:p>
            <a:pPr marL="0" indent="0">
              <a:buNone/>
            </a:pPr>
            <a:r>
              <a:rPr lang="en-US" sz="1030" dirty="0">
                <a:solidFill>
                  <a:srgbClr val="111827"/>
                </a:solidFill>
              </a:rPr>
              <a:t>Through internships and university projects, I built responsive web apps, integrated APIs, and collaborated through GitHub workflows.</a:t>
            </a:r>
            <a:endParaRPr lang="en-US" sz="1030" dirty="0"/>
          </a:p>
        </p:txBody>
      </p:sp>
      <p:sp>
        <p:nvSpPr>
          <p:cNvPr id="13" name="Text 11"/>
          <p:cNvSpPr/>
          <p:nvPr/>
        </p:nvSpPr>
        <p:spPr>
          <a:xfrm>
            <a:off x="1234440" y="3566160"/>
            <a:ext cx="1280160" cy="201168"/>
          </a:xfrm>
          <a:prstGeom prst="rect">
            <a:avLst/>
          </a:prstGeom>
          <a:noFill/>
          <a:ln/>
        </p:spPr>
        <p:txBody>
          <a:bodyPr wrap="square" lIns="0" tIns="0" rIns="0" bIns="0" rtlCol="0" anchor="ctr"/>
          <a:lstStyle/>
          <a:p>
            <a:pPr marL="0" indent="0">
              <a:buNone/>
            </a:pPr>
            <a:r>
              <a:rPr lang="en-US" sz="1200" b="1" dirty="0">
                <a:solidFill>
                  <a:srgbClr val="F59E0B"/>
                </a:solidFill>
              </a:rPr>
              <a:t>Future</a:t>
            </a:r>
            <a:endParaRPr lang="en-US" sz="1200" dirty="0"/>
          </a:p>
        </p:txBody>
      </p:sp>
      <p:sp>
        <p:nvSpPr>
          <p:cNvPr id="14" name="Text 12"/>
          <p:cNvSpPr/>
          <p:nvPr/>
        </p:nvSpPr>
        <p:spPr>
          <a:xfrm>
            <a:off x="2651760" y="3566160"/>
            <a:ext cx="7772400" cy="292608"/>
          </a:xfrm>
          <a:prstGeom prst="rect">
            <a:avLst/>
          </a:prstGeom>
          <a:noFill/>
          <a:ln/>
        </p:spPr>
        <p:txBody>
          <a:bodyPr wrap="square" lIns="0" tIns="0" rIns="0" bIns="0" rtlCol="0" anchor="ctr">
            <a:normAutofit/>
          </a:bodyPr>
          <a:lstStyle/>
          <a:p>
            <a:pPr marL="0" indent="0">
              <a:buNone/>
            </a:pPr>
            <a:r>
              <a:rPr lang="en-US" sz="1030" dirty="0">
                <a:solidFill>
                  <a:srgbClr val="111827"/>
                </a:solidFill>
              </a:rPr>
              <a:t>I’m now looking for a junior developer role where I can contribute to real products, keep improving my engineering habits, and grow with a strong team.</a:t>
            </a:r>
            <a:endParaRPr lang="en-US" sz="1030" dirty="0"/>
          </a:p>
        </p:txBody>
      </p:sp>
      <p:sp>
        <p:nvSpPr>
          <p:cNvPr id="15" name="Text 13"/>
          <p:cNvSpPr/>
          <p:nvPr/>
        </p:nvSpPr>
        <p:spPr>
          <a:xfrm>
            <a:off x="1234440" y="4800600"/>
            <a:ext cx="8961120" cy="228600"/>
          </a:xfrm>
          <a:prstGeom prst="rect">
            <a:avLst/>
          </a:prstGeom>
          <a:noFill/>
          <a:ln/>
        </p:spPr>
        <p:txBody>
          <a:bodyPr wrap="square" lIns="0" tIns="0" rIns="0" bIns="0" rtlCol="0" anchor="ctr"/>
          <a:lstStyle/>
          <a:p>
            <a:pPr marL="0" indent="0" algn="ctr">
              <a:buNone/>
            </a:pPr>
            <a:r>
              <a:rPr lang="en-US" sz="1400" b="1" dirty="0">
                <a:solidFill>
                  <a:srgbClr val="152238"/>
                </a:solidFill>
              </a:rPr>
              <a:t>Keep it under 90 seconds.</a:t>
            </a:r>
            <a:endParaRPr lang="en-US" sz="1400" dirty="0"/>
          </a:p>
        </p:txBody>
      </p:sp>
      <p:sp>
        <p:nvSpPr>
          <p:cNvPr id="17" name="Text 14"/>
          <p:cNvSpPr/>
          <p:nvPr/>
        </p:nvSpPr>
        <p:spPr>
          <a:xfrm>
            <a:off x="411480" y="6510528"/>
            <a:ext cx="6400800" cy="164592"/>
          </a:xfrm>
          <a:prstGeom prst="rect">
            <a:avLst/>
          </a:prstGeom>
          <a:noFill/>
          <a:ln/>
        </p:spPr>
        <p:txBody>
          <a:bodyPr wrap="square" lIns="0" tIns="0" rIns="0" bIns="0" rtlCol="0" anchor="ctr"/>
          <a:lstStyle/>
          <a:p>
            <a:pPr marL="0" indent="0">
              <a:buNone/>
            </a:pPr>
            <a:r>
              <a:rPr lang="en-US" sz="600" dirty="0">
                <a:solidFill>
                  <a:srgbClr val="7C7C7C"/>
                </a:solidFill>
                <a:latin typeface="Aptos" pitchFamily="34" charset="0"/>
                <a:ea typeface="Aptos" pitchFamily="34" charset="-122"/>
                <a:cs typeface="Aptos" pitchFamily="34" charset="-120"/>
              </a:rPr>
              <a:t>What's Next After Graduation?  |  Farah Kerbaj</a:t>
            </a:r>
            <a:endParaRPr lang="en-US" sz="600" dirty="0"/>
          </a:p>
        </p:txBody>
      </p:sp>
      <p:sp>
        <p:nvSpPr>
          <p:cNvPr id="18" name="Text 15"/>
          <p:cNvSpPr/>
          <p:nvPr/>
        </p:nvSpPr>
        <p:spPr>
          <a:xfrm>
            <a:off x="11430000" y="6473952"/>
            <a:ext cx="320040" cy="182880"/>
          </a:xfrm>
          <a:prstGeom prst="rect">
            <a:avLst/>
          </a:prstGeom>
          <a:noFill/>
          <a:ln/>
        </p:spPr>
        <p:txBody>
          <a:bodyPr wrap="square" lIns="0" tIns="0" rIns="0" bIns="0" rtlCol="0" anchor="ctr"/>
          <a:lstStyle/>
          <a:p>
            <a:pPr marL="0" indent="0" algn="r">
              <a:buNone/>
            </a:pPr>
            <a:r>
              <a:rPr lang="en-US" sz="700" dirty="0">
                <a:solidFill>
                  <a:srgbClr val="7C7C7C"/>
                </a:solidFill>
              </a:rPr>
              <a:t>32</a:t>
            </a:r>
            <a:endParaRPr lang="en-US" sz="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4F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F2"/>
          </a:solidFill>
          <a:ln w="12700">
            <a:solidFill>
              <a:srgbClr val="F7F4F2">
                <a:alpha val="0"/>
              </a:srgbClr>
            </a:solidFill>
            <a:prstDash val="solid"/>
          </a:ln>
        </p:spPr>
      </p:sp>
      <p:sp>
        <p:nvSpPr>
          <p:cNvPr id="3" name="Shape 1"/>
          <p:cNvSpPr/>
          <p:nvPr/>
        </p:nvSpPr>
        <p:spPr>
          <a:xfrm>
            <a:off x="0" y="0"/>
            <a:ext cx="12191695" cy="73152"/>
          </a:xfrm>
          <a:prstGeom prst="rect">
            <a:avLst/>
          </a:prstGeom>
          <a:solidFill>
            <a:srgbClr val="7C3AED"/>
          </a:solidFill>
          <a:ln w="12700">
            <a:solidFill>
              <a:srgbClr val="7C3AED"/>
            </a:solidFill>
            <a:prstDash val="solid"/>
          </a:ln>
        </p:spPr>
      </p:sp>
      <p:sp>
        <p:nvSpPr>
          <p:cNvPr id="4" name="Text 2"/>
          <p:cNvSpPr/>
          <p:nvPr/>
        </p:nvSpPr>
        <p:spPr>
          <a:xfrm>
            <a:off x="667512" y="274320"/>
            <a:ext cx="7315200" cy="201168"/>
          </a:xfrm>
          <a:prstGeom prst="rect">
            <a:avLst/>
          </a:prstGeom>
          <a:noFill/>
          <a:ln/>
        </p:spPr>
        <p:txBody>
          <a:bodyPr wrap="square" lIns="0" tIns="0" rIns="0" bIns="0" rtlCol="0" anchor="ctr"/>
          <a:lstStyle/>
          <a:p>
            <a:pPr marL="0" indent="0">
              <a:buNone/>
            </a:pPr>
            <a:r>
              <a:rPr lang="en-US" sz="750" b="1" dirty="0">
                <a:solidFill>
                  <a:srgbClr val="7C3AED"/>
                </a:solidFill>
              </a:rPr>
              <a:t>CLOSING STRONG</a:t>
            </a:r>
            <a:endParaRPr lang="en-US" sz="750" dirty="0"/>
          </a:p>
        </p:txBody>
      </p:sp>
      <p:sp>
        <p:nvSpPr>
          <p:cNvPr id="5" name="Text 3"/>
          <p:cNvSpPr/>
          <p:nvPr/>
        </p:nvSpPr>
        <p:spPr>
          <a:xfrm>
            <a:off x="640080" y="502920"/>
            <a:ext cx="10881360" cy="438912"/>
          </a:xfrm>
          <a:prstGeom prst="rect">
            <a:avLst/>
          </a:prstGeom>
          <a:noFill/>
          <a:ln/>
        </p:spPr>
        <p:txBody>
          <a:bodyPr wrap="square" lIns="0" tIns="0" rIns="0" bIns="0" rtlCol="0" anchor="ctr">
            <a:normAutofit/>
          </a:bodyPr>
          <a:lstStyle/>
          <a:p>
            <a:pPr marL="0" indent="0">
              <a:buNone/>
            </a:pPr>
            <a:r>
              <a:rPr lang="en-US" sz="2500" b="1" dirty="0">
                <a:solidFill>
                  <a:srgbClr val="111827"/>
                </a:solidFill>
                <a:latin typeface="Aptos Display" pitchFamily="34" charset="0"/>
                <a:ea typeface="Aptos Display" pitchFamily="34" charset="-122"/>
                <a:cs typeface="Aptos Display" pitchFamily="34" charset="-120"/>
              </a:rPr>
              <a:t>Questions That Make You Sound Serious</a:t>
            </a:r>
            <a:endParaRPr lang="en-US" sz="2500" dirty="0"/>
          </a:p>
        </p:txBody>
      </p:sp>
      <p:sp>
        <p:nvSpPr>
          <p:cNvPr id="6" name="Text 4"/>
          <p:cNvSpPr/>
          <p:nvPr/>
        </p:nvSpPr>
        <p:spPr>
          <a:xfrm>
            <a:off x="667512" y="987552"/>
            <a:ext cx="10424160" cy="256032"/>
          </a:xfrm>
          <a:prstGeom prst="rect">
            <a:avLst/>
          </a:prstGeom>
          <a:noFill/>
          <a:ln/>
        </p:spPr>
        <p:txBody>
          <a:bodyPr wrap="square" lIns="0" tIns="0" rIns="0" bIns="0" rtlCol="0" anchor="ctr"/>
          <a:lstStyle/>
          <a:p>
            <a:pPr marL="0" indent="0">
              <a:buNone/>
            </a:pPr>
            <a:r>
              <a:rPr lang="en-US" sz="950" dirty="0">
                <a:solidFill>
                  <a:srgbClr val="5B6472"/>
                </a:solidFill>
              </a:rPr>
              <a:t>Interviews are two-way conversations</a:t>
            </a:r>
            <a:endParaRPr lang="en-US" sz="950" dirty="0"/>
          </a:p>
        </p:txBody>
      </p:sp>
      <p:sp>
        <p:nvSpPr>
          <p:cNvPr id="7" name="Shape 5"/>
          <p:cNvSpPr/>
          <p:nvPr/>
        </p:nvSpPr>
        <p:spPr>
          <a:xfrm>
            <a:off x="640080" y="1325880"/>
            <a:ext cx="10881360" cy="0"/>
          </a:xfrm>
          <a:prstGeom prst="line">
            <a:avLst/>
          </a:prstGeom>
          <a:noFill/>
          <a:ln w="12700">
            <a:solidFill>
              <a:srgbClr val="D6D3D1"/>
            </a:solidFill>
            <a:prstDash val="solid"/>
          </a:ln>
        </p:spPr>
      </p:sp>
      <p:sp>
        <p:nvSpPr>
          <p:cNvPr id="8" name="Shape 6"/>
          <p:cNvSpPr/>
          <p:nvPr/>
        </p:nvSpPr>
        <p:spPr>
          <a:xfrm>
            <a:off x="914400" y="1554480"/>
            <a:ext cx="10241280" cy="594360"/>
          </a:xfrm>
          <a:prstGeom prst="roundRect">
            <a:avLst>
              <a:gd name="adj" fmla="val 12308"/>
            </a:avLst>
          </a:prstGeom>
          <a:solidFill>
            <a:srgbClr val="EDE9FE"/>
          </a:solidFill>
          <a:ln w="12700">
            <a:solidFill>
              <a:srgbClr val="E8E2DE"/>
            </a:solidFill>
            <a:prstDash val="solid"/>
          </a:ln>
        </p:spPr>
      </p:sp>
      <p:sp>
        <p:nvSpPr>
          <p:cNvPr id="9" name="Text 7"/>
          <p:cNvSpPr/>
          <p:nvPr/>
        </p:nvSpPr>
        <p:spPr>
          <a:xfrm>
            <a:off x="1234440" y="1719072"/>
            <a:ext cx="9326880" cy="164592"/>
          </a:xfrm>
          <a:prstGeom prst="rect">
            <a:avLst/>
          </a:prstGeom>
          <a:noFill/>
          <a:ln/>
        </p:spPr>
        <p:txBody>
          <a:bodyPr wrap="square" lIns="0" tIns="0" rIns="0" bIns="0" rtlCol="0" anchor="ctr">
            <a:normAutofit/>
          </a:bodyPr>
          <a:lstStyle/>
          <a:p>
            <a:pPr marL="0" indent="0">
              <a:buNone/>
            </a:pPr>
            <a:r>
              <a:rPr lang="en-US" sz="1010" dirty="0">
                <a:solidFill>
                  <a:srgbClr val="111827"/>
                </a:solidFill>
              </a:rPr>
              <a:t>What does success look like in the first 3–6 months?</a:t>
            </a:r>
            <a:endParaRPr lang="en-US" sz="1010" dirty="0"/>
          </a:p>
        </p:txBody>
      </p:sp>
      <p:sp>
        <p:nvSpPr>
          <p:cNvPr id="10" name="Shape 8"/>
          <p:cNvSpPr/>
          <p:nvPr/>
        </p:nvSpPr>
        <p:spPr>
          <a:xfrm>
            <a:off x="914400" y="2304288"/>
            <a:ext cx="10241280" cy="594360"/>
          </a:xfrm>
          <a:prstGeom prst="roundRect">
            <a:avLst>
              <a:gd name="adj" fmla="val 12308"/>
            </a:avLst>
          </a:prstGeom>
          <a:solidFill>
            <a:srgbClr val="FFFFFF"/>
          </a:solidFill>
          <a:ln w="12700">
            <a:solidFill>
              <a:srgbClr val="E8E2DE"/>
            </a:solidFill>
            <a:prstDash val="solid"/>
          </a:ln>
        </p:spPr>
      </p:sp>
      <p:sp>
        <p:nvSpPr>
          <p:cNvPr id="11" name="Text 9"/>
          <p:cNvSpPr/>
          <p:nvPr/>
        </p:nvSpPr>
        <p:spPr>
          <a:xfrm>
            <a:off x="1234440" y="2468880"/>
            <a:ext cx="9326880" cy="164592"/>
          </a:xfrm>
          <a:prstGeom prst="rect">
            <a:avLst/>
          </a:prstGeom>
          <a:noFill/>
          <a:ln/>
        </p:spPr>
        <p:txBody>
          <a:bodyPr wrap="square" lIns="0" tIns="0" rIns="0" bIns="0" rtlCol="0" anchor="ctr">
            <a:normAutofit/>
          </a:bodyPr>
          <a:lstStyle/>
          <a:p>
            <a:pPr marL="0" indent="0">
              <a:buNone/>
            </a:pPr>
            <a:r>
              <a:rPr lang="en-US" sz="1010" dirty="0">
                <a:solidFill>
                  <a:srgbClr val="111827"/>
                </a:solidFill>
              </a:rPr>
              <a:t>What skills should I strengthen before joining this role?</a:t>
            </a:r>
            <a:endParaRPr lang="en-US" sz="1010" dirty="0"/>
          </a:p>
        </p:txBody>
      </p:sp>
      <p:sp>
        <p:nvSpPr>
          <p:cNvPr id="12" name="Shape 10"/>
          <p:cNvSpPr/>
          <p:nvPr/>
        </p:nvSpPr>
        <p:spPr>
          <a:xfrm>
            <a:off x="914400" y="3054096"/>
            <a:ext cx="10241280" cy="594360"/>
          </a:xfrm>
          <a:prstGeom prst="roundRect">
            <a:avLst>
              <a:gd name="adj" fmla="val 12308"/>
            </a:avLst>
          </a:prstGeom>
          <a:solidFill>
            <a:srgbClr val="EDE9FE"/>
          </a:solidFill>
          <a:ln w="12700">
            <a:solidFill>
              <a:srgbClr val="E8E2DE"/>
            </a:solidFill>
            <a:prstDash val="solid"/>
          </a:ln>
        </p:spPr>
      </p:sp>
      <p:sp>
        <p:nvSpPr>
          <p:cNvPr id="13" name="Text 11"/>
          <p:cNvSpPr/>
          <p:nvPr/>
        </p:nvSpPr>
        <p:spPr>
          <a:xfrm>
            <a:off x="1234440" y="3218688"/>
            <a:ext cx="9326880" cy="164592"/>
          </a:xfrm>
          <a:prstGeom prst="rect">
            <a:avLst/>
          </a:prstGeom>
          <a:noFill/>
          <a:ln/>
        </p:spPr>
        <p:txBody>
          <a:bodyPr wrap="square" lIns="0" tIns="0" rIns="0" bIns="0" rtlCol="0" anchor="ctr">
            <a:normAutofit/>
          </a:bodyPr>
          <a:lstStyle/>
          <a:p>
            <a:pPr marL="0" indent="0">
              <a:buNone/>
            </a:pPr>
            <a:r>
              <a:rPr lang="en-US" sz="1010" dirty="0">
                <a:solidFill>
                  <a:srgbClr val="111827"/>
                </a:solidFill>
              </a:rPr>
              <a:t>How does the team review code and support junior developers?</a:t>
            </a:r>
            <a:endParaRPr lang="en-US" sz="1010" dirty="0"/>
          </a:p>
        </p:txBody>
      </p:sp>
      <p:sp>
        <p:nvSpPr>
          <p:cNvPr id="14" name="Shape 12"/>
          <p:cNvSpPr/>
          <p:nvPr/>
        </p:nvSpPr>
        <p:spPr>
          <a:xfrm>
            <a:off x="914400" y="3803904"/>
            <a:ext cx="10241280" cy="594360"/>
          </a:xfrm>
          <a:prstGeom prst="roundRect">
            <a:avLst>
              <a:gd name="adj" fmla="val 12308"/>
            </a:avLst>
          </a:prstGeom>
          <a:solidFill>
            <a:srgbClr val="FFFFFF"/>
          </a:solidFill>
          <a:ln w="12700">
            <a:solidFill>
              <a:srgbClr val="E8E2DE"/>
            </a:solidFill>
            <a:prstDash val="solid"/>
          </a:ln>
        </p:spPr>
      </p:sp>
      <p:sp>
        <p:nvSpPr>
          <p:cNvPr id="15" name="Text 13"/>
          <p:cNvSpPr/>
          <p:nvPr/>
        </p:nvSpPr>
        <p:spPr>
          <a:xfrm>
            <a:off x="1234440" y="3968496"/>
            <a:ext cx="9326880" cy="164592"/>
          </a:xfrm>
          <a:prstGeom prst="rect">
            <a:avLst/>
          </a:prstGeom>
          <a:noFill/>
          <a:ln/>
        </p:spPr>
        <p:txBody>
          <a:bodyPr wrap="square" lIns="0" tIns="0" rIns="0" bIns="0" rtlCol="0" anchor="ctr">
            <a:normAutofit/>
          </a:bodyPr>
          <a:lstStyle/>
          <a:p>
            <a:pPr marL="0" indent="0">
              <a:buNone/>
            </a:pPr>
            <a:r>
              <a:rPr lang="en-US" sz="1010" dirty="0">
                <a:solidFill>
                  <a:srgbClr val="111827"/>
                </a:solidFill>
              </a:rPr>
              <a:t>What does onboarding usually look like?</a:t>
            </a:r>
            <a:endParaRPr lang="en-US" sz="1010" dirty="0"/>
          </a:p>
        </p:txBody>
      </p:sp>
      <p:sp>
        <p:nvSpPr>
          <p:cNvPr id="16" name="Shape 14"/>
          <p:cNvSpPr/>
          <p:nvPr/>
        </p:nvSpPr>
        <p:spPr>
          <a:xfrm>
            <a:off x="914400" y="4553712"/>
            <a:ext cx="10241280" cy="594360"/>
          </a:xfrm>
          <a:prstGeom prst="roundRect">
            <a:avLst>
              <a:gd name="adj" fmla="val 12308"/>
            </a:avLst>
          </a:prstGeom>
          <a:solidFill>
            <a:srgbClr val="EDE9FE"/>
          </a:solidFill>
          <a:ln w="12700">
            <a:solidFill>
              <a:srgbClr val="E8E2DE"/>
            </a:solidFill>
            <a:prstDash val="solid"/>
          </a:ln>
        </p:spPr>
      </p:sp>
      <p:sp>
        <p:nvSpPr>
          <p:cNvPr id="17" name="Text 15"/>
          <p:cNvSpPr/>
          <p:nvPr/>
        </p:nvSpPr>
        <p:spPr>
          <a:xfrm>
            <a:off x="1234440" y="4718304"/>
            <a:ext cx="9326880" cy="164592"/>
          </a:xfrm>
          <a:prstGeom prst="rect">
            <a:avLst/>
          </a:prstGeom>
          <a:noFill/>
          <a:ln/>
        </p:spPr>
        <p:txBody>
          <a:bodyPr wrap="square" lIns="0" tIns="0" rIns="0" bIns="0" rtlCol="0" anchor="ctr">
            <a:normAutofit/>
          </a:bodyPr>
          <a:lstStyle/>
          <a:p>
            <a:pPr marL="0" indent="0">
              <a:buNone/>
            </a:pPr>
            <a:r>
              <a:rPr lang="en-US" sz="1010" dirty="0">
                <a:solidFill>
                  <a:srgbClr val="111827"/>
                </a:solidFill>
              </a:rPr>
              <a:t>What are the biggest challenges the team is solving this quarter?</a:t>
            </a:r>
            <a:endParaRPr lang="en-US" sz="1010" dirty="0"/>
          </a:p>
        </p:txBody>
      </p:sp>
      <p:sp>
        <p:nvSpPr>
          <p:cNvPr id="19" name="Text 16"/>
          <p:cNvSpPr/>
          <p:nvPr/>
        </p:nvSpPr>
        <p:spPr>
          <a:xfrm>
            <a:off x="411480" y="6510528"/>
            <a:ext cx="6400800" cy="164592"/>
          </a:xfrm>
          <a:prstGeom prst="rect">
            <a:avLst/>
          </a:prstGeom>
          <a:noFill/>
          <a:ln/>
        </p:spPr>
        <p:txBody>
          <a:bodyPr wrap="square" lIns="0" tIns="0" rIns="0" bIns="0" rtlCol="0" anchor="ctr"/>
          <a:lstStyle/>
          <a:p>
            <a:pPr marL="0" indent="0">
              <a:buNone/>
            </a:pPr>
            <a:r>
              <a:rPr lang="en-US" sz="600" dirty="0">
                <a:solidFill>
                  <a:srgbClr val="7C7C7C"/>
                </a:solidFill>
                <a:latin typeface="Aptos" pitchFamily="34" charset="0"/>
                <a:ea typeface="Aptos" pitchFamily="34" charset="-122"/>
                <a:cs typeface="Aptos" pitchFamily="34" charset="-120"/>
              </a:rPr>
              <a:t>What's Next After Graduation?  |  Farah Kerbaj</a:t>
            </a:r>
            <a:endParaRPr lang="en-US" sz="600" dirty="0"/>
          </a:p>
        </p:txBody>
      </p:sp>
      <p:sp>
        <p:nvSpPr>
          <p:cNvPr id="20" name="Text 17"/>
          <p:cNvSpPr/>
          <p:nvPr/>
        </p:nvSpPr>
        <p:spPr>
          <a:xfrm>
            <a:off x="11430000" y="6473952"/>
            <a:ext cx="320040" cy="182880"/>
          </a:xfrm>
          <a:prstGeom prst="rect">
            <a:avLst/>
          </a:prstGeom>
          <a:noFill/>
          <a:ln/>
        </p:spPr>
        <p:txBody>
          <a:bodyPr wrap="square" lIns="0" tIns="0" rIns="0" bIns="0" rtlCol="0" anchor="ctr"/>
          <a:lstStyle/>
          <a:p>
            <a:pPr marL="0" indent="0" algn="r">
              <a:buNone/>
            </a:pPr>
            <a:r>
              <a:rPr lang="en-US" sz="700" dirty="0">
                <a:solidFill>
                  <a:srgbClr val="7C7C7C"/>
                </a:solidFill>
              </a:rPr>
              <a:t>33</a:t>
            </a:r>
            <a:endParaRPr lang="en-US" sz="7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4F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F2"/>
          </a:solidFill>
          <a:ln w="12700">
            <a:solidFill>
              <a:srgbClr val="F7F4F2">
                <a:alpha val="0"/>
              </a:srgbClr>
            </a:solidFill>
            <a:prstDash val="solid"/>
          </a:ln>
        </p:spPr>
      </p:sp>
      <p:sp>
        <p:nvSpPr>
          <p:cNvPr id="3" name="Shape 1"/>
          <p:cNvSpPr/>
          <p:nvPr/>
        </p:nvSpPr>
        <p:spPr>
          <a:xfrm>
            <a:off x="0" y="0"/>
            <a:ext cx="12191695" cy="73152"/>
          </a:xfrm>
          <a:prstGeom prst="rect">
            <a:avLst/>
          </a:prstGeom>
          <a:solidFill>
            <a:srgbClr val="00A8CC"/>
          </a:solidFill>
          <a:ln w="12700">
            <a:solidFill>
              <a:srgbClr val="00A8CC"/>
            </a:solidFill>
            <a:prstDash val="solid"/>
          </a:ln>
        </p:spPr>
      </p:sp>
      <p:sp>
        <p:nvSpPr>
          <p:cNvPr id="4" name="Text 2"/>
          <p:cNvSpPr/>
          <p:nvPr/>
        </p:nvSpPr>
        <p:spPr>
          <a:xfrm>
            <a:off x="667512" y="274320"/>
            <a:ext cx="7315200" cy="201168"/>
          </a:xfrm>
          <a:prstGeom prst="rect">
            <a:avLst/>
          </a:prstGeom>
          <a:noFill/>
          <a:ln/>
        </p:spPr>
        <p:txBody>
          <a:bodyPr wrap="square" lIns="0" tIns="0" rIns="0" bIns="0" rtlCol="0" anchor="ctr"/>
          <a:lstStyle/>
          <a:p>
            <a:pPr marL="0" indent="0">
              <a:buNone/>
            </a:pPr>
            <a:r>
              <a:rPr lang="en-US" sz="750" b="1" dirty="0">
                <a:solidFill>
                  <a:srgbClr val="00A8CC"/>
                </a:solidFill>
              </a:rPr>
              <a:t>ACTION PLAN</a:t>
            </a:r>
            <a:endParaRPr lang="en-US" sz="750" dirty="0"/>
          </a:p>
        </p:txBody>
      </p:sp>
      <p:sp>
        <p:nvSpPr>
          <p:cNvPr id="5" name="Text 3"/>
          <p:cNvSpPr/>
          <p:nvPr/>
        </p:nvSpPr>
        <p:spPr>
          <a:xfrm>
            <a:off x="640080" y="502920"/>
            <a:ext cx="10881360" cy="438912"/>
          </a:xfrm>
          <a:prstGeom prst="rect">
            <a:avLst/>
          </a:prstGeom>
          <a:noFill/>
          <a:ln/>
        </p:spPr>
        <p:txBody>
          <a:bodyPr wrap="square" lIns="0" tIns="0" rIns="0" bIns="0" rtlCol="0" anchor="ctr">
            <a:normAutofit/>
          </a:bodyPr>
          <a:lstStyle/>
          <a:p>
            <a:pPr marL="0" indent="0">
              <a:buNone/>
            </a:pPr>
            <a:r>
              <a:rPr lang="en-US" sz="2500" b="1" dirty="0">
                <a:solidFill>
                  <a:srgbClr val="111827"/>
                </a:solidFill>
                <a:latin typeface="Aptos Display" pitchFamily="34" charset="0"/>
                <a:ea typeface="Aptos Display" pitchFamily="34" charset="-122"/>
                <a:cs typeface="Aptos Display" pitchFamily="34" charset="-120"/>
              </a:rPr>
              <a:t>The 30-Day Challenge</a:t>
            </a:r>
            <a:endParaRPr lang="en-US" sz="2500" dirty="0"/>
          </a:p>
        </p:txBody>
      </p:sp>
      <p:sp>
        <p:nvSpPr>
          <p:cNvPr id="6" name="Text 4"/>
          <p:cNvSpPr/>
          <p:nvPr/>
        </p:nvSpPr>
        <p:spPr>
          <a:xfrm>
            <a:off x="667512" y="987552"/>
            <a:ext cx="10424160" cy="256032"/>
          </a:xfrm>
          <a:prstGeom prst="rect">
            <a:avLst/>
          </a:prstGeom>
          <a:noFill/>
          <a:ln/>
        </p:spPr>
        <p:txBody>
          <a:bodyPr wrap="square" lIns="0" tIns="0" rIns="0" bIns="0" rtlCol="0" anchor="ctr"/>
          <a:lstStyle/>
          <a:p>
            <a:pPr marL="0" indent="0">
              <a:buNone/>
            </a:pPr>
            <a:r>
              <a:rPr lang="en-US" sz="950" dirty="0">
                <a:solidFill>
                  <a:srgbClr val="5B6472"/>
                </a:solidFill>
              </a:rPr>
              <a:t>One focus per week — small action, real momentum</a:t>
            </a:r>
            <a:endParaRPr lang="en-US" sz="950" dirty="0"/>
          </a:p>
        </p:txBody>
      </p:sp>
      <p:sp>
        <p:nvSpPr>
          <p:cNvPr id="7" name="Shape 5"/>
          <p:cNvSpPr/>
          <p:nvPr/>
        </p:nvSpPr>
        <p:spPr>
          <a:xfrm>
            <a:off x="640080" y="1325880"/>
            <a:ext cx="10881360" cy="0"/>
          </a:xfrm>
          <a:prstGeom prst="line">
            <a:avLst/>
          </a:prstGeom>
          <a:noFill/>
          <a:ln w="12700">
            <a:solidFill>
              <a:srgbClr val="D6D3D1"/>
            </a:solidFill>
            <a:prstDash val="solid"/>
          </a:ln>
        </p:spPr>
      </p:sp>
      <p:sp>
        <p:nvSpPr>
          <p:cNvPr id="8" name="Shape 6"/>
          <p:cNvSpPr/>
          <p:nvPr/>
        </p:nvSpPr>
        <p:spPr>
          <a:xfrm>
            <a:off x="777240" y="1691640"/>
            <a:ext cx="2651760" cy="3154680"/>
          </a:xfrm>
          <a:prstGeom prst="roundRect">
            <a:avLst>
              <a:gd name="adj" fmla="val 2759"/>
            </a:avLst>
          </a:prstGeom>
          <a:solidFill>
            <a:srgbClr val="FFFFFF"/>
          </a:solidFill>
          <a:ln w="12700">
            <a:solidFill>
              <a:srgbClr val="E8E2DE"/>
            </a:solidFill>
            <a:prstDash val="solid"/>
          </a:ln>
        </p:spPr>
      </p:sp>
      <p:sp>
        <p:nvSpPr>
          <p:cNvPr id="9" name="Text 7"/>
          <p:cNvSpPr/>
          <p:nvPr/>
        </p:nvSpPr>
        <p:spPr>
          <a:xfrm>
            <a:off x="1005840" y="1965960"/>
            <a:ext cx="2103120" cy="182880"/>
          </a:xfrm>
          <a:prstGeom prst="rect">
            <a:avLst/>
          </a:prstGeom>
          <a:noFill/>
          <a:ln/>
        </p:spPr>
        <p:txBody>
          <a:bodyPr wrap="square" lIns="0" tIns="0" rIns="0" bIns="0" rtlCol="0" anchor="ctr"/>
          <a:lstStyle/>
          <a:p>
            <a:pPr marL="0" indent="0" algn="ctr">
              <a:buNone/>
            </a:pPr>
            <a:r>
              <a:rPr lang="en-US" sz="950" b="1" dirty="0">
                <a:solidFill>
                  <a:srgbClr val="00A8CC"/>
                </a:solidFill>
              </a:rPr>
              <a:t>Week 1</a:t>
            </a:r>
            <a:endParaRPr lang="en-US" sz="950" dirty="0"/>
          </a:p>
        </p:txBody>
      </p:sp>
      <p:sp>
        <p:nvSpPr>
          <p:cNvPr id="10" name="Text 8"/>
          <p:cNvSpPr/>
          <p:nvPr/>
        </p:nvSpPr>
        <p:spPr>
          <a:xfrm>
            <a:off x="960120" y="2468880"/>
            <a:ext cx="2240280" cy="320040"/>
          </a:xfrm>
          <a:prstGeom prst="rect">
            <a:avLst/>
          </a:prstGeom>
          <a:noFill/>
          <a:ln/>
        </p:spPr>
        <p:txBody>
          <a:bodyPr wrap="square" lIns="0" tIns="0" rIns="0" bIns="0" rtlCol="0" anchor="ctr">
            <a:normAutofit/>
          </a:bodyPr>
          <a:lstStyle/>
          <a:p>
            <a:pPr marL="0" indent="0" algn="ctr">
              <a:buNone/>
            </a:pPr>
            <a:r>
              <a:rPr lang="en-US" sz="1700" b="1" dirty="0">
                <a:solidFill>
                  <a:srgbClr val="152238"/>
                </a:solidFill>
              </a:rPr>
              <a:t>Career Direction</a:t>
            </a:r>
            <a:endParaRPr lang="en-US" sz="1700" dirty="0"/>
          </a:p>
        </p:txBody>
      </p:sp>
      <p:sp>
        <p:nvSpPr>
          <p:cNvPr id="11" name="Text 9"/>
          <p:cNvSpPr/>
          <p:nvPr/>
        </p:nvSpPr>
        <p:spPr>
          <a:xfrm>
            <a:off x="1051560" y="3246120"/>
            <a:ext cx="2057400" cy="502920"/>
          </a:xfrm>
          <a:prstGeom prst="rect">
            <a:avLst/>
          </a:prstGeom>
          <a:noFill/>
          <a:ln/>
        </p:spPr>
        <p:txBody>
          <a:bodyPr wrap="square" lIns="0" tIns="0" rIns="0" bIns="0" rtlCol="0" anchor="ctr">
            <a:normAutofit/>
          </a:bodyPr>
          <a:lstStyle/>
          <a:p>
            <a:pPr marL="0" indent="0" algn="ctr">
              <a:buNone/>
            </a:pPr>
            <a:r>
              <a:rPr lang="en-US" sz="950" dirty="0">
                <a:solidFill>
                  <a:srgbClr val="5B6472"/>
                </a:solidFill>
              </a:rPr>
              <a:t>Pick target role + roadmap + 5 skills</a:t>
            </a:r>
            <a:endParaRPr lang="en-US" sz="950" dirty="0"/>
          </a:p>
        </p:txBody>
      </p:sp>
      <p:sp>
        <p:nvSpPr>
          <p:cNvPr id="12" name="Shape 10"/>
          <p:cNvSpPr/>
          <p:nvPr/>
        </p:nvSpPr>
        <p:spPr>
          <a:xfrm>
            <a:off x="3566160" y="1691640"/>
            <a:ext cx="2651760" cy="3154680"/>
          </a:xfrm>
          <a:prstGeom prst="roundRect">
            <a:avLst>
              <a:gd name="adj" fmla="val 2759"/>
            </a:avLst>
          </a:prstGeom>
          <a:solidFill>
            <a:srgbClr val="E0F2FE"/>
          </a:solidFill>
          <a:ln w="12700">
            <a:solidFill>
              <a:srgbClr val="E8E2DE"/>
            </a:solidFill>
            <a:prstDash val="solid"/>
          </a:ln>
        </p:spPr>
      </p:sp>
      <p:sp>
        <p:nvSpPr>
          <p:cNvPr id="13" name="Text 11"/>
          <p:cNvSpPr/>
          <p:nvPr/>
        </p:nvSpPr>
        <p:spPr>
          <a:xfrm>
            <a:off x="3794760" y="1965960"/>
            <a:ext cx="2103120" cy="182880"/>
          </a:xfrm>
          <a:prstGeom prst="rect">
            <a:avLst/>
          </a:prstGeom>
          <a:noFill/>
          <a:ln/>
        </p:spPr>
        <p:txBody>
          <a:bodyPr wrap="square" lIns="0" tIns="0" rIns="0" bIns="0" rtlCol="0" anchor="ctr"/>
          <a:lstStyle/>
          <a:p>
            <a:pPr marL="0" indent="0" algn="ctr">
              <a:buNone/>
            </a:pPr>
            <a:r>
              <a:rPr lang="en-US" sz="950" b="1" dirty="0">
                <a:solidFill>
                  <a:srgbClr val="00A8CC"/>
                </a:solidFill>
              </a:rPr>
              <a:t>Week 2</a:t>
            </a:r>
            <a:endParaRPr lang="en-US" sz="950" dirty="0"/>
          </a:p>
        </p:txBody>
      </p:sp>
      <p:sp>
        <p:nvSpPr>
          <p:cNvPr id="14" name="Text 12"/>
          <p:cNvSpPr/>
          <p:nvPr/>
        </p:nvSpPr>
        <p:spPr>
          <a:xfrm>
            <a:off x="3749040" y="2468880"/>
            <a:ext cx="2240280" cy="320040"/>
          </a:xfrm>
          <a:prstGeom prst="rect">
            <a:avLst/>
          </a:prstGeom>
          <a:noFill/>
          <a:ln/>
        </p:spPr>
        <p:txBody>
          <a:bodyPr wrap="square" lIns="0" tIns="0" rIns="0" bIns="0" rtlCol="0" anchor="ctr">
            <a:normAutofit/>
          </a:bodyPr>
          <a:lstStyle/>
          <a:p>
            <a:pPr marL="0" indent="0" algn="ctr">
              <a:buNone/>
            </a:pPr>
            <a:r>
              <a:rPr lang="en-US" sz="1700" b="1" dirty="0">
                <a:solidFill>
                  <a:srgbClr val="152238"/>
                </a:solidFill>
              </a:rPr>
              <a:t>CV</a:t>
            </a:r>
            <a:endParaRPr lang="en-US" sz="1700" dirty="0"/>
          </a:p>
        </p:txBody>
      </p:sp>
      <p:sp>
        <p:nvSpPr>
          <p:cNvPr id="15" name="Text 13"/>
          <p:cNvSpPr/>
          <p:nvPr/>
        </p:nvSpPr>
        <p:spPr>
          <a:xfrm>
            <a:off x="3840480" y="3246120"/>
            <a:ext cx="2057400" cy="502920"/>
          </a:xfrm>
          <a:prstGeom prst="rect">
            <a:avLst/>
          </a:prstGeom>
          <a:noFill/>
          <a:ln/>
        </p:spPr>
        <p:txBody>
          <a:bodyPr wrap="square" lIns="0" tIns="0" rIns="0" bIns="0" rtlCol="0" anchor="ctr">
            <a:normAutofit/>
          </a:bodyPr>
          <a:lstStyle/>
          <a:p>
            <a:pPr marL="0" indent="0" algn="ctr">
              <a:buNone/>
            </a:pPr>
            <a:r>
              <a:rPr lang="en-US" sz="950" dirty="0">
                <a:solidFill>
                  <a:srgbClr val="5B6472"/>
                </a:solidFill>
              </a:rPr>
              <a:t>Rewrite summary, headline, skills, projects</a:t>
            </a:r>
            <a:endParaRPr lang="en-US" sz="950" dirty="0"/>
          </a:p>
        </p:txBody>
      </p:sp>
      <p:sp>
        <p:nvSpPr>
          <p:cNvPr id="16" name="Shape 14"/>
          <p:cNvSpPr/>
          <p:nvPr/>
        </p:nvSpPr>
        <p:spPr>
          <a:xfrm>
            <a:off x="6355080" y="1691640"/>
            <a:ext cx="2651760" cy="3154680"/>
          </a:xfrm>
          <a:prstGeom prst="roundRect">
            <a:avLst>
              <a:gd name="adj" fmla="val 2759"/>
            </a:avLst>
          </a:prstGeom>
          <a:solidFill>
            <a:srgbClr val="FFFFFF"/>
          </a:solidFill>
          <a:ln w="12700">
            <a:solidFill>
              <a:srgbClr val="E8E2DE"/>
            </a:solidFill>
            <a:prstDash val="solid"/>
          </a:ln>
        </p:spPr>
      </p:sp>
      <p:sp>
        <p:nvSpPr>
          <p:cNvPr id="17" name="Text 15"/>
          <p:cNvSpPr/>
          <p:nvPr/>
        </p:nvSpPr>
        <p:spPr>
          <a:xfrm>
            <a:off x="6583680" y="1965960"/>
            <a:ext cx="2103120" cy="182880"/>
          </a:xfrm>
          <a:prstGeom prst="rect">
            <a:avLst/>
          </a:prstGeom>
          <a:noFill/>
          <a:ln/>
        </p:spPr>
        <p:txBody>
          <a:bodyPr wrap="square" lIns="0" tIns="0" rIns="0" bIns="0" rtlCol="0" anchor="ctr"/>
          <a:lstStyle/>
          <a:p>
            <a:pPr marL="0" indent="0" algn="ctr">
              <a:buNone/>
            </a:pPr>
            <a:r>
              <a:rPr lang="en-US" sz="950" b="1" dirty="0">
                <a:solidFill>
                  <a:srgbClr val="00A8CC"/>
                </a:solidFill>
              </a:rPr>
              <a:t>Week 3</a:t>
            </a:r>
            <a:endParaRPr lang="en-US" sz="950" dirty="0"/>
          </a:p>
        </p:txBody>
      </p:sp>
      <p:sp>
        <p:nvSpPr>
          <p:cNvPr id="18" name="Text 16"/>
          <p:cNvSpPr/>
          <p:nvPr/>
        </p:nvSpPr>
        <p:spPr>
          <a:xfrm>
            <a:off x="6537960" y="2468880"/>
            <a:ext cx="2240280" cy="320040"/>
          </a:xfrm>
          <a:prstGeom prst="rect">
            <a:avLst/>
          </a:prstGeom>
          <a:noFill/>
          <a:ln/>
        </p:spPr>
        <p:txBody>
          <a:bodyPr wrap="square" lIns="0" tIns="0" rIns="0" bIns="0" rtlCol="0" anchor="ctr">
            <a:normAutofit/>
          </a:bodyPr>
          <a:lstStyle/>
          <a:p>
            <a:pPr marL="0" indent="0" algn="ctr">
              <a:buNone/>
            </a:pPr>
            <a:r>
              <a:rPr lang="en-US" sz="1700" b="1" dirty="0">
                <a:solidFill>
                  <a:srgbClr val="152238"/>
                </a:solidFill>
              </a:rPr>
              <a:t>LinkedIn</a:t>
            </a:r>
            <a:endParaRPr lang="en-US" sz="1700" dirty="0"/>
          </a:p>
        </p:txBody>
      </p:sp>
      <p:sp>
        <p:nvSpPr>
          <p:cNvPr id="19" name="Text 17"/>
          <p:cNvSpPr/>
          <p:nvPr/>
        </p:nvSpPr>
        <p:spPr>
          <a:xfrm>
            <a:off x="6629400" y="3246120"/>
            <a:ext cx="2057400" cy="502920"/>
          </a:xfrm>
          <a:prstGeom prst="rect">
            <a:avLst/>
          </a:prstGeom>
          <a:noFill/>
          <a:ln/>
        </p:spPr>
        <p:txBody>
          <a:bodyPr wrap="square" lIns="0" tIns="0" rIns="0" bIns="0" rtlCol="0" anchor="ctr">
            <a:normAutofit/>
          </a:bodyPr>
          <a:lstStyle/>
          <a:p>
            <a:pPr marL="0" indent="0" algn="ctr">
              <a:buNone/>
            </a:pPr>
            <a:r>
              <a:rPr lang="en-US" sz="950" dirty="0">
                <a:solidFill>
                  <a:srgbClr val="5B6472"/>
                </a:solidFill>
              </a:rPr>
              <a:t>Update headline, About, Featured, activity</a:t>
            </a:r>
            <a:endParaRPr lang="en-US" sz="950" dirty="0"/>
          </a:p>
        </p:txBody>
      </p:sp>
      <p:sp>
        <p:nvSpPr>
          <p:cNvPr id="20" name="Shape 18"/>
          <p:cNvSpPr/>
          <p:nvPr/>
        </p:nvSpPr>
        <p:spPr>
          <a:xfrm>
            <a:off x="9144000" y="1691640"/>
            <a:ext cx="2651760" cy="3154680"/>
          </a:xfrm>
          <a:prstGeom prst="roundRect">
            <a:avLst>
              <a:gd name="adj" fmla="val 2759"/>
            </a:avLst>
          </a:prstGeom>
          <a:solidFill>
            <a:srgbClr val="E0F2FE"/>
          </a:solidFill>
          <a:ln w="12700">
            <a:solidFill>
              <a:srgbClr val="E8E2DE"/>
            </a:solidFill>
            <a:prstDash val="solid"/>
          </a:ln>
        </p:spPr>
      </p:sp>
      <p:sp>
        <p:nvSpPr>
          <p:cNvPr id="21" name="Text 19"/>
          <p:cNvSpPr/>
          <p:nvPr/>
        </p:nvSpPr>
        <p:spPr>
          <a:xfrm>
            <a:off x="9372600" y="1965960"/>
            <a:ext cx="2103120" cy="182880"/>
          </a:xfrm>
          <a:prstGeom prst="rect">
            <a:avLst/>
          </a:prstGeom>
          <a:noFill/>
          <a:ln/>
        </p:spPr>
        <p:txBody>
          <a:bodyPr wrap="square" lIns="0" tIns="0" rIns="0" bIns="0" rtlCol="0" anchor="ctr"/>
          <a:lstStyle/>
          <a:p>
            <a:pPr marL="0" indent="0" algn="ctr">
              <a:buNone/>
            </a:pPr>
            <a:r>
              <a:rPr lang="en-US" sz="950" b="1" dirty="0">
                <a:solidFill>
                  <a:srgbClr val="00A8CC"/>
                </a:solidFill>
              </a:rPr>
              <a:t>Week 4</a:t>
            </a:r>
            <a:endParaRPr lang="en-US" sz="950" dirty="0"/>
          </a:p>
        </p:txBody>
      </p:sp>
      <p:sp>
        <p:nvSpPr>
          <p:cNvPr id="22" name="Text 20"/>
          <p:cNvSpPr/>
          <p:nvPr/>
        </p:nvSpPr>
        <p:spPr>
          <a:xfrm>
            <a:off x="9326880" y="2468880"/>
            <a:ext cx="2240280" cy="320040"/>
          </a:xfrm>
          <a:prstGeom prst="rect">
            <a:avLst/>
          </a:prstGeom>
          <a:noFill/>
          <a:ln/>
        </p:spPr>
        <p:txBody>
          <a:bodyPr wrap="square" lIns="0" tIns="0" rIns="0" bIns="0" rtlCol="0" anchor="ctr">
            <a:normAutofit/>
          </a:bodyPr>
          <a:lstStyle/>
          <a:p>
            <a:pPr marL="0" indent="0" algn="ctr">
              <a:buNone/>
            </a:pPr>
            <a:r>
              <a:rPr lang="en-US" sz="1700" b="1" dirty="0">
                <a:solidFill>
                  <a:srgbClr val="152238"/>
                </a:solidFill>
              </a:rPr>
              <a:t>Projects &amp; GitHub</a:t>
            </a:r>
            <a:endParaRPr lang="en-US" sz="1700" dirty="0"/>
          </a:p>
        </p:txBody>
      </p:sp>
      <p:sp>
        <p:nvSpPr>
          <p:cNvPr id="23" name="Text 21"/>
          <p:cNvSpPr/>
          <p:nvPr/>
        </p:nvSpPr>
        <p:spPr>
          <a:xfrm>
            <a:off x="9418320" y="3246120"/>
            <a:ext cx="2057400" cy="502920"/>
          </a:xfrm>
          <a:prstGeom prst="rect">
            <a:avLst/>
          </a:prstGeom>
          <a:noFill/>
          <a:ln/>
        </p:spPr>
        <p:txBody>
          <a:bodyPr wrap="square" lIns="0" tIns="0" rIns="0" bIns="0" rtlCol="0" anchor="ctr">
            <a:normAutofit/>
          </a:bodyPr>
          <a:lstStyle/>
          <a:p>
            <a:pPr marL="0" indent="0" algn="ctr">
              <a:buNone/>
            </a:pPr>
            <a:r>
              <a:rPr lang="en-US" sz="950" dirty="0">
                <a:solidFill>
                  <a:srgbClr val="5B6472"/>
                </a:solidFill>
              </a:rPr>
              <a:t>Polish one project end-to-end and deploy it</a:t>
            </a:r>
            <a:endParaRPr lang="en-US" sz="950" dirty="0"/>
          </a:p>
        </p:txBody>
      </p:sp>
      <p:sp>
        <p:nvSpPr>
          <p:cNvPr id="24" name="Text 22"/>
          <p:cNvSpPr/>
          <p:nvPr/>
        </p:nvSpPr>
        <p:spPr>
          <a:xfrm>
            <a:off x="1097280" y="5349240"/>
            <a:ext cx="9966960" cy="274320"/>
          </a:xfrm>
          <a:prstGeom prst="rect">
            <a:avLst/>
          </a:prstGeom>
          <a:noFill/>
          <a:ln/>
        </p:spPr>
        <p:txBody>
          <a:bodyPr wrap="square" lIns="0" tIns="0" rIns="0" bIns="0" rtlCol="0" anchor="ctr"/>
          <a:lstStyle/>
          <a:p>
            <a:pPr marL="0" indent="0" algn="ctr">
              <a:buNone/>
            </a:pPr>
            <a:r>
              <a:rPr lang="en-US" sz="1600" b="1" dirty="0">
                <a:solidFill>
                  <a:srgbClr val="152238"/>
                </a:solidFill>
              </a:rPr>
              <a:t>Small consistent action beats a perfect plan you never start.</a:t>
            </a:r>
            <a:endParaRPr lang="en-US" sz="1600" dirty="0"/>
          </a:p>
        </p:txBody>
      </p:sp>
      <p:sp>
        <p:nvSpPr>
          <p:cNvPr id="26" name="Text 23"/>
          <p:cNvSpPr/>
          <p:nvPr/>
        </p:nvSpPr>
        <p:spPr>
          <a:xfrm>
            <a:off x="411480" y="6510528"/>
            <a:ext cx="6400800" cy="164592"/>
          </a:xfrm>
          <a:prstGeom prst="rect">
            <a:avLst/>
          </a:prstGeom>
          <a:noFill/>
          <a:ln/>
        </p:spPr>
        <p:txBody>
          <a:bodyPr wrap="square" lIns="0" tIns="0" rIns="0" bIns="0" rtlCol="0" anchor="ctr"/>
          <a:lstStyle/>
          <a:p>
            <a:pPr marL="0" indent="0">
              <a:buNone/>
            </a:pPr>
            <a:r>
              <a:rPr lang="en-US" sz="600" dirty="0">
                <a:solidFill>
                  <a:srgbClr val="7C7C7C"/>
                </a:solidFill>
                <a:latin typeface="Aptos" pitchFamily="34" charset="0"/>
                <a:ea typeface="Aptos" pitchFamily="34" charset="-122"/>
                <a:cs typeface="Aptos" pitchFamily="34" charset="-120"/>
              </a:rPr>
              <a:t>What's Next After Graduation?  |  Farah Kerbaj</a:t>
            </a:r>
            <a:endParaRPr lang="en-US" sz="600" dirty="0"/>
          </a:p>
        </p:txBody>
      </p:sp>
      <p:sp>
        <p:nvSpPr>
          <p:cNvPr id="27" name="Text 24"/>
          <p:cNvSpPr/>
          <p:nvPr/>
        </p:nvSpPr>
        <p:spPr>
          <a:xfrm>
            <a:off x="11430000" y="6473952"/>
            <a:ext cx="320040" cy="182880"/>
          </a:xfrm>
          <a:prstGeom prst="rect">
            <a:avLst/>
          </a:prstGeom>
          <a:noFill/>
          <a:ln/>
        </p:spPr>
        <p:txBody>
          <a:bodyPr wrap="square" lIns="0" tIns="0" rIns="0" bIns="0" rtlCol="0" anchor="ctr"/>
          <a:lstStyle/>
          <a:p>
            <a:pPr marL="0" indent="0" algn="r">
              <a:buNone/>
            </a:pPr>
            <a:r>
              <a:rPr lang="en-US" sz="700" dirty="0">
                <a:solidFill>
                  <a:srgbClr val="7C7C7C"/>
                </a:solidFill>
              </a:rPr>
              <a:t>34</a:t>
            </a:r>
            <a:endParaRPr lang="en-US" sz="7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5223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52238"/>
          </a:solidFill>
          <a:ln w="12700">
            <a:solidFill>
              <a:srgbClr val="152238"/>
            </a:solidFill>
            <a:prstDash val="solid"/>
          </a:ln>
        </p:spPr>
      </p:sp>
      <p:sp>
        <p:nvSpPr>
          <p:cNvPr id="3" name="Text 1"/>
          <p:cNvSpPr/>
          <p:nvPr/>
        </p:nvSpPr>
        <p:spPr>
          <a:xfrm>
            <a:off x="777240" y="1097280"/>
            <a:ext cx="7406640" cy="1234440"/>
          </a:xfrm>
          <a:prstGeom prst="rect">
            <a:avLst/>
          </a:prstGeom>
          <a:noFill/>
          <a:ln/>
        </p:spPr>
        <p:txBody>
          <a:bodyPr wrap="square" lIns="0" tIns="0" rIns="0" bIns="0" rtlCol="0" anchor="ctr">
            <a:normAutofit/>
          </a:bodyPr>
          <a:lstStyle/>
          <a:p>
            <a:pPr marL="0" indent="0">
              <a:buNone/>
            </a:pPr>
            <a:r>
              <a:rPr lang="en-US" sz="3800" b="1" dirty="0">
                <a:solidFill>
                  <a:srgbClr val="FFFFFF"/>
                </a:solidFill>
              </a:rPr>
              <a:t>BEYOND GRADUATION</a:t>
            </a:r>
            <a:endParaRPr lang="en-US" sz="3800" dirty="0"/>
          </a:p>
          <a:p>
            <a:pPr marL="0" indent="0">
              <a:buNone/>
            </a:pPr>
            <a:r>
              <a:rPr lang="en-US" sz="3800" b="1" dirty="0">
                <a:solidFill>
                  <a:srgbClr val="FFFFFF"/>
                </a:solidFill>
              </a:rPr>
              <a:t>STARTS TODAY</a:t>
            </a:r>
            <a:endParaRPr lang="en-US" sz="3800" dirty="0"/>
          </a:p>
        </p:txBody>
      </p:sp>
      <p:sp>
        <p:nvSpPr>
          <p:cNvPr id="4" name="Text 2"/>
          <p:cNvSpPr/>
          <p:nvPr/>
        </p:nvSpPr>
        <p:spPr>
          <a:xfrm>
            <a:off x="822960" y="2971800"/>
            <a:ext cx="8046720" cy="384048"/>
          </a:xfrm>
          <a:prstGeom prst="rect">
            <a:avLst/>
          </a:prstGeom>
          <a:noFill/>
          <a:ln/>
        </p:spPr>
        <p:txBody>
          <a:bodyPr wrap="square" lIns="0" tIns="0" rIns="0" bIns="0" rtlCol="0" anchor="ctr">
            <a:normAutofit/>
          </a:bodyPr>
          <a:lstStyle/>
          <a:p>
            <a:pPr marL="0" indent="0">
              <a:buNone/>
            </a:pPr>
            <a:r>
              <a:rPr lang="en-US" sz="1400" dirty="0">
                <a:solidFill>
                  <a:srgbClr val="C7D2FE"/>
                </a:solidFill>
              </a:rPr>
              <a:t>Your CV gets you noticed. Your LinkedIn builds trust. Your projects prove your skills. Your network creates opportunities.</a:t>
            </a:r>
            <a:endParaRPr lang="en-US" sz="1400" dirty="0"/>
          </a:p>
        </p:txBody>
      </p:sp>
      <p:sp>
        <p:nvSpPr>
          <p:cNvPr id="5" name="Shape 3"/>
          <p:cNvSpPr/>
          <p:nvPr/>
        </p:nvSpPr>
        <p:spPr>
          <a:xfrm>
            <a:off x="822960" y="4069080"/>
            <a:ext cx="5303520" cy="1097280"/>
          </a:xfrm>
          <a:prstGeom prst="roundRect">
            <a:avLst>
              <a:gd name="adj" fmla="val 6667"/>
            </a:avLst>
          </a:prstGeom>
          <a:solidFill>
            <a:srgbClr val="FFFFFF"/>
          </a:solidFill>
          <a:ln w="12700">
            <a:solidFill>
              <a:srgbClr val="FFFFFF"/>
            </a:solidFill>
            <a:prstDash val="solid"/>
          </a:ln>
        </p:spPr>
      </p:sp>
      <p:sp>
        <p:nvSpPr>
          <p:cNvPr id="6" name="Text 4"/>
          <p:cNvSpPr/>
          <p:nvPr/>
        </p:nvSpPr>
        <p:spPr>
          <a:xfrm>
            <a:off x="1143000" y="4315968"/>
            <a:ext cx="2286000" cy="201168"/>
          </a:xfrm>
          <a:prstGeom prst="rect">
            <a:avLst/>
          </a:prstGeom>
          <a:noFill/>
          <a:ln/>
        </p:spPr>
        <p:txBody>
          <a:bodyPr wrap="square" lIns="0" tIns="0" rIns="0" bIns="0" rtlCol="0" anchor="ctr"/>
          <a:lstStyle/>
          <a:p>
            <a:pPr marL="0" indent="0">
              <a:buNone/>
            </a:pPr>
            <a:r>
              <a:rPr lang="en-US" sz="1400" b="1" dirty="0">
                <a:solidFill>
                  <a:srgbClr val="152238"/>
                </a:solidFill>
              </a:rPr>
              <a:t>Today’s homework</a:t>
            </a:r>
            <a:endParaRPr lang="en-US" sz="1400" dirty="0"/>
          </a:p>
        </p:txBody>
      </p:sp>
      <p:sp>
        <p:nvSpPr>
          <p:cNvPr id="7" name="Text 5"/>
          <p:cNvSpPr/>
          <p:nvPr/>
        </p:nvSpPr>
        <p:spPr>
          <a:xfrm>
            <a:off x="1143000" y="4617720"/>
            <a:ext cx="4389120" cy="201168"/>
          </a:xfrm>
          <a:prstGeom prst="rect">
            <a:avLst/>
          </a:prstGeom>
          <a:noFill/>
          <a:ln/>
        </p:spPr>
        <p:txBody>
          <a:bodyPr wrap="square" lIns="0" tIns="0" rIns="0" bIns="0" rtlCol="0" anchor="ctr">
            <a:normAutofit/>
          </a:bodyPr>
          <a:lstStyle/>
          <a:p>
            <a:pPr marL="0" indent="0">
              <a:buNone/>
            </a:pPr>
            <a:r>
              <a:rPr lang="en-US" sz="880" dirty="0">
                <a:solidFill>
                  <a:srgbClr val="5B6472"/>
                </a:solidFill>
              </a:rPr>
              <a:t>Tailor one CV • update one LinkedIn headline • polish one project or GitHub README</a:t>
            </a:r>
            <a:endParaRPr lang="en-US" sz="880" dirty="0"/>
          </a:p>
        </p:txBody>
      </p:sp>
      <p:sp>
        <p:nvSpPr>
          <p:cNvPr id="8" name="Text 6"/>
          <p:cNvSpPr/>
          <p:nvPr/>
        </p:nvSpPr>
        <p:spPr>
          <a:xfrm>
            <a:off x="8869680" y="4297680"/>
            <a:ext cx="2468880" cy="274320"/>
          </a:xfrm>
          <a:prstGeom prst="rect">
            <a:avLst/>
          </a:prstGeom>
          <a:noFill/>
          <a:ln/>
        </p:spPr>
        <p:txBody>
          <a:bodyPr wrap="square" lIns="0" tIns="0" rIns="0" bIns="0" rtlCol="0" anchor="ctr"/>
          <a:lstStyle/>
          <a:p>
            <a:pPr marL="0" indent="0" algn="ctr">
              <a:buNone/>
            </a:pPr>
            <a:r>
              <a:rPr lang="en-US" sz="1800" b="1" dirty="0">
                <a:solidFill>
                  <a:srgbClr val="A7F3D0"/>
                </a:solidFill>
              </a:rPr>
              <a:t>THANK YOU</a:t>
            </a:r>
            <a:endParaRPr lang="en-US" sz="1800" dirty="0"/>
          </a:p>
        </p:txBody>
      </p:sp>
      <p:sp>
        <p:nvSpPr>
          <p:cNvPr id="9" name="Text 7"/>
          <p:cNvSpPr/>
          <p:nvPr/>
        </p:nvSpPr>
        <p:spPr>
          <a:xfrm>
            <a:off x="8503920" y="4709160"/>
            <a:ext cx="3200400" cy="182880"/>
          </a:xfrm>
          <a:prstGeom prst="rect">
            <a:avLst/>
          </a:prstGeom>
          <a:noFill/>
          <a:ln/>
        </p:spPr>
        <p:txBody>
          <a:bodyPr wrap="square" lIns="0" tIns="0" rIns="0" bIns="0" rtlCol="0" anchor="ctr"/>
          <a:lstStyle/>
          <a:p>
            <a:pPr marL="0" indent="0" algn="ctr">
              <a:buNone/>
            </a:pPr>
            <a:r>
              <a:rPr lang="en-US" sz="850" dirty="0">
                <a:solidFill>
                  <a:srgbClr val="FFFFFF"/>
                </a:solidFill>
              </a:rPr>
              <a:t>Farah Kerbaj  |  Let’s connect on LinkedIn</a:t>
            </a:r>
            <a:endParaRPr lang="en-US" sz="850" dirty="0"/>
          </a:p>
        </p:txBody>
      </p:sp>
      <p:sp>
        <p:nvSpPr>
          <p:cNvPr id="11" name="Text 8"/>
          <p:cNvSpPr/>
          <p:nvPr/>
        </p:nvSpPr>
        <p:spPr>
          <a:xfrm>
            <a:off x="411480" y="6510528"/>
            <a:ext cx="6400800" cy="164592"/>
          </a:xfrm>
          <a:prstGeom prst="rect">
            <a:avLst/>
          </a:prstGeom>
          <a:noFill/>
          <a:ln/>
        </p:spPr>
        <p:txBody>
          <a:bodyPr wrap="square" lIns="0" tIns="0" rIns="0" bIns="0" rtlCol="0" anchor="ctr"/>
          <a:lstStyle/>
          <a:p>
            <a:pPr marL="0" indent="0">
              <a:buNone/>
            </a:pPr>
            <a:r>
              <a:rPr lang="en-US" sz="600" dirty="0">
                <a:solidFill>
                  <a:srgbClr val="7C7C7C"/>
                </a:solidFill>
                <a:latin typeface="Aptos" pitchFamily="34" charset="0"/>
                <a:ea typeface="Aptos" pitchFamily="34" charset="-122"/>
                <a:cs typeface="Aptos" pitchFamily="34" charset="-120"/>
              </a:rPr>
              <a:t>What's Next After Graduation?  |  Farah Kerbaj</a:t>
            </a:r>
            <a:endParaRPr lang="en-US" sz="600" dirty="0"/>
          </a:p>
        </p:txBody>
      </p:sp>
      <p:sp>
        <p:nvSpPr>
          <p:cNvPr id="12" name="Text 9"/>
          <p:cNvSpPr/>
          <p:nvPr/>
        </p:nvSpPr>
        <p:spPr>
          <a:xfrm>
            <a:off x="11430000" y="6473952"/>
            <a:ext cx="320040" cy="182880"/>
          </a:xfrm>
          <a:prstGeom prst="rect">
            <a:avLst/>
          </a:prstGeom>
          <a:noFill/>
          <a:ln/>
        </p:spPr>
        <p:txBody>
          <a:bodyPr wrap="square" lIns="0" tIns="0" rIns="0" bIns="0" rtlCol="0" anchor="ctr"/>
          <a:lstStyle/>
          <a:p>
            <a:pPr marL="0" indent="0" algn="r">
              <a:buNone/>
            </a:pPr>
            <a:r>
              <a:rPr lang="en-US" sz="700" dirty="0">
                <a:solidFill>
                  <a:srgbClr val="7C7C7C"/>
                </a:solidFill>
              </a:rPr>
              <a:t>35</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TotalTime>
  <Words>4732</Words>
  <Application>Microsoft Office PowerPoint</Application>
  <PresentationFormat>Widescreen</PresentationFormat>
  <Paragraphs>696</Paragraphs>
  <Slides>35</Slides>
  <Notes>35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TechTalks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What's Next After Graduation? The Complete Roadmap to Landing Your First Tech Job</dc:title>
  <dc:subject>What's Next After Graduation?</dc:subject>
  <dc:creator>Farah Kerbaj</dc:creator>
  <cp:lastModifiedBy>farah kerbaj</cp:lastModifiedBy>
  <cp:revision>2</cp:revision>
  <dcterms:created xsi:type="dcterms:W3CDTF">2026-07-11T08:26:34Z</dcterms:created>
  <dcterms:modified xsi:type="dcterms:W3CDTF">2026-07-11T08:49:21Z</dcterms:modified>
</cp:coreProperties>
</file>